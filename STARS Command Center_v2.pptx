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426" r:id="rId2"/>
    <p:sldId id="429" r:id="rId3"/>
    <p:sldId id="427" r:id="rId4"/>
    <p:sldId id="43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4C2DB-9F8D-4220-B1B0-3B6CA73AD95C}" v="1" dt="2025-12-19T20:58:00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irudh60139\AppData\Roaming\Microsoft\Excel\Book1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17776319461337"/>
          <c:y val="6.3279757679748264E-2"/>
          <c:w val="0.69497108810703501"/>
          <c:h val="0.6716736340835555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Sheet1!$C$30</c:f>
              <c:strCache>
                <c:ptCount val="1"/>
                <c:pt idx="0">
                  <c:v>Non SRF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Sheet1!$B$31:$B$32</c:f>
              <c:strCache>
                <c:ptCount val="2"/>
                <c:pt idx="0">
                  <c:v>Diabetes Care</c:v>
                </c:pt>
                <c:pt idx="1">
                  <c:v>CRC Screening</c:v>
                </c:pt>
              </c:strCache>
            </c:strRef>
          </c:cat>
          <c:val>
            <c:numRef>
              <c:f>Sheet1!$C$31:$C$32</c:f>
              <c:numCache>
                <c:formatCode>0%</c:formatCode>
                <c:ptCount val="2"/>
                <c:pt idx="0">
                  <c:v>0.7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4D-4E82-AB23-E1118882314E}"/>
            </c:ext>
          </c:extLst>
        </c:ser>
        <c:ser>
          <c:idx val="1"/>
          <c:order val="1"/>
          <c:tx>
            <c:strRef>
              <c:f>Sheet1!$D$30</c:f>
              <c:strCache>
                <c:ptCount val="1"/>
                <c:pt idx="0">
                  <c:v>SRF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Sheet1!$B$31:$B$32</c:f>
              <c:strCache>
                <c:ptCount val="2"/>
                <c:pt idx="0">
                  <c:v>Diabetes Care</c:v>
                </c:pt>
                <c:pt idx="1">
                  <c:v>CRC Screening</c:v>
                </c:pt>
              </c:strCache>
            </c:strRef>
          </c:cat>
          <c:val>
            <c:numRef>
              <c:f>Sheet1!$D$31:$D$32</c:f>
              <c:numCache>
                <c:formatCode>0%</c:formatCode>
                <c:ptCount val="2"/>
                <c:pt idx="0">
                  <c:v>0.65</c:v>
                </c:pt>
                <c:pt idx="1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4D-4E82-AB23-E111888231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95919007"/>
        <c:axId val="1595919487"/>
      </c:barChart>
      <c:catAx>
        <c:axId val="1595919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5919487"/>
        <c:crosses val="autoZero"/>
        <c:auto val="1"/>
        <c:lblAlgn val="ctr"/>
        <c:lblOffset val="100"/>
        <c:noMultiLvlLbl val="0"/>
      </c:catAx>
      <c:valAx>
        <c:axId val="1595919487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5919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1C62D-C751-42B9-AEAF-03BE6FF2680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DC662-669B-4DF4-9DF5-A3480057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1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6736E-724A-2F89-E395-EDA0010E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85F05-3F47-6951-655F-729E788F8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CA5A6-C56E-ADB8-A908-41C557020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Leadership is asking for </a:t>
            </a:r>
            <a:r>
              <a:rPr lang="en-US" b="1"/>
              <a:t>financial control</a:t>
            </a:r>
            <a:r>
              <a:rPr lang="en-US"/>
              <a:t>. With the </a:t>
            </a:r>
            <a:r>
              <a:rPr lang="en-US" b="1"/>
              <a:t>HEI Command Center</a:t>
            </a:r>
            <a:r>
              <a:rPr lang="en-US"/>
              <a:t>, we can </a:t>
            </a:r>
            <a:r>
              <a:rPr lang="en-US" b="1"/>
              <a:t>see</a:t>
            </a:r>
            <a:r>
              <a:rPr lang="en-US"/>
              <a:t> next year’s Stars and HEI </a:t>
            </a:r>
            <a:r>
              <a:rPr lang="en-US" b="1"/>
              <a:t>before CMS does</a:t>
            </a:r>
            <a:r>
              <a:rPr lang="en-US"/>
              <a:t>—and simulate how to change it.</a:t>
            </a:r>
            <a:br>
              <a:rPr lang="en-US"/>
            </a:br>
            <a:r>
              <a:rPr lang="en-US"/>
              <a:t>On one hand, we slide assumptions—</a:t>
            </a:r>
            <a:r>
              <a:rPr lang="en-US" b="1"/>
              <a:t>screenings, adherence, vaccines</a:t>
            </a:r>
            <a:r>
              <a:rPr lang="en-US"/>
              <a:t>—and the system recalculates both </a:t>
            </a:r>
            <a:r>
              <a:rPr lang="en-US" b="1"/>
              <a:t>Projected Stars</a:t>
            </a:r>
            <a:r>
              <a:rPr lang="en-US"/>
              <a:t> and </a:t>
            </a:r>
            <a:r>
              <a:rPr lang="en-US" b="1"/>
              <a:t>HEI</a:t>
            </a:r>
            <a:r>
              <a:rPr lang="en-US"/>
              <a:t>.</a:t>
            </a:r>
            <a:br>
              <a:rPr lang="en-US"/>
            </a:br>
            <a:r>
              <a:rPr lang="en-US"/>
              <a:t>On the </a:t>
            </a:r>
            <a:r>
              <a:rPr lang="en-US" b="1"/>
              <a:t>other</a:t>
            </a:r>
            <a:r>
              <a:rPr lang="en-US"/>
              <a:t>, we translate it into action: baseline </a:t>
            </a:r>
            <a:r>
              <a:rPr lang="en-US" b="1"/>
              <a:t>3.5</a:t>
            </a:r>
            <a:r>
              <a:rPr lang="en-US"/>
              <a:t> moving to </a:t>
            </a:r>
            <a:r>
              <a:rPr lang="en-US" b="1"/>
              <a:t>4.0</a:t>
            </a:r>
            <a:r>
              <a:rPr lang="en-US"/>
              <a:t>, an HEI scorecard that’s </a:t>
            </a:r>
            <a:r>
              <a:rPr lang="en-US" b="1"/>
              <a:t>below average</a:t>
            </a:r>
            <a:r>
              <a:rPr lang="en-US"/>
              <a:t> and </a:t>
            </a:r>
            <a:r>
              <a:rPr lang="en-US" b="1"/>
              <a:t>not on track</a:t>
            </a:r>
            <a:r>
              <a:rPr lang="en-US"/>
              <a:t> unless we act, and what that means for </a:t>
            </a:r>
            <a:r>
              <a:rPr lang="en-US" b="1"/>
              <a:t>QBP eligibility</a:t>
            </a:r>
            <a:r>
              <a:rPr lang="en-US"/>
              <a:t>.</a:t>
            </a:r>
            <a:br>
              <a:rPr lang="en-US"/>
            </a:br>
            <a:r>
              <a:rPr lang="en-US"/>
              <a:t>Most importantly, the </a:t>
            </a:r>
            <a:r>
              <a:rPr lang="en-US" b="1"/>
              <a:t>financials</a:t>
            </a:r>
            <a:r>
              <a:rPr lang="en-US"/>
              <a:t>: turning </a:t>
            </a:r>
            <a:r>
              <a:rPr lang="en-US" b="1"/>
              <a:t>−$50M risk</a:t>
            </a:r>
            <a:r>
              <a:rPr lang="en-US"/>
              <a:t> into </a:t>
            </a:r>
            <a:r>
              <a:rPr lang="en-US" b="1"/>
              <a:t>+$45M opportunity</a:t>
            </a:r>
            <a:r>
              <a:rPr lang="en-US"/>
              <a:t> under the targeted scenario. Numbers here are </a:t>
            </a:r>
            <a:r>
              <a:rPr lang="en-US" b="1"/>
              <a:t>illustrative</a:t>
            </a:r>
            <a:r>
              <a:rPr lang="en-US"/>
              <a:t> and update live from the What‑If panel.</a:t>
            </a:r>
            <a:endParaRPr lang="en-US" sz="1400" b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28611-120D-C079-B5C9-DEFA3FCE2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30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F726D-DD88-1549-1C1C-0AAAAEB7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FBA97-9547-3454-28B3-F9E4495C0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5ECA3-4446-AA2B-F266-C47217C2E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Assessment Center is the “brain” of adaptivity and efficiency. It enables confidence-based early stopping—no over-questioning. It leverages real-time EMR data, prior answers, and payer rules. It’s the main differentiator from legacy systems and static forms.</a:t>
            </a:r>
          </a:p>
          <a:p>
            <a:endParaRPr lang="en-US" b="0"/>
          </a:p>
          <a:p>
            <a:r>
              <a:rPr lang="en-US" b="0"/>
              <a:t>“Low‑Back‑Pain MRI, adaptive flow”</a:t>
            </a:r>
          </a:p>
          <a:p>
            <a:r>
              <a:rPr lang="en-US" b="0"/>
              <a:t>Order placed in EMR; CRD indicates PA is needed and launches DTR.</a:t>
            </a:r>
          </a:p>
          <a:p>
            <a:r>
              <a:rPr lang="en-US" b="0"/>
              <a:t>DTR app auto‑resolves Centene from Coverage; fetches the LBP Questionnaire package.</a:t>
            </a:r>
          </a:p>
          <a:p>
            <a:r>
              <a:rPr lang="en-US" b="0"/>
              <a:t>The app runs CQL to pre‑fill prior conservative therapies, recent pain scores, and diagnosis from the chart.</a:t>
            </a:r>
          </a:p>
          <a:p>
            <a:r>
              <a:rPr lang="en-US" b="0"/>
              <a:t>Assessment Center sees sufficient evidence for certain criteria and serves a short segment: </a:t>
            </a:r>
          </a:p>
          <a:p>
            <a:pPr lvl="1"/>
            <a:r>
              <a:rPr lang="en-US" b="0"/>
              <a:t>Q1: confirm duration of symptoms (pre‑filled default; clinician verifies)</a:t>
            </a:r>
          </a:p>
          <a:p>
            <a:pPr lvl="1"/>
            <a:r>
              <a:rPr lang="en-US" b="0"/>
              <a:t>Q2: confirm failed PT within last 6 weeks (CQL found PT notes; clinician attests)</a:t>
            </a:r>
          </a:p>
          <a:p>
            <a:pPr lvl="1"/>
            <a:r>
              <a:rPr lang="en-US" b="0"/>
              <a:t>Q3: red‑flag screen (neurologic deficit)—clinician marks “No”</a:t>
            </a:r>
          </a:p>
          <a:p>
            <a:pPr lvl="1"/>
            <a:r>
              <a:rPr lang="en-US" b="0"/>
              <a:t>Confidence threshold reached → stop (no remaining 27 questions)</a:t>
            </a:r>
            <a:br>
              <a:rPr lang="en-US" b="0"/>
            </a:br>
            <a:r>
              <a:rPr lang="en-US" b="0" i="1"/>
              <a:t>(“30 → 4” is User‑provided exemplar; behavior matches confidence‑based stop.)</a:t>
            </a:r>
            <a:endParaRPr lang="en-US" b="0"/>
          </a:p>
          <a:p>
            <a:r>
              <a:rPr lang="en-US" b="0"/>
              <a:t>The completed QuestionnaireResponse is saved in EMR; the back‑office uses it in PAS $submit; payer confirms and returns Response.</a:t>
            </a:r>
          </a:p>
          <a:p>
            <a:endParaRPr lang="en-US" b="0"/>
          </a:p>
          <a:p>
            <a:pPr defTabSz="457200">
              <a:spcAft>
                <a:spcPts val="600"/>
              </a:spcAft>
              <a:defRPr/>
            </a:pPr>
            <a:endParaRPr lang="en-US" sz="1400" b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C6DC2-E974-9710-4CF3-96F990CC4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44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D9938-2BF0-C316-8123-E10C0EBB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A69E4-4D5E-94B1-D41A-2F559669C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E36F9-EA9C-A97C-96BC-E8D37E914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57200">
              <a:spcAft>
                <a:spcPts val="600"/>
              </a:spcAft>
              <a:defRPr/>
            </a:pPr>
            <a:endParaRPr lang="en-US" sz="1400" b="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2D02A-F618-CF6F-6E28-BFABE9807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17608-DA89-CC55-3C53-1679EF51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D2FC5-83B6-1CED-069F-F878B8DD4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36E13-E86E-DACF-DA82-68A89CD8C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57200">
              <a:spcAft>
                <a:spcPts val="600"/>
              </a:spcAft>
              <a:defRPr/>
            </a:pPr>
            <a:endParaRPr lang="en-US" sz="1400" b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E9BBE-48CC-4992-6D9A-E0F9A9FBD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76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75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35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1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69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623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21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075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198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532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3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34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8891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251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054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6086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69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4721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0549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8225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055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288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3344431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859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239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1A87A-BFA2-5774-D897-5DA882B78A77}"/>
              </a:ext>
            </a:extLst>
          </p:cNvPr>
          <p:cNvSpPr/>
          <p:nvPr userDrawn="1"/>
        </p:nvSpPr>
        <p:spPr>
          <a:xfrm>
            <a:off x="0" y="1"/>
            <a:ext cx="12192000" cy="16119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76313"/>
            <a:ext cx="8308975" cy="499237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66901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2221522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448395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799002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866901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2221523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724123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5087706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/>
          <p:nvPr userDrawn="1"/>
        </p:nvCxnSpPr>
        <p:spPr>
          <a:xfrm>
            <a:off x="8804633" y="1866317"/>
            <a:ext cx="0" cy="433085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866901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2221522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253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62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28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10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4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21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6260951" y="6558701"/>
            <a:ext cx="5931049" cy="299299"/>
            <a:chOff x="6260951" y="6558701"/>
            <a:chExt cx="5931049" cy="299299"/>
          </a:xfrm>
        </p:grpSpPr>
        <p:sp>
          <p:nvSpPr>
            <p:cNvPr id="12" name="Rectangle 15"/>
            <p:cNvSpPr/>
            <p:nvPr userDrawn="1"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" fmla="*/ 209228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209228 w 5931049"/>
                <a:gd name="connsiteY4" fmla="*/ 0 h 29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 userDrawn="1"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4" name="Straight Connector 13"/>
              <p:cNvCxnSpPr/>
              <p:nvPr userDrawn="1"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 userDrawn="1"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Rectangle 13"/>
          <p:cNvSpPr/>
          <p:nvPr userDrawn="1"/>
        </p:nvSpPr>
        <p:spPr>
          <a:xfrm>
            <a:off x="0" y="0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338099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chemeClr val="tx1"/>
              </a:buClr>
              <a:buFont typeface="Arial" pitchFamily="34" charset="0"/>
              <a:buChar char="-"/>
              <a:defRPr/>
            </a:lvl2pPr>
            <a:lvl3pPr marL="1087438" indent="-173038">
              <a:defRPr/>
            </a:lvl3pPr>
            <a:lvl4pPr marL="1539875" indent="-168275">
              <a:defRPr/>
            </a:lvl4pPr>
            <a:lvl5pPr marL="2001838" indent="-1730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6483177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79C7C16D-3FCE-4FD9-B5D5-8D283AC2A2D0}" type="datetime4">
              <a:rPr lang="en-US" sz="900" smtClean="0">
                <a:solidFill>
                  <a:schemeClr val="bg1"/>
                </a:solidFill>
              </a:rPr>
              <a:t>December 19, 2025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1503068" y="6648872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3DD8D3D-9F5D-40B5-8723-5F4A9233747C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9128072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>
                <a:solidFill>
                  <a:schemeClr val="bg1"/>
                </a:solidFill>
              </a:rPr>
              <a:t>© 2020 EXLSERVICE HOLDINGS, INC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40" y="-124945"/>
            <a:ext cx="1294935" cy="106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69685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/>
          <p:cNvSpPr/>
          <p:nvPr/>
        </p:nvSpPr>
        <p:spPr>
          <a:xfrm>
            <a:off x="0" y="0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338099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260951" y="6558701"/>
            <a:ext cx="5931049" cy="299299"/>
            <a:chOff x="6260951" y="6558701"/>
            <a:chExt cx="5931049" cy="299299"/>
          </a:xfrm>
        </p:grpSpPr>
        <p:sp>
          <p:nvSpPr>
            <p:cNvPr id="16" name="Rectangle 15"/>
            <p:cNvSpPr/>
            <p:nvPr userDrawn="1"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" fmla="*/ 209228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209228 w 5931049"/>
                <a:gd name="connsiteY4" fmla="*/ 0 h 29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/>
            <p:cNvGrpSpPr/>
            <p:nvPr userDrawn="1"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8" name="Straight Connector 17"/>
              <p:cNvCxnSpPr/>
              <p:nvPr userDrawn="1"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 userDrawn="1"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extBox 19"/>
          <p:cNvSpPr txBox="1"/>
          <p:nvPr/>
        </p:nvSpPr>
        <p:spPr>
          <a:xfrm>
            <a:off x="6483177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79C7C16D-3FCE-4FD9-B5D5-8D283AC2A2D0}" type="datetime4">
              <a:rPr lang="en-US" sz="900" smtClean="0">
                <a:solidFill>
                  <a:schemeClr val="bg1"/>
                </a:solidFill>
              </a:rPr>
              <a:t>December 19, 2025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503068" y="6648872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3DD8D3D-9F5D-40B5-8723-5F4A9233747C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28072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>
                <a:solidFill>
                  <a:schemeClr val="bg1"/>
                </a:solidFill>
              </a:rPr>
              <a:t>© 2020 EXLSERVICE HOLDINGS, INC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40" y="-124945"/>
            <a:ext cx="1294935" cy="106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776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6260951" y="6558701"/>
            <a:ext cx="5931049" cy="299299"/>
            <a:chOff x="6260951" y="6558701"/>
            <a:chExt cx="5931049" cy="299299"/>
          </a:xfrm>
        </p:grpSpPr>
        <p:sp>
          <p:nvSpPr>
            <p:cNvPr id="12" name="Rectangle 15"/>
            <p:cNvSpPr/>
            <p:nvPr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" fmla="*/ 209228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209228 w 5931049"/>
                <a:gd name="connsiteY4" fmla="*/ 0 h 29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Rectangle 13"/>
          <p:cNvSpPr/>
          <p:nvPr/>
        </p:nvSpPr>
        <p:spPr>
          <a:xfrm>
            <a:off x="0" y="0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338099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944" y="86060"/>
            <a:ext cx="914636" cy="5887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chemeClr val="tx1"/>
              </a:buClr>
              <a:buFont typeface="Arial" pitchFamily="34" charset="0"/>
              <a:buChar char="-"/>
              <a:defRPr/>
            </a:lvl2pPr>
            <a:lvl3pPr marL="1087438" indent="-173038">
              <a:defRPr/>
            </a:lvl3pPr>
            <a:lvl4pPr marL="1539875" indent="-168275">
              <a:defRPr/>
            </a:lvl4pPr>
            <a:lvl5pPr marL="2001838" indent="-173038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177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79C7C16D-3FCE-4FD9-B5D5-8D283AC2A2D0}" type="datetime4">
              <a:rPr lang="en-US" sz="900" smtClean="0">
                <a:solidFill>
                  <a:schemeClr val="bg1"/>
                </a:solidFill>
              </a:rPr>
              <a:t>December 19, 2025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03068" y="6648872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3DD8D3D-9F5D-40B5-8723-5F4A9233747C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28072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>
                <a:solidFill>
                  <a:schemeClr val="bg1"/>
                </a:solidFill>
              </a:rPr>
              <a:t>© 2020 EXLSERVICE HOLDINGS, INC</a:t>
            </a:r>
          </a:p>
        </p:txBody>
      </p:sp>
    </p:spTree>
    <p:extLst>
      <p:ext uri="{BB962C8B-B14F-4D97-AF65-F5344CB8AC3E}">
        <p14:creationId xmlns:p14="http://schemas.microsoft.com/office/powerpoint/2010/main" val="1262008741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99775A-B4A8-402C-8B62-11EC3809FD4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F0CFA-EE8B-45EF-ACB1-2C508059A02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1588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76035"/>
            <a:ext cx="11277600" cy="48943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74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185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193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-In Logo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43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Titl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9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68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08482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697E121-414A-B041-84FF-D45B6A776B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89837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03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77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5367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4073269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9313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1898373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240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4452728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8758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1269724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82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4038600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48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70329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4977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28F49-45F0-DB43-8B02-D7D8003DA0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595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10404DB-54A2-CE45-953F-33A259AD3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11282-4214-3B44-B17C-9B2CB6A789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47478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head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D463CD-9D09-C54A-A67B-EFECE519AD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91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7844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Orang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8401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4113796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9285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931B3-9150-A144-A52C-51AE7E4685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2pPr>
            <a:lvl3pPr marL="519113" indent="-26670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4pPr>
            <a:lvl5pPr marL="1031875" indent="-274638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10C0A52-392D-4946-BCDD-EC07BEBCAA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7356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186828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01163"/>
            <a:ext cx="11277600" cy="48943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28601"/>
            <a:ext cx="5638800" cy="1905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08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6720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045417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03A92C8-4D21-FB40-A217-7D7F8D33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72856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A07D5EE-B3F8-AA44-8D0B-DEB1CD4DD7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56421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864CBC-9FA5-F041-B465-DE00482D6D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53238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CE26F75-3860-3546-85F7-4E09E38C14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234978"/>
            <a:ext cx="3045417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4296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1485900"/>
            <a:ext cx="3006916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6AC2DB-B5C2-3A41-A570-78C62820C2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72856" y="1483668"/>
            <a:ext cx="4675989" cy="46481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24F38BC-D9BA-9143-A602-F90DC3AFC8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1" y="3234978"/>
            <a:ext cx="3006916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2396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19265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D6F557C-3C26-B547-B21C-88ADA188DD0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65293" y="1484313"/>
            <a:ext cx="4702140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6C5533-0E3B-4A43-98F3-7F2AE6EEEA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19265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1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488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91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9F8FE3-FF5A-624D-A591-97864EAB2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11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685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e Picture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9118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8475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C2F399F-28D4-9E43-B164-5A6B7AA144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6942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632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Boxe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214542"/>
            <a:ext cx="7701124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485900"/>
            <a:ext cx="7700963" cy="7286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5841830"/>
            <a:ext cx="7700963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2214542"/>
            <a:ext cx="3849205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841830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3C935CB-FC55-5340-B422-F68ABAB49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0725" y="1485900"/>
            <a:ext cx="3394075" cy="61436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500">
                <a:latin typeface="+mj-lt"/>
              </a:defRPr>
            </a:lvl2pPr>
            <a:lvl3pPr marL="582613" indent="0">
              <a:spcBef>
                <a:spcPts val="0"/>
              </a:spcBef>
              <a:buNone/>
              <a:defRPr sz="1500">
                <a:latin typeface="+mj-lt"/>
              </a:defRPr>
            </a:lvl3pPr>
            <a:lvl4pPr marL="855663" indent="0">
              <a:spcBef>
                <a:spcPts val="0"/>
              </a:spcBef>
              <a:buNone/>
              <a:defRPr sz="1500">
                <a:latin typeface="+mj-lt"/>
              </a:defRPr>
            </a:lvl4pPr>
            <a:lvl5pPr marL="1100138" indent="0">
              <a:spcBef>
                <a:spcPts val="0"/>
              </a:spcBef>
              <a:buNone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2291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4B387-8E5D-BC42-B9C5-15885C27A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5387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61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act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39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0496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0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70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4073269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8589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1898373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8979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4452728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5823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1269724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35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4038600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88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059067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6691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il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28F49-45F0-DB43-8B02-D7D8003DA0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57121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ild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10404DB-54A2-CE45-953F-33A259AD3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11282-4214-3B44-B17C-9B2CB6A789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4574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ubhead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D463CD-9D09-C54A-A67B-EFECE519AD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19522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504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Silde Orang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2991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2519308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2377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Orang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931B3-9150-A144-A52C-51AE7E4685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2pPr>
            <a:lvl3pPr marL="519113" indent="-26670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4pPr>
            <a:lvl5pPr marL="1031875" indent="-274638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10C0A52-392D-4946-BCDD-EC07BEBCAA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8469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200085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1223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045417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03A92C8-4D21-FB40-A217-7D7F8D33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72856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A07D5EE-B3F8-AA44-8D0B-DEB1CD4DD7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56421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864CBC-9FA5-F041-B465-DE00482D6D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53238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CE26F75-3860-3546-85F7-4E09E38C14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234978"/>
            <a:ext cx="3045417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98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1485900"/>
            <a:ext cx="3006916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6AC2DB-B5C2-3A41-A570-78C62820C2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72856" y="1483668"/>
            <a:ext cx="4675989" cy="46481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24F38BC-D9BA-9143-A602-F90DC3AFC8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1" y="3234978"/>
            <a:ext cx="3006916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4462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19265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D6F557C-3C26-B547-B21C-88ADA188DD0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65293" y="1484313"/>
            <a:ext cx="4702140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6C5533-0E3B-4A43-98F3-7F2AE6EEEA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19265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0029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6623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9F8FE3-FF5A-624D-A591-97864EAB2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50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2625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we Picture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9118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8475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C2F399F-28D4-9E43-B164-5A6B7AA144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8101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4190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icture Boxe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214542"/>
            <a:ext cx="7701124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485900"/>
            <a:ext cx="7700963" cy="7286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5841830"/>
            <a:ext cx="7700963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2214542"/>
            <a:ext cx="3849205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841830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3C935CB-FC55-5340-B422-F68ABAB49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0725" y="1485900"/>
            <a:ext cx="3394075" cy="61436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500">
                <a:latin typeface="+mj-lt"/>
              </a:defRPr>
            </a:lvl2pPr>
            <a:lvl3pPr marL="582613" indent="0">
              <a:spcBef>
                <a:spcPts val="0"/>
              </a:spcBef>
              <a:buNone/>
              <a:defRPr sz="1500">
                <a:latin typeface="+mj-lt"/>
              </a:defRPr>
            </a:lvl3pPr>
            <a:lvl4pPr marL="855663" indent="0">
              <a:spcBef>
                <a:spcPts val="0"/>
              </a:spcBef>
              <a:buNone/>
              <a:defRPr sz="1500">
                <a:latin typeface="+mj-lt"/>
              </a:defRPr>
            </a:lvl4pPr>
            <a:lvl5pPr marL="1100138" indent="0">
              <a:spcBef>
                <a:spcPts val="0"/>
              </a:spcBef>
              <a:buNone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8270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69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07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©2025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7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  <p:sldLayoutId id="2147483726" r:id="rId54"/>
    <p:sldLayoutId id="2147483727" r:id="rId55"/>
    <p:sldLayoutId id="2147483728" r:id="rId56"/>
    <p:sldLayoutId id="2147483729" r:id="rId57"/>
    <p:sldLayoutId id="2147483730" r:id="rId58"/>
    <p:sldLayoutId id="2147483731" r:id="rId59"/>
    <p:sldLayoutId id="2147483732" r:id="rId60"/>
    <p:sldLayoutId id="2147483733" r:id="rId61"/>
    <p:sldLayoutId id="2147483734" r:id="rId62"/>
    <p:sldLayoutId id="2147483735" r:id="rId63"/>
    <p:sldLayoutId id="2147483736" r:id="rId64"/>
    <p:sldLayoutId id="2147483737" r:id="rId65"/>
    <p:sldLayoutId id="2147483738" r:id="rId66"/>
    <p:sldLayoutId id="2147483739" r:id="rId67"/>
    <p:sldLayoutId id="2147483740" r:id="rId68"/>
    <p:sldLayoutId id="2147483741" r:id="rId69"/>
    <p:sldLayoutId id="2147483742" r:id="rId70"/>
    <p:sldLayoutId id="2147483743" r:id="rId71"/>
    <p:sldLayoutId id="2147483744" r:id="rId72"/>
    <p:sldLayoutId id="2147483745" r:id="rId73"/>
    <p:sldLayoutId id="2147483746" r:id="rId74"/>
    <p:sldLayoutId id="2147483747" r:id="rId75"/>
    <p:sldLayoutId id="2147483748" r:id="rId76"/>
    <p:sldLayoutId id="2147483749" r:id="rId77"/>
    <p:sldLayoutId id="2147483750" r:id="rId78"/>
    <p:sldLayoutId id="2147483751" r:id="rId79"/>
    <p:sldLayoutId id="2147483752" r:id="rId80"/>
    <p:sldLayoutId id="2147483753" r:id="rId81"/>
    <p:sldLayoutId id="2147483754" r:id="rId82"/>
    <p:sldLayoutId id="2147483755" r:id="rId83"/>
    <p:sldLayoutId id="2147483756" r:id="rId84"/>
    <p:sldLayoutId id="2147483757" r:id="rId85"/>
    <p:sldLayoutId id="2147483758" r:id="rId86"/>
    <p:sldLayoutId id="2147483759" r:id="rId87"/>
    <p:sldLayoutId id="2147483760" r:id="rId88"/>
    <p:sldLayoutId id="2147483761" r:id="rId89"/>
    <p:sldLayoutId id="2147483762" r:id="rId90"/>
    <p:sldLayoutId id="2147483763" r:id="rId91"/>
    <p:sldLayoutId id="2147483764" r:id="rId92"/>
    <p:sldLayoutId id="2147483765" r:id="rId93"/>
    <p:sldLayoutId id="2147483766" r:id="rId94"/>
    <p:sldLayoutId id="2147483767" r:id="rId95"/>
    <p:sldLayoutId id="2147483768" r:id="rId96"/>
    <p:sldLayoutId id="2147483769" r:id="rId97"/>
    <p:sldLayoutId id="2147483770" r:id="rId98"/>
    <p:sldLayoutId id="2147483771" r:id="rId99"/>
    <p:sldLayoutId id="2147483772" r:id="rId100"/>
    <p:sldLayoutId id="2147483773" r:id="rId101"/>
    <p:sldLayoutId id="2147483774" r:id="rId102"/>
    <p:sldLayoutId id="2147483775" r:id="rId103"/>
    <p:sldLayoutId id="2147483776" r:id="rId104"/>
    <p:sldLayoutId id="2147483777" r:id="rId105"/>
    <p:sldLayoutId id="2147483778" r:id="rId10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chart" Target="../charts/char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B484-C529-3537-96B7-C8E79068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9A45AE-B046-211C-1505-52EC7A987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278843"/>
            <a:ext cx="11277600" cy="672567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3000" dirty="0"/>
              <a:t>STARS Financial Command Center - </a:t>
            </a:r>
            <a:r>
              <a:rPr lang="en-US" sz="3200" dirty="0"/>
              <a:t>NorthStar Health Plan</a:t>
            </a:r>
            <a:endParaRPr lang="en-US" sz="3000" b="1" dirty="0"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05FA7-6BC3-F961-0996-BF37FBBE7D19}"/>
              </a:ext>
            </a:extLst>
          </p:cNvPr>
          <p:cNvSpPr txBox="1"/>
          <p:nvPr/>
        </p:nvSpPr>
        <p:spPr>
          <a:xfrm>
            <a:off x="697109" y="2865936"/>
            <a:ext cx="10797778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1800"/>
              </a:spcBef>
            </a:pPr>
            <a:r>
              <a:rPr lang="en-US" b="1" dirty="0"/>
              <a:t>Stars performance is at risk: </a:t>
            </a:r>
            <a:r>
              <a:rPr lang="en-US" dirty="0"/>
              <a:t>CY Star Rating: 3.5 (below target for margin and QBP eligibility)</a:t>
            </a:r>
          </a:p>
          <a:p>
            <a:pPr>
              <a:spcBef>
                <a:spcPts val="1800"/>
              </a:spcBef>
            </a:pPr>
            <a:r>
              <a:rPr lang="en-US" b="1" dirty="0"/>
              <a:t>HEI Scorecard signals concern: </a:t>
            </a:r>
            <a:r>
              <a:rPr lang="en-US" dirty="0"/>
              <a:t>Status: Below Average (equity gaps persist, jeopardizing rewards)</a:t>
            </a:r>
          </a:p>
          <a:p>
            <a:pPr>
              <a:spcBef>
                <a:spcPts val="1800"/>
              </a:spcBef>
            </a:pPr>
            <a:r>
              <a:rPr lang="en-US" b="1" dirty="0"/>
              <a:t>QBP eligibility is not secured: </a:t>
            </a:r>
            <a:r>
              <a:rPr lang="en-US" dirty="0"/>
              <a:t>Not Eligible (current risks incentive loss)</a:t>
            </a:r>
          </a:p>
          <a:p>
            <a:pPr>
              <a:spcBef>
                <a:spcPts val="1800"/>
              </a:spcBef>
            </a:pPr>
            <a:r>
              <a:rPr lang="en-US" b="1" dirty="0"/>
              <a:t>Financial exposure is significant: </a:t>
            </a:r>
            <a:r>
              <a:rPr lang="en-US" dirty="0"/>
              <a:t>Revenue Impact: Risk −$30M </a:t>
            </a:r>
          </a:p>
          <a:p>
            <a:pPr>
              <a:spcBef>
                <a:spcPts val="1800"/>
              </a:spcBef>
            </a:pPr>
            <a:r>
              <a:rPr lang="en-US" b="1" dirty="0"/>
              <a:t>Chief Quality Officer mandate: </a:t>
            </a:r>
            <a:r>
              <a:rPr lang="en-US" dirty="0"/>
              <a:t>Must prioritize data-driven strategies to assess the financial landscape and identify actionable insights for improvement for Next Year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210D8-1D04-F36E-9B0A-81694FAEC083}"/>
              </a:ext>
            </a:extLst>
          </p:cNvPr>
          <p:cNvSpPr txBox="1"/>
          <p:nvPr/>
        </p:nvSpPr>
        <p:spPr>
          <a:xfrm>
            <a:off x="697109" y="1260020"/>
            <a:ext cx="10547153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Our demo will follow a fictional plan, "NorthStar," with population of 50k members that has just dropped from 4.0 to 3.5 Stars. We will walk the client through a journey from the C-Suite down to the frontline, showing how </a:t>
            </a:r>
            <a:r>
              <a:rPr lang="en-US" dirty="0">
                <a:ea typeface="Aptos" panose="020B0004020202020204" pitchFamily="34" charset="0"/>
                <a:cs typeface="Aptos" panose="020B0004020202020204" pitchFamily="34" charset="0"/>
              </a:rPr>
              <a:t>we can support</a:t>
            </a:r>
            <a:r>
              <a:rPr lang="en-US" sz="18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 diagnoses of the problem and orchestrate the solution.</a:t>
            </a:r>
          </a:p>
        </p:txBody>
      </p:sp>
    </p:spTree>
    <p:extLst>
      <p:ext uri="{BB962C8B-B14F-4D97-AF65-F5344CB8AC3E}">
        <p14:creationId xmlns:p14="http://schemas.microsoft.com/office/powerpoint/2010/main" val="361512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469CF-39DF-DC1A-3830-6033E7E6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AE8DC9-2C09-5147-3F99-59C9DAA63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278843"/>
            <a:ext cx="11277600" cy="672567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3200" dirty="0"/>
              <a:t>Act I: From Chaos to Financial Command</a:t>
            </a:r>
            <a:br>
              <a:rPr lang="en-US" sz="3200" b="1" dirty="0"/>
            </a:br>
            <a:endParaRPr lang="en-US" sz="3200" dirty="0">
              <a:ea typeface="Calibri Light"/>
              <a:cs typeface="Calibri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F8F58-0542-059F-B326-A7FAFB25DF2D}"/>
              </a:ext>
            </a:extLst>
          </p:cNvPr>
          <p:cNvSpPr txBox="1"/>
          <p:nvPr/>
        </p:nvSpPr>
        <p:spPr>
          <a:xfrm>
            <a:off x="719191" y="951409"/>
            <a:ext cx="11015608" cy="20116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What we will do differently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Model the business before spending</a:t>
            </a:r>
            <a:r>
              <a:rPr lang="en-US" dirty="0"/>
              <a:t>: Use the </a:t>
            </a:r>
            <a:r>
              <a:rPr lang="en-US" b="1" dirty="0"/>
              <a:t>What‑If Scenario</a:t>
            </a:r>
            <a:r>
              <a:rPr lang="en-US" dirty="0"/>
              <a:t> Planner to test screening/adherence/vaccine levers and instantly see the STARs &amp; HEI impact.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Pinpoint and Address the Drivers of Inequity</a:t>
            </a:r>
            <a:r>
              <a:rPr lang="en-US" dirty="0"/>
              <a:t>: Target equity efforts for maximum impact by identifying the SRF micro-cohorts with the largest care gaps. Use </a:t>
            </a:r>
            <a:r>
              <a:rPr lang="en-US" b="1" dirty="0"/>
              <a:t>SDOH analytics </a:t>
            </a:r>
            <a:r>
              <a:rPr lang="en-US" dirty="0"/>
              <a:t>to pinpoint the root social and economic barriers to deploy outreach programs.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845BD-2336-41E0-CEAD-E61221446FC0}"/>
              </a:ext>
            </a:extLst>
          </p:cNvPr>
          <p:cNvSpPr txBox="1"/>
          <p:nvPr/>
        </p:nvSpPr>
        <p:spPr>
          <a:xfrm>
            <a:off x="5605461" y="3541484"/>
            <a:ext cx="6129338" cy="1828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What success looks like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Projected Star Rating: → 4.0 </a:t>
            </a:r>
            <a:r>
              <a:rPr lang="en-US" dirty="0"/>
              <a:t>(with targeted intervention)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HEI Scorecard: → On Track </a:t>
            </a:r>
            <a:r>
              <a:rPr lang="en-US" dirty="0"/>
              <a:t>(close priority disparities)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QBP Eligibility: → Eligible </a:t>
            </a:r>
            <a:r>
              <a:rPr lang="en-US" dirty="0"/>
              <a:t>(scenario‑dependent)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Financial Outcome: → </a:t>
            </a:r>
            <a:r>
              <a:rPr lang="en-US" dirty="0"/>
              <a:t>Opportunity</a:t>
            </a:r>
            <a:r>
              <a:rPr lang="en-US" b="1" dirty="0"/>
              <a:t> ~$32M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2464C5-27F0-32BA-2854-2438934B2F47}"/>
              </a:ext>
            </a:extLst>
          </p:cNvPr>
          <p:cNvSpPr/>
          <p:nvPr/>
        </p:nvSpPr>
        <p:spPr>
          <a:xfrm>
            <a:off x="616449" y="3380196"/>
            <a:ext cx="4756935" cy="25674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Scenario Planner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73E4AF-B554-432A-A286-0F658C735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31" r="7144"/>
          <a:stretch>
            <a:fillRect/>
          </a:stretch>
        </p:blipFill>
        <p:spPr bwMode="auto">
          <a:xfrm>
            <a:off x="708917" y="3518016"/>
            <a:ext cx="4569833" cy="229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65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A2414-BA4F-8760-76D3-8D304DFB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2F491B-F454-A509-BE64-F23BE04EC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278843"/>
            <a:ext cx="11277600" cy="672567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3200" dirty="0"/>
              <a:t>Act 2: Analyst View: From Disparity to Actionable Insight</a:t>
            </a:r>
            <a:endParaRPr lang="en-US" sz="3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69D7C-D60B-781C-0BC5-2B561D1C5FC4}"/>
              </a:ext>
            </a:extLst>
          </p:cNvPr>
          <p:cNvSpPr txBox="1"/>
          <p:nvPr/>
        </p:nvSpPr>
        <p:spPr>
          <a:xfrm>
            <a:off x="1095751" y="1255944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Measure Disparity Analysis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545AF-EB96-1181-5E05-2C5B5046E591}"/>
              </a:ext>
            </a:extLst>
          </p:cNvPr>
          <p:cNvSpPr txBox="1"/>
          <p:nvPr/>
        </p:nvSpPr>
        <p:spPr>
          <a:xfrm>
            <a:off x="1975184" y="5364079"/>
            <a:ext cx="823762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i="1" dirty="0">
                <a:latin typeface="Calibri"/>
                <a:ea typeface="Calibri"/>
                <a:cs typeface="Calibri"/>
              </a:rPr>
              <a:t>"We found the WHY. The problem is localized, concentrated and actionable."</a:t>
            </a:r>
            <a:endParaRPr lang="en-US" sz="1600" b="1" i="1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2DE138-2043-9D4E-20BC-3E80320C0928}"/>
              </a:ext>
            </a:extLst>
          </p:cNvPr>
          <p:cNvSpPr txBox="1"/>
          <p:nvPr/>
        </p:nvSpPr>
        <p:spPr>
          <a:xfrm>
            <a:off x="4875672" y="1255944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Predictive Risk Stratification</a:t>
            </a:r>
            <a:endParaRPr lang="en-US"/>
          </a:p>
        </p:txBody>
      </p:sp>
      <p:pic>
        <p:nvPicPr>
          <p:cNvPr id="20" name="Picture 19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6CBE9347-814D-31C1-E6A5-C3E66F209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573" y="1576639"/>
            <a:ext cx="3222457" cy="26319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F9469DB-47D1-1010-5208-2BD31DCA7310}"/>
              </a:ext>
            </a:extLst>
          </p:cNvPr>
          <p:cNvSpPr txBox="1"/>
          <p:nvPr/>
        </p:nvSpPr>
        <p:spPr>
          <a:xfrm>
            <a:off x="8655593" y="1255944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Geospatial &amp; </a:t>
            </a:r>
            <a:r>
              <a:rPr lang="en-US" sz="1400" b="1" err="1"/>
              <a:t>SDoH</a:t>
            </a:r>
            <a:r>
              <a:rPr lang="en-US" sz="1400" b="1"/>
              <a:t> Overlay</a:t>
            </a:r>
            <a:endParaRPr lang="en-US"/>
          </a:p>
        </p:txBody>
      </p:sp>
      <p:pic>
        <p:nvPicPr>
          <p:cNvPr id="25" name="Picture 24" descr="Choropleth Map By Zip Code Python - Ucsd Spring Break 2024">
            <a:extLst>
              <a:ext uri="{FF2B5EF4-FFF2-40B4-BE49-F238E27FC236}">
                <a16:creationId xmlns:a16="http://schemas.microsoft.com/office/drawing/2014/main" id="{4AFB6FC3-8ECB-78D2-B20E-C0F443900D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rcRect l="7779" t="37895" r="75930" b="41260"/>
          <a:stretch>
            <a:fillRect/>
          </a:stretch>
        </p:blipFill>
        <p:spPr>
          <a:xfrm>
            <a:off x="8692324" y="1775922"/>
            <a:ext cx="2585276" cy="208404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B2FD277-9BA5-B147-FD3F-6B2FF585A2E4}"/>
              </a:ext>
            </a:extLst>
          </p:cNvPr>
          <p:cNvSpPr txBox="1"/>
          <p:nvPr/>
        </p:nvSpPr>
        <p:spPr>
          <a:xfrm>
            <a:off x="4241132" y="4341395"/>
            <a:ext cx="35453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i="1" dirty="0">
                <a:latin typeface="Calibri"/>
                <a:ea typeface="Calibri"/>
                <a:cs typeface="Calibri"/>
              </a:rPr>
              <a:t>AI pinpoints the small cohort of members driving majority of the gap combined with the likelihood to respond to targeted interventions.</a:t>
            </a:r>
            <a:endParaRPr lang="en-US" sz="1400" i="1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525D89-2A18-79BD-DBDE-0B1B32F08A2C}"/>
              </a:ext>
            </a:extLst>
          </p:cNvPr>
          <p:cNvSpPr txBox="1"/>
          <p:nvPr/>
        </p:nvSpPr>
        <p:spPr>
          <a:xfrm>
            <a:off x="551447" y="4401552"/>
            <a:ext cx="354530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i="1" dirty="0">
                <a:latin typeface="Calibri"/>
                <a:ea typeface="Calibri"/>
                <a:cs typeface="Calibri"/>
              </a:rPr>
              <a:t>Identify and prioritize measures where targeted improvement yields maximum stars impact.</a:t>
            </a:r>
            <a:endParaRPr lang="en-US" sz="1400" i="1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828BD-ACD3-71AE-C02F-321DA4FB5FCF}"/>
              </a:ext>
            </a:extLst>
          </p:cNvPr>
          <p:cNvSpPr txBox="1"/>
          <p:nvPr/>
        </p:nvSpPr>
        <p:spPr>
          <a:xfrm>
            <a:off x="8111289" y="4401552"/>
            <a:ext cx="354530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i="1">
                <a:latin typeface="Calibri"/>
                <a:ea typeface="Calibri"/>
                <a:cs typeface="Calibri"/>
              </a:rPr>
              <a:t>The challenge isn't everywhere – its concentrated and solvable.</a:t>
            </a:r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B9C1C22-79D4-978E-DD87-474BA4D380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0010179"/>
              </p:ext>
            </p:extLst>
          </p:nvPr>
        </p:nvGraphicFramePr>
        <p:xfrm>
          <a:off x="648174" y="1927559"/>
          <a:ext cx="3465183" cy="2207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D5A6015-D740-931C-B0C9-7A01CD0AC48E}"/>
              </a:ext>
            </a:extLst>
          </p:cNvPr>
          <p:cNvSpPr/>
          <p:nvPr/>
        </p:nvSpPr>
        <p:spPr>
          <a:xfrm>
            <a:off x="1448656" y="2178122"/>
            <a:ext cx="1551398" cy="33904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C7CBB7-7D7C-D78C-67E1-4803BE694AAE}"/>
              </a:ext>
            </a:extLst>
          </p:cNvPr>
          <p:cNvSpPr/>
          <p:nvPr/>
        </p:nvSpPr>
        <p:spPr>
          <a:xfrm>
            <a:off x="6020801" y="1576639"/>
            <a:ext cx="1611229" cy="136177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D0469-BB8C-5E57-D927-F45EF63DD3E6}"/>
              </a:ext>
            </a:extLst>
          </p:cNvPr>
          <p:cNvSpPr/>
          <p:nvPr/>
        </p:nvSpPr>
        <p:spPr>
          <a:xfrm>
            <a:off x="9051536" y="2129096"/>
            <a:ext cx="339047" cy="339047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7E7BA4-4384-9A4F-A7AC-3808AA9AFCEA}"/>
              </a:ext>
            </a:extLst>
          </p:cNvPr>
          <p:cNvSpPr/>
          <p:nvPr/>
        </p:nvSpPr>
        <p:spPr>
          <a:xfrm>
            <a:off x="9335396" y="3031387"/>
            <a:ext cx="731520" cy="7315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99C998-B0E6-C720-FAD4-F9C178224624}"/>
              </a:ext>
            </a:extLst>
          </p:cNvPr>
          <p:cNvSpPr txBox="1"/>
          <p:nvPr/>
        </p:nvSpPr>
        <p:spPr>
          <a:xfrm>
            <a:off x="10250674" y="2347645"/>
            <a:ext cx="1484125" cy="923330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sz="1200" i="1" dirty="0"/>
              <a:t>High concentration in 3 zip codes, driven by: - Lack of public transport - Food desert status</a:t>
            </a:r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0242-04A2-D56D-257E-1BE002B6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D3A054-FF72-12B8-3365-EEA5D0571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278843"/>
            <a:ext cx="11277600" cy="672567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3000" dirty="0"/>
              <a:t>Act III: From Insight to Action: Smart Workbench</a:t>
            </a:r>
            <a:endParaRPr lang="en-US" sz="3000" dirty="0">
              <a:ea typeface="Calibri Light"/>
              <a:cs typeface="Calibri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51174-5BBB-C1BC-9A31-651520712C7D}"/>
              </a:ext>
            </a:extLst>
          </p:cNvPr>
          <p:cNvSpPr txBox="1"/>
          <p:nvPr/>
        </p:nvSpPr>
        <p:spPr>
          <a:xfrm>
            <a:off x="4242822" y="3179067"/>
            <a:ext cx="355545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1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Care teams act faster and smarter—with measurable impact</a:t>
            </a:r>
          </a:p>
        </p:txBody>
      </p:sp>
      <p:pic>
        <p:nvPicPr>
          <p:cNvPr id="2" name="Graphic 1" descr="Clipboard Checked outline">
            <a:extLst>
              <a:ext uri="{FF2B5EF4-FFF2-40B4-BE49-F238E27FC236}">
                <a16:creationId xmlns:a16="http://schemas.microsoft.com/office/drawing/2014/main" id="{C0E4CC6C-7A96-9BF6-7BBD-81F452293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4366" y="1181559"/>
            <a:ext cx="1263267" cy="1254086"/>
          </a:xfrm>
          <a:prstGeom prst="rect">
            <a:avLst/>
          </a:prstGeom>
        </p:spPr>
      </p:pic>
      <p:sp>
        <p:nvSpPr>
          <p:cNvPr id="13" name="Thought Bubble: Cloud 12">
            <a:extLst>
              <a:ext uri="{FF2B5EF4-FFF2-40B4-BE49-F238E27FC236}">
                <a16:creationId xmlns:a16="http://schemas.microsoft.com/office/drawing/2014/main" id="{E65514B9-2B96-CAD6-C18F-FF0EE69397B0}"/>
              </a:ext>
            </a:extLst>
          </p:cNvPr>
          <p:cNvSpPr/>
          <p:nvPr/>
        </p:nvSpPr>
        <p:spPr>
          <a:xfrm>
            <a:off x="7798275" y="3438026"/>
            <a:ext cx="3457457" cy="2035658"/>
          </a:xfrm>
          <a:prstGeom prst="cloudCallou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26B63-8F99-293A-2894-3F9E3E1DCDBF}"/>
              </a:ext>
            </a:extLst>
          </p:cNvPr>
          <p:cNvSpPr txBox="1"/>
          <p:nvPr/>
        </p:nvSpPr>
        <p:spPr>
          <a:xfrm>
            <a:off x="8259165" y="4512704"/>
            <a:ext cx="274319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u="sng" dirty="0"/>
              <a:t>Detected barriers from prior conversation</a:t>
            </a:r>
            <a:endParaRPr lang="en-US" sz="1200" b="1" u="sng" dirty="0">
              <a:latin typeface="Calibri"/>
              <a:ea typeface="Calibri"/>
              <a:cs typeface="Calibri"/>
            </a:endParaRPr>
          </a:p>
          <a:p>
            <a:r>
              <a:rPr lang="en-US" sz="1200" dirty="0">
                <a:latin typeface="Calibri"/>
                <a:ea typeface="Calibri"/>
                <a:cs typeface="Calibri"/>
              </a:rPr>
              <a:t>"I have transportation issues"</a:t>
            </a:r>
            <a:br>
              <a:rPr lang="en-US" sz="1200" dirty="0">
                <a:latin typeface="Calibri"/>
                <a:ea typeface="Calibri"/>
                <a:cs typeface="Calibri"/>
              </a:rPr>
            </a:br>
            <a:r>
              <a:rPr lang="en-US" sz="1200" dirty="0">
                <a:latin typeface="Calibri"/>
                <a:ea typeface="Calibri"/>
                <a:cs typeface="Calibri"/>
              </a:rPr>
              <a:t>"Anxious about screenings"</a:t>
            </a:r>
            <a:endParaRPr lang="en-US" sz="12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144D81-E1B2-DDB3-A6F0-88BC94BD42E1}"/>
              </a:ext>
            </a:extLst>
          </p:cNvPr>
          <p:cNvCxnSpPr>
            <a:cxnSpLocks/>
          </p:cNvCxnSpPr>
          <p:nvPr/>
        </p:nvCxnSpPr>
        <p:spPr>
          <a:xfrm flipH="1" flipV="1">
            <a:off x="4683293" y="4532896"/>
            <a:ext cx="2825413" cy="80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05E5F8-315A-466E-E4F7-6F9348B4D252}"/>
              </a:ext>
            </a:extLst>
          </p:cNvPr>
          <p:cNvCxnSpPr>
            <a:cxnSpLocks/>
          </p:cNvCxnSpPr>
          <p:nvPr/>
        </p:nvCxnSpPr>
        <p:spPr>
          <a:xfrm flipV="1">
            <a:off x="3137233" y="1845842"/>
            <a:ext cx="1947112" cy="158215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A899D5-757B-2EE2-BBCB-CB2D1B409FE2}"/>
              </a:ext>
            </a:extLst>
          </p:cNvPr>
          <p:cNvCxnSpPr/>
          <p:nvPr/>
        </p:nvCxnSpPr>
        <p:spPr>
          <a:xfrm>
            <a:off x="6957260" y="1843839"/>
            <a:ext cx="1947112" cy="157613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Badge 3 outline">
            <a:extLst>
              <a:ext uri="{FF2B5EF4-FFF2-40B4-BE49-F238E27FC236}">
                <a16:creationId xmlns:a16="http://schemas.microsoft.com/office/drawing/2014/main" id="{8EA726FC-ED55-B28C-A9A1-13463B704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535" y="2310061"/>
            <a:ext cx="433139" cy="403059"/>
          </a:xfrm>
          <a:prstGeom prst="rect">
            <a:avLst/>
          </a:prstGeom>
        </p:spPr>
      </p:pic>
      <p:pic>
        <p:nvPicPr>
          <p:cNvPr id="31" name="Graphic 30" descr="Badge outline">
            <a:extLst>
              <a:ext uri="{FF2B5EF4-FFF2-40B4-BE49-F238E27FC236}">
                <a16:creationId xmlns:a16="http://schemas.microsoft.com/office/drawing/2014/main" id="{CD9B7077-A881-55A9-808E-EAF049BE78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7949" y="5284491"/>
            <a:ext cx="443164" cy="413088"/>
          </a:xfrm>
          <a:prstGeom prst="rect">
            <a:avLst/>
          </a:prstGeom>
        </p:spPr>
      </p:pic>
      <p:pic>
        <p:nvPicPr>
          <p:cNvPr id="32" name="Graphic 31" descr="Badge 1 outline">
            <a:extLst>
              <a:ext uri="{FF2B5EF4-FFF2-40B4-BE49-F238E27FC236}">
                <a16:creationId xmlns:a16="http://schemas.microsoft.com/office/drawing/2014/main" id="{38C54DEA-C77A-445D-9B84-6ACC6414F5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59165" y="2292481"/>
            <a:ext cx="443165" cy="41308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057EBB2-9D91-C737-0012-01D982E4073E}"/>
              </a:ext>
            </a:extLst>
          </p:cNvPr>
          <p:cNvSpPr txBox="1"/>
          <p:nvPr/>
        </p:nvSpPr>
        <p:spPr>
          <a:xfrm>
            <a:off x="8817144" y="2274681"/>
            <a:ext cx="337485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 dirty="0">
                <a:latin typeface="Calibri"/>
                <a:ea typeface="Calibri"/>
                <a:cs typeface="Calibri"/>
              </a:rPr>
              <a:t>From 1,000 members to the top 50 today (ranked by Impactability).</a:t>
            </a:r>
            <a:endParaRPr lang="en-US" sz="1400" b="1" i="1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46CA15-6F76-E546-C6E7-36920F1CCA7D}"/>
              </a:ext>
            </a:extLst>
          </p:cNvPr>
          <p:cNvSpPr txBox="1"/>
          <p:nvPr/>
        </p:nvSpPr>
        <p:spPr>
          <a:xfrm>
            <a:off x="4951977" y="5288001"/>
            <a:ext cx="274319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/>
              <a:t>Every outreach is evidence‑based—no guesswork.</a:t>
            </a:r>
            <a:endParaRPr lang="en-US" sz="1400" b="1" i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A81921-6EC0-607F-AA21-56B401734CD2}"/>
              </a:ext>
            </a:extLst>
          </p:cNvPr>
          <p:cNvSpPr txBox="1"/>
          <p:nvPr/>
        </p:nvSpPr>
        <p:spPr>
          <a:xfrm>
            <a:off x="641682" y="2296026"/>
            <a:ext cx="397643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/>
              <a:t>Hidden barriers surfaced automatically → more empathetic, more effective outreach.</a:t>
            </a:r>
            <a:endParaRPr lang="en-US" b="1" i="1"/>
          </a:p>
        </p:txBody>
      </p:sp>
      <p:pic>
        <p:nvPicPr>
          <p:cNvPr id="15" name="Graphic 14" descr="Home1 with solid fill">
            <a:extLst>
              <a:ext uri="{FF2B5EF4-FFF2-40B4-BE49-F238E27FC236}">
                <a16:creationId xmlns:a16="http://schemas.microsoft.com/office/drawing/2014/main" id="{0F6F543B-92D5-AAD5-D3FC-41F067412F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6534" y="3915748"/>
            <a:ext cx="363557" cy="372738"/>
          </a:xfrm>
          <a:prstGeom prst="rect">
            <a:avLst/>
          </a:prstGeom>
        </p:spPr>
      </p:pic>
      <p:pic>
        <p:nvPicPr>
          <p:cNvPr id="16" name="Graphic 15" descr="Car with solid fill">
            <a:extLst>
              <a:ext uri="{FF2B5EF4-FFF2-40B4-BE49-F238E27FC236}">
                <a16:creationId xmlns:a16="http://schemas.microsoft.com/office/drawing/2014/main" id="{2C2A1DE9-2853-F37E-8B6C-34717DA040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6533" y="4264004"/>
            <a:ext cx="363558" cy="473726"/>
          </a:xfrm>
          <a:prstGeom prst="rect">
            <a:avLst/>
          </a:prstGeom>
        </p:spPr>
      </p:pic>
      <p:pic>
        <p:nvPicPr>
          <p:cNvPr id="17" name="Graphic 16" descr="Receiver with solid fill">
            <a:extLst>
              <a:ext uri="{FF2B5EF4-FFF2-40B4-BE49-F238E27FC236}">
                <a16:creationId xmlns:a16="http://schemas.microsoft.com/office/drawing/2014/main" id="{564DEE9E-429E-1605-63A5-2768195E0C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6533" y="4713247"/>
            <a:ext cx="363557" cy="3451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9A056F-8090-38F5-B6B1-973243292300}"/>
              </a:ext>
            </a:extLst>
          </p:cNvPr>
          <p:cNvSpPr txBox="1"/>
          <p:nvPr/>
        </p:nvSpPr>
        <p:spPr>
          <a:xfrm>
            <a:off x="1093466" y="4029758"/>
            <a:ext cx="338584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Mail at-home - 82% predicted success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8B0A65-A6C2-1111-9A7C-434DD8DEAA8C}"/>
              </a:ext>
            </a:extLst>
          </p:cNvPr>
          <p:cNvSpPr txBox="1"/>
          <p:nvPr/>
        </p:nvSpPr>
        <p:spPr>
          <a:xfrm>
            <a:off x="1093465" y="4387194"/>
            <a:ext cx="338584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Offer transportation to clinic - 65%</a:t>
            </a:r>
            <a:endParaRPr lang="en-US" sz="1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AF249-42AE-D21F-57A3-B01E36FC101F}"/>
              </a:ext>
            </a:extLst>
          </p:cNvPr>
          <p:cNvSpPr txBox="1"/>
          <p:nvPr/>
        </p:nvSpPr>
        <p:spPr>
          <a:xfrm>
            <a:off x="1093466" y="4772172"/>
            <a:ext cx="338584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</a:rPr>
              <a:t>Follow-up call in 7 days - 57%</a:t>
            </a:r>
            <a:endParaRPr lang="en-US" sz="14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4C3C1F5-A36E-35F3-140A-0D1C98A7B04A}"/>
              </a:ext>
            </a:extLst>
          </p:cNvPr>
          <p:cNvSpPr/>
          <p:nvPr/>
        </p:nvSpPr>
        <p:spPr>
          <a:xfrm>
            <a:off x="433613" y="3831832"/>
            <a:ext cx="4023360" cy="148589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7AAB97-BC88-494F-2E25-C23CF27A56BF}"/>
              </a:ext>
            </a:extLst>
          </p:cNvPr>
          <p:cNvSpPr txBox="1"/>
          <p:nvPr/>
        </p:nvSpPr>
        <p:spPr>
          <a:xfrm>
            <a:off x="560182" y="5142353"/>
            <a:ext cx="3777585" cy="46166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Why these? Learned from detected barriers and member‑level </a:t>
            </a:r>
            <a:r>
              <a:rPr lang="en-US" sz="1200" dirty="0" err="1"/>
              <a:t>impactability</a:t>
            </a:r>
            <a:r>
              <a:rPr lang="en-US" sz="1200" dirty="0"/>
              <a:t> scores.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0283E2-CC53-CFBE-58E5-5B8CE31D509A}"/>
              </a:ext>
            </a:extLst>
          </p:cNvPr>
          <p:cNvSpPr txBox="1"/>
          <p:nvPr/>
        </p:nvSpPr>
        <p:spPr>
          <a:xfrm>
            <a:off x="551500" y="3528704"/>
            <a:ext cx="355545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Next Best 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A2FEE-41F8-E1EA-4B0E-A7E2CAF997FD}"/>
              </a:ext>
            </a:extLst>
          </p:cNvPr>
          <p:cNvSpPr txBox="1"/>
          <p:nvPr/>
        </p:nvSpPr>
        <p:spPr>
          <a:xfrm>
            <a:off x="8259165" y="3807622"/>
            <a:ext cx="274319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u="sng" dirty="0"/>
              <a:t>Detected barriers from SDOH</a:t>
            </a:r>
            <a:endParaRPr lang="en-US" sz="1200" b="1" u="sng" dirty="0">
              <a:latin typeface="Calibri"/>
              <a:ea typeface="Calibri"/>
              <a:cs typeface="Calibri"/>
            </a:endParaRPr>
          </a:p>
          <a:p>
            <a:r>
              <a:rPr lang="en-US" sz="1200" dirty="0">
                <a:latin typeface="Calibri"/>
                <a:ea typeface="Calibri"/>
                <a:cs typeface="Calibri"/>
              </a:rPr>
              <a:t>member lives in a transportation desert and uses supplemental grocery cards</a:t>
            </a:r>
            <a:endParaRPr lang="en-US" sz="12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65765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tIns="0" rIns="0" bIns="0" rtlCol="0">
        <a:spAutoFit/>
      </a:bodyPr>
      <a:lstStyle>
        <a:defPPr algn="l">
          <a:defRPr sz="1400"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L Powerpoint Template.potx" id="{06A60C2A-3E76-46D1-B108-69B0327727A9}" vid="{C5B5F011-E16B-4936-AD32-F2458AF2BD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864</Words>
  <Application>Microsoft Office PowerPoint</Application>
  <PresentationFormat>Widescreen</PresentationFormat>
  <Paragraphs>57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System Font Regular</vt:lpstr>
      <vt:lpstr>2_Office Theme</vt:lpstr>
      <vt:lpstr>STARS Financial Command Center - NorthStar Health Plan</vt:lpstr>
      <vt:lpstr>Act I: From Chaos to Financial Command </vt:lpstr>
      <vt:lpstr>Act 2: Analyst View: From Disparity to Actionable Insight</vt:lpstr>
      <vt:lpstr>Act III: From Insight to Action: Smart Workbench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Singh1</dc:creator>
  <cp:lastModifiedBy>Vipin Choudhary</cp:lastModifiedBy>
  <cp:revision>3</cp:revision>
  <dcterms:created xsi:type="dcterms:W3CDTF">2025-07-10T18:20:02Z</dcterms:created>
  <dcterms:modified xsi:type="dcterms:W3CDTF">2025-12-19T20:58:00Z</dcterms:modified>
</cp:coreProperties>
</file>