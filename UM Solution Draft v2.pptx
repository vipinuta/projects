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90" r:id="rId5"/>
    <p:sldMasterId id="2147483730" r:id="rId6"/>
  </p:sldMasterIdLst>
  <p:notesMasterIdLst>
    <p:notesMasterId r:id="rId13"/>
  </p:notesMasterIdLst>
  <p:sldIdLst>
    <p:sldId id="416" r:id="rId7"/>
    <p:sldId id="417" r:id="rId8"/>
    <p:sldId id="280" r:id="rId9"/>
    <p:sldId id="423" r:id="rId10"/>
    <p:sldId id="422" r:id="rId11"/>
    <p:sldId id="41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EDFF"/>
    <a:srgbClr val="FEDB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4.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95E712-9934-40CE-8254-3B0C791A4D7B}" type="datetimeFigureOut">
              <a:rPr lang="en-US" smtClean="0"/>
              <a:t>3/25/2025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BE18-10CF-4D21-9E44-3888B7843880}" type="slidenum">
              <a:rPr lang="en-US" smtClean="0"/>
              <a:t>‹#›</a:t>
            </a:fld>
            <a:endParaRPr lang="en-US"/>
          </a:p>
        </p:txBody>
      </p:sp>
    </p:spTree>
    <p:extLst>
      <p:ext uri="{BB962C8B-B14F-4D97-AF65-F5344CB8AC3E}">
        <p14:creationId xmlns:p14="http://schemas.microsoft.com/office/powerpoint/2010/main" val="2309818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500"/>
              </a:spcBef>
            </a:pPr>
            <a:endParaRPr lang="en-US" sz="800" dirty="0">
              <a:solidFill>
                <a:prstClr val="black"/>
              </a:solidFill>
              <a:latin typeface="+mj-lt"/>
              <a:ea typeface="Calibri Light" panose="020F0302020204030204" pitchFamily="34" charset="0"/>
              <a:cs typeface="Calibri Light" panose="020F03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41DD5B-25C7-44E2-903C-3B31F8D5F62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28693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0DD569-3015-4BBC-8D09-6B4CB06E57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30666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Logo Orang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336057750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418701023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title orang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01789553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0" name="Picture 9" descr="Logo&#10;&#10;Description automatically generated">
            <a:extLst>
              <a:ext uri="{FF2B5EF4-FFF2-40B4-BE49-F238E27FC236}">
                <a16:creationId xmlns:a16="http://schemas.microsoft.com/office/drawing/2014/main" id="{55FCFE5F-EACE-DF4E-98EB-EB028DF66F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232791318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title whit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Text Placeholder 7">
            <a:extLst>
              <a:ext uri="{FF2B5EF4-FFF2-40B4-BE49-F238E27FC236}">
                <a16:creationId xmlns:a16="http://schemas.microsoft.com/office/drawing/2014/main" id="{A507E633-4606-0F5C-1C47-2E2296BF6013}"/>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1512122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title arrow window">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3048" y="0"/>
            <a:ext cx="12192000" cy="6858000"/>
          </a:xfrm>
          <a:solidFill>
            <a:schemeClr val="accent6"/>
          </a:solidFill>
        </p:spPr>
        <p:txBody>
          <a:bodyPr tIns="1188720" rIns="914400"/>
          <a:lstStyle>
            <a:lvl1pPr marL="0" indent="0" algn="r">
              <a:buNone/>
              <a:defRPr/>
            </a:lvl1pPr>
          </a:lstStyle>
          <a:p>
            <a:r>
              <a:rPr lang="en-US"/>
              <a:t>Insert Picture</a:t>
            </a:r>
            <a:br>
              <a:rPr lang="en-US"/>
            </a:br>
            <a:r>
              <a:rPr lang="en-US"/>
              <a:t>and send to back</a:t>
            </a:r>
          </a:p>
        </p:txBody>
      </p:sp>
      <p:sp>
        <p:nvSpPr>
          <p:cNvPr id="12" name="Text Placeholder 11">
            <a:extLst>
              <a:ext uri="{FF2B5EF4-FFF2-40B4-BE49-F238E27FC236}">
                <a16:creationId xmlns:a16="http://schemas.microsoft.com/office/drawing/2014/main" id="{67CD8347-12EC-7004-68FD-F0EB1360FD8F}"/>
              </a:ext>
            </a:extLst>
          </p:cNvPr>
          <p:cNvSpPr>
            <a:spLocks noGrp="1"/>
          </p:cNvSpPr>
          <p:nvPr>
            <p:ph type="body" sz="quarter" idx="12"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FontTx/>
              <a:buNone/>
              <a:defRPr/>
            </a:lvl1pPr>
          </a:lstStyle>
          <a:p>
            <a:pPr lvl="0"/>
            <a:r>
              <a:rPr lang="en-US"/>
              <a:t> </a:t>
            </a:r>
          </a:p>
        </p:txBody>
      </p:sp>
      <p:sp>
        <p:nvSpPr>
          <p:cNvPr id="2" name="Title 1"/>
          <p:cNvSpPr>
            <a:spLocks noGrp="1"/>
          </p:cNvSpPr>
          <p:nvPr>
            <p:ph type="ctrTitle"/>
          </p:nvPr>
        </p:nvSpPr>
        <p:spPr>
          <a:xfrm>
            <a:off x="2752627" y="457200"/>
            <a:ext cx="5637229"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2752627" y="4027501"/>
            <a:ext cx="5637229" cy="936385"/>
          </a:xfrm>
        </p:spPr>
        <p:txBody>
          <a:bodyPr>
            <a:noAutofit/>
          </a:bodyPr>
          <a:lstStyle>
            <a:lvl1pPr marL="0" indent="0" algn="l">
              <a:spcBef>
                <a:spcPts val="0"/>
              </a:spcBef>
              <a:buNone/>
              <a:defRPr sz="20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2645509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title orang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051F0EE0-3D9B-E861-B59E-EC60640064C5}"/>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2785320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ate blue bkgr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64729401"/>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light blue bkgrd">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accent3"/>
                </a:solidFill>
              </a:defRPr>
            </a:lvl1pPr>
          </a:lstStyle>
          <a:p>
            <a:r>
              <a:rPr lang="en-US"/>
              <a:t>Click to edit Master title style</a:t>
            </a:r>
          </a:p>
        </p:txBody>
      </p:sp>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a:solidFill>
            <a:schemeClr val="bg2"/>
          </a:solidFill>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 Placeholder 7">
            <a:extLst>
              <a:ext uri="{FF2B5EF4-FFF2-40B4-BE49-F238E27FC236}">
                <a16:creationId xmlns:a16="http://schemas.microsoft.com/office/drawing/2014/main" id="{21022AB0-A6DF-42F4-2FD1-C8A66FD65C7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12306848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triangle slate blue">
    <p:bg>
      <p:bgPr>
        <a:solidFill>
          <a:schemeClr val="accent1"/>
        </a:solidFill>
        <a:effectLst/>
      </p:bgPr>
    </p:bg>
    <p:spTree>
      <p:nvGrpSpPr>
        <p:cNvPr id="1" name=""/>
        <p:cNvGrpSpPr/>
        <p:nvPr/>
      </p:nvGrpSpPr>
      <p:grpSpPr>
        <a:xfrm>
          <a:off x="0" y="0"/>
          <a:ext cx="0" cy="0"/>
          <a:chOff x="0" y="0"/>
          <a:chExt cx="0" cy="0"/>
        </a:xfrm>
      </p:grpSpPr>
      <p:sp>
        <p:nvSpPr>
          <p:cNvPr id="3" name="Triangle 6">
            <a:extLst>
              <a:ext uri="{FF2B5EF4-FFF2-40B4-BE49-F238E27FC236}">
                <a16:creationId xmlns:a16="http://schemas.microsoft.com/office/drawing/2014/main" id="{931308C3-C86F-8439-79F6-BF2D0C1E6F6F}"/>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586728147"/>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triangle light blu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4" name="Triangle 6">
            <a:extLst>
              <a:ext uri="{FF2B5EF4-FFF2-40B4-BE49-F238E27FC236}">
                <a16:creationId xmlns:a16="http://schemas.microsoft.com/office/drawing/2014/main" id="{4766D99B-C9CC-1DAD-1E54-88F872622439}"/>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8915390"/>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a:t>Insert Picture</a:t>
            </a:r>
            <a:br>
              <a:rPr lang="en-US"/>
            </a:br>
            <a:r>
              <a:rPr lang="en-US"/>
              <a:t>then send to back</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42071569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triangle window photo">
    <p:bg>
      <p:bgPr>
        <a:solidFill>
          <a:schemeClr val="tx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68FB34F-AFB3-FB22-6CF1-6C96D239CF45}"/>
              </a:ext>
            </a:extLst>
          </p:cNvPr>
          <p:cNvSpPr>
            <a:spLocks noGrp="1"/>
          </p:cNvSpPr>
          <p:nvPr>
            <p:ph type="body" sz="quarter" idx="13"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 </a:t>
            </a:r>
          </a:p>
        </p:txBody>
      </p:sp>
      <p:sp>
        <p:nvSpPr>
          <p:cNvPr id="13" name="Picture Placeholder 12">
            <a:extLst>
              <a:ext uri="{FF2B5EF4-FFF2-40B4-BE49-F238E27FC236}">
                <a16:creationId xmlns:a16="http://schemas.microsoft.com/office/drawing/2014/main" id="{22DD5020-0712-DF29-4789-07AE704465D4}"/>
              </a:ext>
            </a:extLst>
          </p:cNvPr>
          <p:cNvSpPr>
            <a:spLocks noGrp="1"/>
          </p:cNvSpPr>
          <p:nvPr>
            <p:ph type="pic" sz="quarter" idx="12"/>
          </p:nvPr>
        </p:nvSpPr>
        <p:spPr>
          <a:xfrm>
            <a:off x="0" y="0"/>
            <a:ext cx="12188952" cy="6858000"/>
          </a:xfrm>
        </p:spPr>
        <p:txBody>
          <a:bodyPr/>
          <a:lstStyle>
            <a:lvl1pPr marL="0" indent="0" algn="ctr">
              <a:buNone/>
              <a:defRPr>
                <a:solidFill>
                  <a:schemeClr val="accent3"/>
                </a:solidFill>
              </a:defRPr>
            </a:lvl1pPr>
          </a:lstStyle>
          <a:p>
            <a:r>
              <a:rPr lang="en-US"/>
              <a:t>Click icon to add picture</a:t>
            </a:r>
          </a:p>
        </p:txBody>
      </p:sp>
      <p:sp>
        <p:nvSpPr>
          <p:cNvPr id="2" name="Title 1"/>
          <p:cNvSpPr>
            <a:spLocks noGrp="1"/>
          </p:cNvSpPr>
          <p:nvPr>
            <p:ph type="ctrTitle"/>
          </p:nvPr>
        </p:nvSpPr>
        <p:spPr>
          <a:xfrm>
            <a:off x="8097625" y="696688"/>
            <a:ext cx="3912124" cy="3447288"/>
          </a:xfrm>
        </p:spPr>
        <p:txBody>
          <a:bodyPr anchor="ctr" anchorCtr="0">
            <a:noAutofit/>
          </a:bodyPr>
          <a:lstStyle>
            <a:lvl1pPr algn="l">
              <a:lnSpc>
                <a:spcPct val="80000"/>
              </a:lnSpc>
              <a:defRPr sz="40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484327242"/>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420992"/>
            <a:ext cx="11249320"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©2025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1734288932"/>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558199"/>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636226"/>
            <a:ext cx="11249320" cy="4344320"/>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©2025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3">
            <a:extLst>
              <a:ext uri="{FF2B5EF4-FFF2-40B4-BE49-F238E27FC236}">
                <a16:creationId xmlns:a16="http://schemas.microsoft.com/office/drawing/2014/main" id="{CC51CF4F-FD7D-FD19-6372-B37CB1750868}"/>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4069347479"/>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420992"/>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©2025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420813"/>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5713284"/>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2"/>
            <a:ext cx="11277600" cy="567626"/>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636226"/>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©2025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636226"/>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
            <a:extLst>
              <a:ext uri="{FF2B5EF4-FFF2-40B4-BE49-F238E27FC236}">
                <a16:creationId xmlns:a16="http://schemas.microsoft.com/office/drawing/2014/main" id="{7DC9EA03-FA8F-AD79-F54A-F23726C03305}"/>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3847161258"/>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der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©2025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F6620FF5-63E7-D7A1-E95E-667A3A5A47A4}"/>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9165468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r slat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©2025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5">
            <a:extLst>
              <a:ext uri="{FF2B5EF4-FFF2-40B4-BE49-F238E27FC236}">
                <a16:creationId xmlns:a16="http://schemas.microsoft.com/office/drawing/2014/main" id="{C8AEF62A-DB20-DFA5-60EF-17E3D0291795}"/>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9563988"/>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r midn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accent3"/>
                </a:solidFill>
                <a:latin typeface="+mn-lt"/>
              </a:defRPr>
            </a:lvl1pPr>
            <a:lvl2pPr marL="460375" indent="-223838">
              <a:lnSpc>
                <a:spcPct val="100000"/>
              </a:lnSpc>
              <a:spcBef>
                <a:spcPts val="0"/>
              </a:spcBef>
              <a:spcAft>
                <a:spcPts val="600"/>
              </a:spcAft>
              <a:buClr>
                <a:schemeClr val="accent3"/>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accent3"/>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©2025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150E4EC5-C9CD-0784-3B8B-14E383CDC869}"/>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2471075"/>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der l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tx1"/>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©2025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87AF6875-806F-55D2-B677-EBF1DABD0717}"/>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tx2"/>
                </a:solidFill>
                <a:latin typeface="+mn-lt"/>
              </a:defRPr>
            </a:lvl1pPr>
            <a:lvl2pPr marL="227013" indent="-227013">
              <a:lnSpc>
                <a:spcPct val="100000"/>
              </a:lnSpc>
              <a:spcAft>
                <a:spcPts val="300"/>
              </a:spcAft>
              <a:buFont typeface="Arial" panose="020B0604020202020204" pitchFamily="34" charset="0"/>
              <a:buChar char="•"/>
              <a:defRPr sz="2000">
                <a:solidFill>
                  <a:schemeClr val="tx2"/>
                </a:solidFill>
              </a:defRPr>
            </a:lvl2pPr>
            <a:lvl3pPr marL="461963" indent="-225425">
              <a:lnSpc>
                <a:spcPct val="100000"/>
              </a:lnSpc>
              <a:spcAft>
                <a:spcPts val="300"/>
              </a:spcAft>
              <a:tabLst/>
              <a:defRPr>
                <a:solidFill>
                  <a:schemeClr val="tx2"/>
                </a:solidFill>
              </a:defRPr>
            </a:lvl3pPr>
            <a:lvl4pPr marL="744538" indent="-225425">
              <a:lnSpc>
                <a:spcPct val="100000"/>
              </a:lnSpc>
              <a:spcAft>
                <a:spcPts val="300"/>
              </a:spcAft>
              <a:tabLst/>
              <a:defRPr>
                <a:solidFill>
                  <a:schemeClr val="tx2"/>
                </a:solidFill>
              </a:defRPr>
            </a:lvl4pPr>
            <a:lvl5pPr marL="971550" indent="-169863">
              <a:lnSpc>
                <a:spcPct val="100000"/>
              </a:lnSpc>
              <a:spcAft>
                <a:spcPts val="300"/>
              </a:spcAft>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1289835"/>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ider photo">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977353" y="984831"/>
            <a:ext cx="6136849" cy="891103"/>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1883303"/>
            <a:ext cx="6136849" cy="4130997"/>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©2025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Picture Placeholder 3">
            <a:extLst>
              <a:ext uri="{FF2B5EF4-FFF2-40B4-BE49-F238E27FC236}">
                <a16:creationId xmlns:a16="http://schemas.microsoft.com/office/drawing/2014/main" id="{4B95AAFB-5AB3-8043-3405-030A209051B7}"/>
              </a:ext>
            </a:extLst>
          </p:cNvPr>
          <p:cNvSpPr>
            <a:spLocks noGrp="1"/>
          </p:cNvSpPr>
          <p:nvPr>
            <p:ph type="pic" sz="quarter" idx="15" hasCustomPrompt="1"/>
          </p:nvPr>
        </p:nvSpPr>
        <p:spPr>
          <a:xfrm>
            <a:off x="0" y="0"/>
            <a:ext cx="4434840" cy="6858000"/>
          </a:xfrm>
          <a:solidFill>
            <a:schemeClr val="bg1">
              <a:lumMod val="95000"/>
            </a:schemeClr>
          </a:solidFill>
        </p:spPr>
        <p:txBody>
          <a:bodyPr tIns="1828800"/>
          <a:lstStyle>
            <a:lvl1pPr marL="0" indent="0" algn="ctr">
              <a:buFontTx/>
              <a:buNone/>
              <a:defRPr>
                <a:solidFill>
                  <a:schemeClr val="tx1"/>
                </a:solidFill>
              </a:defRPr>
            </a:lvl1pPr>
          </a:lstStyle>
          <a:p>
            <a:r>
              <a:rPr lang="en-US"/>
              <a:t>Insert photo here</a:t>
            </a:r>
            <a:br>
              <a:rPr lang="en-US"/>
            </a:br>
            <a:r>
              <a:rPr lang="en-US"/>
              <a:t>4.85”w x 7.5” h </a:t>
            </a:r>
          </a:p>
        </p:txBody>
      </p:sp>
    </p:spTree>
    <p:extLst>
      <p:ext uri="{BB962C8B-B14F-4D97-AF65-F5344CB8AC3E}">
        <p14:creationId xmlns:p14="http://schemas.microsoft.com/office/powerpoint/2010/main" val="334017760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photo graphic">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solidFill>
                  <a:schemeClr val="accent1"/>
                </a:solidFill>
              </a:defRPr>
            </a:lvl1pPr>
          </a:lstStyle>
          <a:p>
            <a:r>
              <a:rPr lang="en-US"/>
              <a:t>Insert  photo</a:t>
            </a:r>
            <a:br>
              <a:rPr lang="en-US"/>
            </a:br>
            <a:r>
              <a:rPr lang="en-US"/>
              <a:t>8.48”w x 7.5”h</a:t>
            </a:r>
          </a:p>
        </p:txBody>
      </p:sp>
      <p:sp>
        <p:nvSpPr>
          <p:cNvPr id="10" name="Rectangle 9">
            <a:extLst>
              <a:ext uri="{FF2B5EF4-FFF2-40B4-BE49-F238E27FC236}">
                <a16:creationId xmlns:a16="http://schemas.microsoft.com/office/drawing/2014/main" id="{F3400FEE-AF2A-4A4C-A689-68AC86084282}"/>
              </a:ext>
            </a:extLst>
          </p:cNvPr>
          <p:cNvSpPr/>
          <p:nvPr userDrawn="1"/>
        </p:nvSpPr>
        <p:spPr>
          <a:xfrm>
            <a:off x="-1"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lnSpc>
                <a:spcPct val="100000"/>
              </a:lnSpc>
              <a:spcBef>
                <a:spcPts val="0"/>
              </a:spcBef>
              <a:spcAft>
                <a:spcPts val="1200"/>
              </a:spcAft>
              <a:buFontTx/>
              <a:buNone/>
              <a:defRPr sz="1800">
                <a:solidFill>
                  <a:schemeClr val="bg1"/>
                </a:solidFill>
                <a:latin typeface="+mn-lt"/>
              </a:defRPr>
            </a:lvl1pPr>
            <a:lvl2pPr marL="228600" indent="-222250">
              <a:lnSpc>
                <a:spcPct val="100000"/>
              </a:lnSpc>
              <a:spcBef>
                <a:spcPts val="0"/>
              </a:spcBef>
              <a:spcAft>
                <a:spcPts val="600"/>
              </a:spcAft>
              <a:buFont typeface="Arial" panose="020B0604020202020204" pitchFamily="34" charset="0"/>
              <a:buChar char="•"/>
              <a:tabLst/>
              <a:defRPr sz="1800">
                <a:solidFill>
                  <a:schemeClr val="bg1"/>
                </a:solidFill>
                <a:latin typeface="+mj-lt"/>
              </a:defRPr>
            </a:lvl2pPr>
            <a:lvl3pPr marL="519113" indent="-274638">
              <a:lnSpc>
                <a:spcPct val="100000"/>
              </a:lnSpc>
              <a:spcBef>
                <a:spcPts val="0"/>
              </a:spcBef>
              <a:spcAft>
                <a:spcPts val="600"/>
              </a:spcAft>
              <a:tabLst/>
              <a:defRPr sz="1800">
                <a:solidFill>
                  <a:schemeClr val="bg1"/>
                </a:solidFill>
                <a:latin typeface="+mj-lt"/>
              </a:defRPr>
            </a:lvl3pPr>
            <a:lvl4pPr marL="803275" indent="-238125">
              <a:lnSpc>
                <a:spcPct val="100000"/>
              </a:lnSpc>
              <a:spcBef>
                <a:spcPts val="0"/>
              </a:spcBef>
              <a:spcAft>
                <a:spcPts val="600"/>
              </a:spcAft>
              <a:tabLst/>
              <a:defRPr sz="1800">
                <a:solidFill>
                  <a:schemeClr val="bg1"/>
                </a:solidFill>
                <a:latin typeface="+mj-lt"/>
              </a:defRPr>
            </a:lvl4pPr>
            <a:lvl5pPr marL="1085850" indent="-276225">
              <a:lnSpc>
                <a:spcPct val="100000"/>
              </a:lnSpc>
              <a:spcBef>
                <a:spcPts val="0"/>
              </a:spcBef>
              <a:spcAft>
                <a:spcPts val="600"/>
              </a:spcAft>
              <a:tabLst/>
              <a:defRPr sz="1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12" name="TextBox 11">
            <a:extLst>
              <a:ext uri="{FF2B5EF4-FFF2-40B4-BE49-F238E27FC236}">
                <a16:creationId xmlns:a16="http://schemas.microsoft.com/office/drawing/2014/main" id="{02021025-6C5D-4AD1-B98F-3B9F05B818B5}"/>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panose="020F0502020204030204"/>
                <a:ea typeface="+mn-ea"/>
                <a:cs typeface="+mn-cs"/>
              </a:rPr>
              <a:t>©2025 ExlService Holdings, Inc. All rights reserved.</a:t>
            </a:r>
          </a:p>
        </p:txBody>
      </p:sp>
      <p:sp>
        <p:nvSpPr>
          <p:cNvPr id="13" name="TextBox 12">
            <a:extLst>
              <a:ext uri="{FF2B5EF4-FFF2-40B4-BE49-F238E27FC236}">
                <a16:creationId xmlns:a16="http://schemas.microsoft.com/office/drawing/2014/main" id="{0927DF11-5732-451F-BDC5-76D509152895}"/>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a:solidFill>
                <a:schemeClr val="bg1"/>
              </a:solidFill>
            </a:endParaRPr>
          </a:p>
        </p:txBody>
      </p:sp>
    </p:spTree>
    <p:extLst>
      <p:ext uri="{BB962C8B-B14F-4D97-AF65-F5344CB8AC3E}">
        <p14:creationId xmlns:p14="http://schemas.microsoft.com/office/powerpoint/2010/main" val="1659402467"/>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se study stats">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userDrawn="1"/>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2"/>
                </a:solidFill>
              </a:defRPr>
            </a:lvl1pPr>
          </a:lstStyle>
          <a:p>
            <a:r>
              <a:rPr lang="en-US"/>
              <a:t>Click to edit </a:t>
            </a:r>
            <a:br>
              <a:rPr lang="en-US"/>
            </a:br>
            <a:r>
              <a:rPr lang="en-US"/>
              <a:t>Master </a:t>
            </a:r>
            <a:br>
              <a:rPr lang="en-US"/>
            </a:br>
            <a:r>
              <a:rPr lang="en-US"/>
              <a:t>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lnSpc>
                <a:spcPct val="100000"/>
              </a:lnSpc>
              <a:spcBef>
                <a:spcPts val="0"/>
              </a:spcBef>
              <a:spcAft>
                <a:spcPts val="300"/>
              </a:spcAft>
              <a:buNone/>
              <a:defRPr sz="1400" b="1" i="0">
                <a:solidFill>
                  <a:schemeClr val="accent3"/>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0" indent="0">
              <a:spcBef>
                <a:spcPts val="0"/>
              </a:spcBef>
              <a:spcAft>
                <a:spcPts val="400"/>
              </a:spcAft>
              <a:buFontTx/>
              <a:buNone/>
              <a:tabLst/>
              <a:defRPr sz="1500" b="1">
                <a:solidFill>
                  <a:schemeClr val="tx1"/>
                </a:solidFill>
                <a:latin typeface="+mj-lt"/>
              </a:defRPr>
            </a:lvl1pPr>
            <a:lvl2pPr marL="230188" indent="-230188">
              <a:spcBef>
                <a:spcPts val="0"/>
              </a:spcBef>
              <a:spcAft>
                <a:spcPts val="400"/>
              </a:spcAft>
              <a:buFont typeface="Arial" panose="020B0604020202020204" pitchFamily="34" charset="0"/>
              <a:buChar char="•"/>
              <a:tabLst/>
              <a:defRPr sz="1500">
                <a:solidFill>
                  <a:schemeClr val="tx1"/>
                </a:solidFill>
                <a:latin typeface="+mj-lt"/>
              </a:defRPr>
            </a:lvl2pPr>
            <a:lvl3pPr marL="460375" indent="-223838">
              <a:spcBef>
                <a:spcPts val="0"/>
              </a:spcBef>
              <a:spcAft>
                <a:spcPts val="400"/>
              </a:spcAft>
              <a:tabLst/>
              <a:defRPr sz="1500">
                <a:solidFill>
                  <a:schemeClr val="tx1"/>
                </a:solidFill>
                <a:latin typeface="+mj-lt"/>
              </a:defRPr>
            </a:lvl3pPr>
            <a:lvl4pPr marL="690563" indent="-230188">
              <a:spcBef>
                <a:spcPts val="0"/>
              </a:spcBef>
              <a:spcAft>
                <a:spcPts val="400"/>
              </a:spcAft>
              <a:tabLst/>
              <a:defRPr sz="1500">
                <a:solidFill>
                  <a:schemeClr val="tx1"/>
                </a:solidFill>
                <a:latin typeface="+mj-lt"/>
              </a:defRPr>
            </a:lvl4pPr>
            <a:lvl5pPr marL="914400" indent="-211138">
              <a:spcBef>
                <a:spcPts val="0"/>
              </a:spcBef>
              <a:spcAft>
                <a:spcPts val="400"/>
              </a:spcAft>
              <a:tabLst/>
              <a:defRPr sz="15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©2025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901416891"/>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ase study detaile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0396F7-F256-7EC8-5CFA-5E28D456D666}"/>
              </a:ext>
            </a:extLst>
          </p:cNvPr>
          <p:cNvSpPr/>
          <p:nvPr userDrawn="1"/>
        </p:nvSpPr>
        <p:spPr>
          <a:xfrm>
            <a:off x="0" y="0"/>
            <a:ext cx="12192000" cy="12041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511BE63-AB7C-B671-C72A-EFE88271CA5D}"/>
              </a:ext>
            </a:extLst>
          </p:cNvPr>
          <p:cNvSpPr txBox="1"/>
          <p:nvPr userDrawn="1"/>
        </p:nvSpPr>
        <p:spPr>
          <a:xfrm>
            <a:off x="8955344" y="645799"/>
            <a:ext cx="2945230" cy="769441"/>
          </a:xfrm>
          <a:prstGeom prst="rect">
            <a:avLst/>
          </a:prstGeom>
          <a:noFill/>
        </p:spPr>
        <p:txBody>
          <a:bodyPr wrap="none" rtlCol="0">
            <a:spAutoFit/>
          </a:bodyPr>
          <a:lstStyle/>
          <a:p>
            <a:r>
              <a:rPr lang="en-US" sz="4400">
                <a:solidFill>
                  <a:schemeClr val="bg1"/>
                </a:solidFill>
                <a:latin typeface="+mj-lt"/>
              </a:rPr>
              <a:t>CASE STUDY</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©2025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Box 5">
            <a:extLst>
              <a:ext uri="{FF2B5EF4-FFF2-40B4-BE49-F238E27FC236}">
                <a16:creationId xmlns:a16="http://schemas.microsoft.com/office/drawing/2014/main" id="{1C0C95D7-21A9-CC2A-7CC1-81A26F21BCF3}"/>
              </a:ext>
            </a:extLst>
          </p:cNvPr>
          <p:cNvSpPr txBox="1"/>
          <p:nvPr userDrawn="1"/>
        </p:nvSpPr>
        <p:spPr>
          <a:xfrm>
            <a:off x="8766928" y="976213"/>
            <a:ext cx="3322063" cy="861774"/>
          </a:xfrm>
          <a:prstGeom prst="rect">
            <a:avLst/>
          </a:prstGeom>
          <a:noFill/>
        </p:spPr>
        <p:txBody>
          <a:bodyPr wrap="none" rtlCol="0">
            <a:spAutoFit/>
          </a:bodyPr>
          <a:lstStyle/>
          <a:p>
            <a:r>
              <a:rPr lang="en-US" sz="5000">
                <a:solidFill>
                  <a:schemeClr val="bg1"/>
                </a:solidFill>
                <a:latin typeface="+mj-lt"/>
              </a:rPr>
              <a:t>CASE STUDY</a:t>
            </a:r>
          </a:p>
        </p:txBody>
      </p:sp>
      <p:sp>
        <p:nvSpPr>
          <p:cNvPr id="10" name="Text Placeholder 9">
            <a:extLst>
              <a:ext uri="{FF2B5EF4-FFF2-40B4-BE49-F238E27FC236}">
                <a16:creationId xmlns:a16="http://schemas.microsoft.com/office/drawing/2014/main" id="{09F8A7F0-36A8-F7F8-93EA-B7D45AAAE0F1}"/>
              </a:ext>
            </a:extLst>
          </p:cNvPr>
          <p:cNvSpPr>
            <a:spLocks noGrp="1"/>
          </p:cNvSpPr>
          <p:nvPr>
            <p:ph type="body" sz="quarter" idx="10"/>
          </p:nvPr>
        </p:nvSpPr>
        <p:spPr>
          <a:xfrm>
            <a:off x="457200" y="315990"/>
            <a:ext cx="11524268" cy="558199"/>
          </a:xfrm>
        </p:spPr>
        <p:txBody>
          <a:bodyPr/>
          <a:lstStyle>
            <a:lvl1pPr marL="0" indent="0">
              <a:buNone/>
              <a:defRPr sz="3600"/>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27" name="Text Placeholder 26">
            <a:extLst>
              <a:ext uri="{FF2B5EF4-FFF2-40B4-BE49-F238E27FC236}">
                <a16:creationId xmlns:a16="http://schemas.microsoft.com/office/drawing/2014/main" id="{0341B144-3A4C-B95E-E40F-3D52D3981375}"/>
              </a:ext>
            </a:extLst>
          </p:cNvPr>
          <p:cNvSpPr>
            <a:spLocks noGrp="1"/>
          </p:cNvSpPr>
          <p:nvPr>
            <p:ph type="body" sz="quarter" idx="12"/>
          </p:nvPr>
        </p:nvSpPr>
        <p:spPr>
          <a:xfrm>
            <a:off x="457200" y="855549"/>
            <a:ext cx="8308975" cy="227798"/>
          </a:xfrm>
        </p:spPr>
        <p:txBody>
          <a:bodyPr/>
          <a:lstStyle>
            <a:lvl1pPr marL="0" indent="0">
              <a:buFontTx/>
              <a:buNone/>
              <a:defRPr sz="1600" b="1">
                <a:solidFill>
                  <a:schemeClr val="accent3"/>
                </a:solidFill>
                <a:latin typeface="+mn-lt"/>
              </a:defRPr>
            </a:lvl1pPr>
          </a:lstStyle>
          <a:p>
            <a:pPr lvl="0"/>
            <a:r>
              <a:rPr lang="en-US"/>
              <a:t>Click to edit Master text styles</a:t>
            </a:r>
          </a:p>
        </p:txBody>
      </p:sp>
      <p:sp>
        <p:nvSpPr>
          <p:cNvPr id="29" name="Text Placeholder 26">
            <a:extLst>
              <a:ext uri="{FF2B5EF4-FFF2-40B4-BE49-F238E27FC236}">
                <a16:creationId xmlns:a16="http://schemas.microsoft.com/office/drawing/2014/main" id="{85C16B2F-0E6E-4C9F-FDC9-5049DDE918B7}"/>
              </a:ext>
            </a:extLst>
          </p:cNvPr>
          <p:cNvSpPr>
            <a:spLocks noGrp="1"/>
          </p:cNvSpPr>
          <p:nvPr>
            <p:ph type="body" sz="quarter" idx="13" hasCustomPrompt="1"/>
          </p:nvPr>
        </p:nvSpPr>
        <p:spPr>
          <a:xfrm>
            <a:off x="457201" y="1570034"/>
            <a:ext cx="2201157" cy="282410"/>
          </a:xfrm>
        </p:spPr>
        <p:txBody>
          <a:bodyPr/>
          <a:lstStyle>
            <a:lvl1pPr marL="0" indent="0">
              <a:buFontTx/>
              <a:buNone/>
              <a:defRPr sz="1600" b="1">
                <a:solidFill>
                  <a:schemeClr val="accent3"/>
                </a:solidFill>
                <a:latin typeface="+mn-lt"/>
              </a:defRPr>
            </a:lvl1pPr>
          </a:lstStyle>
          <a:p>
            <a:pPr lvl="0"/>
            <a:r>
              <a:rPr lang="en-US"/>
              <a:t>Client</a:t>
            </a:r>
          </a:p>
        </p:txBody>
      </p:sp>
      <p:sp>
        <p:nvSpPr>
          <p:cNvPr id="32" name="Text Placeholder 31">
            <a:extLst>
              <a:ext uri="{FF2B5EF4-FFF2-40B4-BE49-F238E27FC236}">
                <a16:creationId xmlns:a16="http://schemas.microsoft.com/office/drawing/2014/main" id="{FD25BC01-6A2C-BC8A-CE0F-9CCBDA97A1D6}"/>
              </a:ext>
            </a:extLst>
          </p:cNvPr>
          <p:cNvSpPr>
            <a:spLocks noGrp="1"/>
          </p:cNvSpPr>
          <p:nvPr>
            <p:ph type="body" sz="quarter" idx="14" hasCustomPrompt="1"/>
          </p:nvPr>
        </p:nvSpPr>
        <p:spPr>
          <a:xfrm>
            <a:off x="461388" y="1924655"/>
            <a:ext cx="2196206" cy="1055065"/>
          </a:xfrm>
        </p:spPr>
        <p:txBody>
          <a:bodyPr/>
          <a:lstStyle>
            <a:lvl1pPr marL="0" indent="0">
              <a:buFontTx/>
              <a:buNone/>
              <a:defRPr lang="en-US" sz="1800" kern="1200" dirty="0" smtClean="0">
                <a:solidFill>
                  <a:srgbClr val="000000"/>
                </a:solidFill>
                <a:latin typeface="+mj-lt"/>
                <a:ea typeface="+mn-ea"/>
                <a:cs typeface="+mn-cs"/>
              </a:defRPr>
            </a:lvl1pPr>
            <a:lvl2pPr marL="290513" indent="0">
              <a:buFontTx/>
              <a:buNone/>
              <a:defRPr lang="en-US" sz="1800" kern="1200" dirty="0" smtClean="0">
                <a:solidFill>
                  <a:srgbClr val="000000"/>
                </a:solidFill>
                <a:latin typeface="+mj-lt"/>
                <a:ea typeface="+mn-ea"/>
                <a:cs typeface="+mn-cs"/>
              </a:defRPr>
            </a:lvl2pPr>
            <a:lvl3pPr marL="582613" indent="0">
              <a:buFontTx/>
              <a:buNone/>
              <a:defRPr lang="en-US" sz="1800" kern="1200" dirty="0" smtClean="0">
                <a:solidFill>
                  <a:srgbClr val="000000"/>
                </a:solidFill>
                <a:latin typeface="+mj-lt"/>
                <a:ea typeface="+mn-ea"/>
                <a:cs typeface="+mn-cs"/>
              </a:defRPr>
            </a:lvl3pPr>
            <a:lvl4pPr marL="855663" indent="0">
              <a:buFontTx/>
              <a:buNone/>
              <a:defRPr lang="en-US" sz="1800" kern="1200" dirty="0" smtClean="0">
                <a:solidFill>
                  <a:srgbClr val="000000"/>
                </a:solidFill>
                <a:latin typeface="+mj-lt"/>
                <a:ea typeface="+mn-ea"/>
                <a:cs typeface="+mn-cs"/>
              </a:defRPr>
            </a:lvl4pPr>
            <a:lvl5pPr marL="1100138" indent="0">
              <a:buFontTx/>
              <a:buNone/>
              <a:defRPr lang="en-US" sz="1800" kern="1200" dirty="0">
                <a:solidFill>
                  <a:srgbClr val="000000"/>
                </a:solidFill>
                <a:latin typeface="+mj-lt"/>
                <a:ea typeface="+mn-ea"/>
                <a:cs typeface="+mn-cs"/>
              </a:defRPr>
            </a:lvl5pPr>
          </a:lstStyle>
          <a:p>
            <a:pPr lvl="0"/>
            <a:r>
              <a:rPr lang="en-US"/>
              <a:t>Client industry intro description goes here on up to four lines of text content</a:t>
            </a:r>
          </a:p>
        </p:txBody>
      </p:sp>
      <p:sp>
        <p:nvSpPr>
          <p:cNvPr id="33" name="Text Placeholder 26">
            <a:extLst>
              <a:ext uri="{FF2B5EF4-FFF2-40B4-BE49-F238E27FC236}">
                <a16:creationId xmlns:a16="http://schemas.microsoft.com/office/drawing/2014/main" id="{702C7A7B-5BE8-27C7-C967-54B2501D1DD1}"/>
              </a:ext>
            </a:extLst>
          </p:cNvPr>
          <p:cNvSpPr>
            <a:spLocks noGrp="1"/>
          </p:cNvSpPr>
          <p:nvPr>
            <p:ph type="body" sz="quarter" idx="15" hasCustomPrompt="1"/>
          </p:nvPr>
        </p:nvSpPr>
        <p:spPr>
          <a:xfrm>
            <a:off x="457201" y="3151528"/>
            <a:ext cx="2201157" cy="282410"/>
          </a:xfrm>
        </p:spPr>
        <p:txBody>
          <a:bodyPr/>
          <a:lstStyle>
            <a:lvl1pPr marL="0" indent="0">
              <a:buFontTx/>
              <a:buNone/>
              <a:defRPr sz="1600" b="1">
                <a:solidFill>
                  <a:schemeClr val="accent3"/>
                </a:solidFill>
                <a:latin typeface="+mn-lt"/>
              </a:defRPr>
            </a:lvl1pPr>
          </a:lstStyle>
          <a:p>
            <a:pPr lvl="0"/>
            <a:r>
              <a:rPr lang="en-US"/>
              <a:t>Client challenges</a:t>
            </a:r>
          </a:p>
        </p:txBody>
      </p:sp>
      <p:sp>
        <p:nvSpPr>
          <p:cNvPr id="37" name="Text Placeholder 36">
            <a:extLst>
              <a:ext uri="{FF2B5EF4-FFF2-40B4-BE49-F238E27FC236}">
                <a16:creationId xmlns:a16="http://schemas.microsoft.com/office/drawing/2014/main" id="{C924DEDB-3EDF-E33C-EF76-4E02B7B6B8EF}"/>
              </a:ext>
            </a:extLst>
          </p:cNvPr>
          <p:cNvSpPr>
            <a:spLocks noGrp="1"/>
          </p:cNvSpPr>
          <p:nvPr>
            <p:ph type="body" sz="quarter" idx="16"/>
          </p:nvPr>
        </p:nvSpPr>
        <p:spPr>
          <a:xfrm>
            <a:off x="457201" y="3502135"/>
            <a:ext cx="2201157" cy="2598720"/>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3" name="Text Placeholder 26">
            <a:extLst>
              <a:ext uri="{FF2B5EF4-FFF2-40B4-BE49-F238E27FC236}">
                <a16:creationId xmlns:a16="http://schemas.microsoft.com/office/drawing/2014/main" id="{FDA3A212-8F30-D033-AB41-B7498539543D}"/>
              </a:ext>
            </a:extLst>
          </p:cNvPr>
          <p:cNvSpPr>
            <a:spLocks noGrp="1"/>
          </p:cNvSpPr>
          <p:nvPr>
            <p:ph type="body" sz="quarter" idx="17" hasCustomPrompt="1"/>
          </p:nvPr>
        </p:nvSpPr>
        <p:spPr>
          <a:xfrm>
            <a:off x="3054221" y="1570034"/>
            <a:ext cx="2414504" cy="282410"/>
          </a:xfrm>
        </p:spPr>
        <p:txBody>
          <a:bodyPr/>
          <a:lstStyle>
            <a:lvl1pPr marL="0" indent="0">
              <a:buFontTx/>
              <a:buNone/>
              <a:defRPr sz="1600" b="1">
                <a:solidFill>
                  <a:schemeClr val="accent3"/>
                </a:solidFill>
                <a:latin typeface="+mn-lt"/>
              </a:defRPr>
            </a:lvl1pPr>
          </a:lstStyle>
          <a:p>
            <a:pPr lvl="0"/>
            <a:r>
              <a:rPr lang="en-US"/>
              <a:t>Scope</a:t>
            </a:r>
          </a:p>
        </p:txBody>
      </p:sp>
      <p:sp>
        <p:nvSpPr>
          <p:cNvPr id="44" name="Text Placeholder 36">
            <a:extLst>
              <a:ext uri="{FF2B5EF4-FFF2-40B4-BE49-F238E27FC236}">
                <a16:creationId xmlns:a16="http://schemas.microsoft.com/office/drawing/2014/main" id="{A14E640B-FB32-E6A5-7E82-DDDAEC38172A}"/>
              </a:ext>
            </a:extLst>
          </p:cNvPr>
          <p:cNvSpPr>
            <a:spLocks noGrp="1"/>
          </p:cNvSpPr>
          <p:nvPr>
            <p:ph type="body" sz="quarter" idx="18"/>
          </p:nvPr>
        </p:nvSpPr>
        <p:spPr>
          <a:xfrm>
            <a:off x="3054221" y="1924656"/>
            <a:ext cx="5603600" cy="2363868"/>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6" name="Text Placeholder 26">
            <a:extLst>
              <a:ext uri="{FF2B5EF4-FFF2-40B4-BE49-F238E27FC236}">
                <a16:creationId xmlns:a16="http://schemas.microsoft.com/office/drawing/2014/main" id="{2841CF6B-CB34-C014-F54E-BC4F141F3BBE}"/>
              </a:ext>
            </a:extLst>
          </p:cNvPr>
          <p:cNvSpPr>
            <a:spLocks noGrp="1"/>
          </p:cNvSpPr>
          <p:nvPr>
            <p:ph type="body" sz="quarter" idx="19" hasCustomPrompt="1"/>
          </p:nvPr>
        </p:nvSpPr>
        <p:spPr>
          <a:xfrm>
            <a:off x="3054221" y="4427256"/>
            <a:ext cx="2414504" cy="282410"/>
          </a:xfrm>
        </p:spPr>
        <p:txBody>
          <a:bodyPr/>
          <a:lstStyle>
            <a:lvl1pPr marL="0" indent="0">
              <a:buFontTx/>
              <a:buNone/>
              <a:defRPr sz="1600" b="1">
                <a:solidFill>
                  <a:schemeClr val="accent3"/>
                </a:solidFill>
                <a:latin typeface="+mn-lt"/>
              </a:defRPr>
            </a:lvl1pPr>
          </a:lstStyle>
          <a:p>
            <a:pPr lvl="0"/>
            <a:r>
              <a:rPr lang="en-US"/>
              <a:t>EXL solution</a:t>
            </a:r>
          </a:p>
        </p:txBody>
      </p:sp>
      <p:sp>
        <p:nvSpPr>
          <p:cNvPr id="47" name="Text Placeholder 36">
            <a:extLst>
              <a:ext uri="{FF2B5EF4-FFF2-40B4-BE49-F238E27FC236}">
                <a16:creationId xmlns:a16="http://schemas.microsoft.com/office/drawing/2014/main" id="{78ADAF88-FA61-AF79-0470-D140F7AA2F72}"/>
              </a:ext>
            </a:extLst>
          </p:cNvPr>
          <p:cNvSpPr>
            <a:spLocks noGrp="1"/>
          </p:cNvSpPr>
          <p:nvPr>
            <p:ph type="body" sz="quarter" idx="20"/>
          </p:nvPr>
        </p:nvSpPr>
        <p:spPr>
          <a:xfrm>
            <a:off x="3054221" y="4790839"/>
            <a:ext cx="5603600" cy="1310016"/>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cxnSp>
        <p:nvCxnSpPr>
          <p:cNvPr id="48" name="Straight Connector 47">
            <a:extLst>
              <a:ext uri="{FF2B5EF4-FFF2-40B4-BE49-F238E27FC236}">
                <a16:creationId xmlns:a16="http://schemas.microsoft.com/office/drawing/2014/main" id="{E6F7A8F4-AED5-94AE-36B9-7758B5EC0DB7}"/>
              </a:ext>
            </a:extLst>
          </p:cNvPr>
          <p:cNvCxnSpPr>
            <a:cxnSpLocks/>
          </p:cNvCxnSpPr>
          <p:nvPr userDrawn="1"/>
        </p:nvCxnSpPr>
        <p:spPr>
          <a:xfrm>
            <a:off x="8804633" y="1569450"/>
            <a:ext cx="0" cy="456350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26">
            <a:extLst>
              <a:ext uri="{FF2B5EF4-FFF2-40B4-BE49-F238E27FC236}">
                <a16:creationId xmlns:a16="http://schemas.microsoft.com/office/drawing/2014/main" id="{DE3059AE-6A6C-9CE8-454D-9F278F9EC3A2}"/>
              </a:ext>
            </a:extLst>
          </p:cNvPr>
          <p:cNvSpPr>
            <a:spLocks noGrp="1"/>
          </p:cNvSpPr>
          <p:nvPr>
            <p:ph type="body" sz="quarter" idx="21" hasCustomPrompt="1"/>
          </p:nvPr>
        </p:nvSpPr>
        <p:spPr>
          <a:xfrm>
            <a:off x="9125145" y="1570034"/>
            <a:ext cx="2677207" cy="282410"/>
          </a:xfrm>
        </p:spPr>
        <p:txBody>
          <a:bodyPr/>
          <a:lstStyle>
            <a:lvl1pPr marL="0" indent="0">
              <a:buFontTx/>
              <a:buNone/>
              <a:defRPr sz="1600" b="1">
                <a:solidFill>
                  <a:schemeClr val="tx2"/>
                </a:solidFill>
                <a:latin typeface="+mn-lt"/>
              </a:defRPr>
            </a:lvl1pPr>
          </a:lstStyle>
          <a:p>
            <a:pPr lvl="0"/>
            <a:r>
              <a:rPr lang="en-US"/>
              <a:t>Results</a:t>
            </a:r>
          </a:p>
        </p:txBody>
      </p:sp>
      <p:sp>
        <p:nvSpPr>
          <p:cNvPr id="51" name="Text Placeholder 36">
            <a:extLst>
              <a:ext uri="{FF2B5EF4-FFF2-40B4-BE49-F238E27FC236}">
                <a16:creationId xmlns:a16="http://schemas.microsoft.com/office/drawing/2014/main" id="{BD35A55A-C259-3ABC-DCF1-FF10E661689D}"/>
              </a:ext>
            </a:extLst>
          </p:cNvPr>
          <p:cNvSpPr>
            <a:spLocks noGrp="1"/>
          </p:cNvSpPr>
          <p:nvPr>
            <p:ph type="body" sz="quarter" idx="22"/>
          </p:nvPr>
        </p:nvSpPr>
        <p:spPr>
          <a:xfrm>
            <a:off x="9125146" y="1924655"/>
            <a:ext cx="2677206" cy="3975653"/>
          </a:xfrm>
        </p:spPr>
        <p:txBody>
          <a:bodyPr/>
          <a:lstStyle>
            <a:lvl1pPr marL="112713" indent="-112713">
              <a:spcBef>
                <a:spcPts val="200"/>
              </a:spcBef>
              <a:spcAft>
                <a:spcPts val="200"/>
              </a:spcAft>
              <a:buClr>
                <a:schemeClr val="tx2"/>
              </a:buClr>
              <a:defRPr sz="1100">
                <a:solidFill>
                  <a:schemeClr val="tx2"/>
                </a:solidFill>
                <a:latin typeface="+mn-lt"/>
              </a:defRPr>
            </a:lvl1pPr>
          </a:lstStyle>
          <a:p>
            <a:pPr lvl="0"/>
            <a:r>
              <a:rPr lang="en-US"/>
              <a:t>Click to edit Master text styles</a:t>
            </a:r>
          </a:p>
        </p:txBody>
      </p:sp>
    </p:spTree>
    <p:extLst>
      <p:ext uri="{BB962C8B-B14F-4D97-AF65-F5344CB8AC3E}">
        <p14:creationId xmlns:p14="http://schemas.microsoft.com/office/powerpoint/2010/main" val="313900290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highlight">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184239"/>
            <a:ext cx="7300912" cy="4456113"/>
          </a:xfrm>
          <a:noFill/>
        </p:spPr>
        <p:txBody>
          <a:bodyPr anchor="ctr" anchorCtr="0"/>
          <a:lstStyle>
            <a:lvl1pPr marL="0" indent="0" algn="ctr">
              <a:buNone/>
              <a:defRPr sz="1600"/>
            </a:lvl1pPr>
          </a:lstStyle>
          <a:p>
            <a:pPr lvl="0"/>
            <a:r>
              <a:rPr lang="en-US"/>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184239"/>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Click to 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2933317"/>
            <a:ext cx="3667742" cy="1822983"/>
          </a:xfrm>
        </p:spPr>
        <p:txBody>
          <a:bodyPr>
            <a:noAutofit/>
          </a:bodyPr>
          <a:lstStyle>
            <a:lvl1pPr marL="0" indent="0">
              <a:spcBef>
                <a:spcPts val="0"/>
              </a:spcBef>
              <a:spcAft>
                <a:spcPts val="400"/>
              </a:spcAft>
              <a:buFontTx/>
              <a:buNone/>
              <a:tabLst/>
              <a:defRPr sz="2200">
                <a:solidFill>
                  <a:schemeClr val="tx1"/>
                </a:solidFill>
                <a:latin typeface="+mn-lt"/>
              </a:defRPr>
            </a:lvl1pPr>
            <a:lvl2pPr marL="460375" indent="-223838">
              <a:spcBef>
                <a:spcPts val="0"/>
              </a:spcBef>
              <a:spcAft>
                <a:spcPts val="400"/>
              </a:spcAft>
              <a:buClr>
                <a:schemeClr val="tx2"/>
              </a:buClr>
              <a:buFont typeface="Arial" panose="020B0604020202020204" pitchFamily="34" charset="0"/>
              <a:buChar char="•"/>
              <a:tabLst/>
              <a:defRPr sz="2000">
                <a:solidFill>
                  <a:schemeClr val="tx1"/>
                </a:solidFill>
                <a:latin typeface="+mj-lt"/>
              </a:defRPr>
            </a:lvl2pPr>
            <a:lvl3pPr marL="690563" indent="-223838">
              <a:spcBef>
                <a:spcPts val="0"/>
              </a:spcBef>
              <a:spcAft>
                <a:spcPts val="400"/>
              </a:spcAft>
              <a:tabLst/>
              <a:defRPr sz="2000">
                <a:solidFill>
                  <a:schemeClr val="tx1"/>
                </a:solidFill>
                <a:latin typeface="+mj-lt"/>
              </a:defRPr>
            </a:lvl3pPr>
            <a:lvl4pPr marL="914400" indent="-230188">
              <a:spcBef>
                <a:spcPts val="0"/>
              </a:spcBef>
              <a:spcAft>
                <a:spcPts val="400"/>
              </a:spcAft>
              <a:tabLst/>
              <a:defRPr sz="1800">
                <a:solidFill>
                  <a:schemeClr val="tx1"/>
                </a:solidFill>
                <a:latin typeface="+mj-lt"/>
              </a:defRPr>
            </a:lvl4pPr>
            <a:lvl5pPr marL="1144588" indent="-211138">
              <a:spcBef>
                <a:spcPts val="0"/>
              </a:spcBef>
              <a:spcAft>
                <a:spcPts val="400"/>
              </a:spcAft>
              <a:tabLst/>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a:extLst>
              <a:ext uri="{FF2B5EF4-FFF2-40B4-BE49-F238E27FC236}">
                <a16:creationId xmlns:a16="http://schemas.microsoft.com/office/drawing/2014/main" id="{BE405EF5-67A3-467C-B557-30C099F3F7D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©2025 ExlService Holdings, Inc. All rights reserved.</a:t>
            </a:r>
          </a:p>
        </p:txBody>
      </p:sp>
      <p:sp>
        <p:nvSpPr>
          <p:cNvPr id="13" name="TextBox 12">
            <a:extLst>
              <a:ext uri="{FF2B5EF4-FFF2-40B4-BE49-F238E27FC236}">
                <a16:creationId xmlns:a16="http://schemas.microsoft.com/office/drawing/2014/main" id="{F7E476FB-F1EB-4325-8567-72CD95BF0CAA}"/>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118544273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80052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2360130239"/>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act Slide Orange">
    <p:bg>
      <p:bgPr>
        <a:solidFill>
          <a:schemeClr val="bg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1719183721"/>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alk-In Logo Orang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832157717"/>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2305018046"/>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ver Title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1134905101"/>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Logo&#10;&#10;Description automatically generated">
            <a:extLst>
              <a:ext uri="{FF2B5EF4-FFF2-40B4-BE49-F238E27FC236}">
                <a16:creationId xmlns:a16="http://schemas.microsoft.com/office/drawing/2014/main" id="{55FCFE5F-EACE-DF4E-98EB-EB028DF66F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284512200"/>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ver Title White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6495589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ver Title Orange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Text Placeholder 7">
            <a:extLst>
              <a:ext uri="{FF2B5EF4-FFF2-40B4-BE49-F238E27FC236}">
                <a16:creationId xmlns:a16="http://schemas.microsoft.com/office/drawing/2014/main" id="{1697E121-414A-B041-84FF-D45B6A776BBE}"/>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22135635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genda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None/>
              <a:defRPr sz="1600" b="0" i="0">
                <a:solidFill>
                  <a:schemeClr val="tx1"/>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599" y="6394198"/>
            <a:ext cx="6376317" cy="182358"/>
          </a:xfrm>
        </p:spPr>
        <p:txBody>
          <a:bodyPr>
            <a:noAutofit/>
          </a:bodyPr>
          <a:lstStyle>
            <a:lvl1pPr algn="r">
              <a:defRPr sz="8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029073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Clr>
                <a:schemeClr val="tx2"/>
              </a:buClr>
              <a:buFont typeface="Arial" panose="020B0604020202020204" pitchFamily="34" charset="0"/>
              <a:buNone/>
              <a:defRPr sz="1600" b="0" i="0">
                <a:solidFill>
                  <a:schemeClr val="tx2"/>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599" y="6394198"/>
            <a:ext cx="6376317" cy="182358"/>
          </a:xfrm>
        </p:spPr>
        <p:txBody>
          <a:bodyPr>
            <a:noAutofit/>
          </a:bodyPr>
          <a:lstStyle>
            <a:lvl1pPr algn="r">
              <a:defRPr sz="8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290522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vider Title Orange Triangles">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146412770"/>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vider Orange Triangles">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4073269"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84439567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ivider Title Orange Equal">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9" name="Group 8">
            <a:extLst>
              <a:ext uri="{FF2B5EF4-FFF2-40B4-BE49-F238E27FC236}">
                <a16:creationId xmlns:a16="http://schemas.microsoft.com/office/drawing/2014/main" id="{E24079B7-DED0-A141-996D-10B033A8EF11}"/>
              </a:ext>
            </a:extLst>
          </p:cNvPr>
          <p:cNvGrpSpPr/>
          <p:nvPr userDrawn="1"/>
        </p:nvGrpSpPr>
        <p:grpSpPr>
          <a:xfrm>
            <a:off x="1898373" y="1885950"/>
            <a:ext cx="3276600" cy="3086100"/>
            <a:chOff x="8458200" y="712595"/>
            <a:chExt cx="3276600" cy="3086100"/>
          </a:xfrm>
        </p:grpSpPr>
        <p:sp>
          <p:nvSpPr>
            <p:cNvPr id="10" name="Rectangle 9">
              <a:extLst>
                <a:ext uri="{FF2B5EF4-FFF2-40B4-BE49-F238E27FC236}">
                  <a16:creationId xmlns:a16="http://schemas.microsoft.com/office/drawing/2014/main" id="{4D6097F1-77CB-614C-8D9A-D22DE9EB1D4E}"/>
                </a:ext>
              </a:extLst>
            </p:cNvPr>
            <p:cNvSpPr/>
            <p:nvPr/>
          </p:nvSpPr>
          <p:spPr>
            <a:xfrm>
              <a:off x="8458200" y="7125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993C0F23-DCDB-7346-9A4D-355EC7892B7F}"/>
                </a:ext>
              </a:extLst>
            </p:cNvPr>
            <p:cNvSpPr/>
            <p:nvPr/>
          </p:nvSpPr>
          <p:spPr>
            <a:xfrm>
              <a:off x="8458200" y="26810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42833497"/>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ivider Orange Equal">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9" name="Group 8">
            <a:extLst>
              <a:ext uri="{FF2B5EF4-FFF2-40B4-BE49-F238E27FC236}">
                <a16:creationId xmlns:a16="http://schemas.microsoft.com/office/drawing/2014/main" id="{E24079B7-DED0-A141-996D-10B033A8EF11}"/>
              </a:ext>
            </a:extLst>
          </p:cNvPr>
          <p:cNvGrpSpPr/>
          <p:nvPr userDrawn="1"/>
        </p:nvGrpSpPr>
        <p:grpSpPr>
          <a:xfrm>
            <a:off x="4452728" y="1885950"/>
            <a:ext cx="3276600" cy="3086100"/>
            <a:chOff x="8458200" y="712595"/>
            <a:chExt cx="3276600" cy="3086100"/>
          </a:xfrm>
        </p:grpSpPr>
        <p:sp>
          <p:nvSpPr>
            <p:cNvPr id="10" name="Rectangle 9">
              <a:extLst>
                <a:ext uri="{FF2B5EF4-FFF2-40B4-BE49-F238E27FC236}">
                  <a16:creationId xmlns:a16="http://schemas.microsoft.com/office/drawing/2014/main" id="{4D6097F1-77CB-614C-8D9A-D22DE9EB1D4E}"/>
                </a:ext>
              </a:extLst>
            </p:cNvPr>
            <p:cNvSpPr/>
            <p:nvPr/>
          </p:nvSpPr>
          <p:spPr>
            <a:xfrm>
              <a:off x="8458200" y="7125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993C0F23-DCDB-7346-9A4D-355EC7892B7F}"/>
                </a:ext>
              </a:extLst>
            </p:cNvPr>
            <p:cNvSpPr/>
            <p:nvPr/>
          </p:nvSpPr>
          <p:spPr>
            <a:xfrm>
              <a:off x="8458200" y="26810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435041016"/>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ivider Title Orange Triang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riangle 6">
            <a:extLst>
              <a:ext uri="{FF2B5EF4-FFF2-40B4-BE49-F238E27FC236}">
                <a16:creationId xmlns:a16="http://schemas.microsoft.com/office/drawing/2014/main" id="{72E8C509-1DC7-C148-88B2-FE551A1ED0F9}"/>
              </a:ext>
            </a:extLst>
          </p:cNvPr>
          <p:cNvSpPr/>
          <p:nvPr userDrawn="1"/>
        </p:nvSpPr>
        <p:spPr>
          <a:xfrm>
            <a:off x="1269724" y="1864380"/>
            <a:ext cx="4114800" cy="31623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769641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ivider Orange Triangle">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riangle 6">
            <a:extLst>
              <a:ext uri="{FF2B5EF4-FFF2-40B4-BE49-F238E27FC236}">
                <a16:creationId xmlns:a16="http://schemas.microsoft.com/office/drawing/2014/main" id="{72E8C509-1DC7-C148-88B2-FE551A1ED0F9}"/>
              </a:ext>
            </a:extLst>
          </p:cNvPr>
          <p:cNvSpPr/>
          <p:nvPr userDrawn="1"/>
        </p:nvSpPr>
        <p:spPr>
          <a:xfrm>
            <a:off x="4038600" y="1864380"/>
            <a:ext cx="4114800" cy="31623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003996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Title Pictur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dirty="0"/>
              <a:t>Insert Picture</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24956659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lumn Orange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11277600" cy="1156792"/>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599" y="6394198"/>
            <a:ext cx="6376317" cy="182358"/>
          </a:xfrm>
        </p:spPr>
        <p:txBody>
          <a:bodyPr>
            <a:noAutofit/>
          </a:bodyPr>
          <a:lstStyle>
            <a:lvl1pPr algn="r">
              <a:defRPr sz="8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11277598"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57200" y="3429000"/>
            <a:ext cx="4681538" cy="2703513"/>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0">
            <a:extLst>
              <a:ext uri="{FF2B5EF4-FFF2-40B4-BE49-F238E27FC236}">
                <a16:creationId xmlns:a16="http://schemas.microsoft.com/office/drawing/2014/main" id="{AC721370-A066-1746-BA51-66EDC940D61F}"/>
              </a:ext>
            </a:extLst>
          </p:cNvPr>
          <p:cNvSpPr>
            <a:spLocks noGrp="1"/>
          </p:cNvSpPr>
          <p:nvPr>
            <p:ph type="body" sz="quarter" idx="16" hasCustomPrompt="1"/>
          </p:nvPr>
        </p:nvSpPr>
        <p:spPr>
          <a:xfrm>
            <a:off x="457200" y="2795955"/>
            <a:ext cx="4681538"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8" name="Text Placeholder 10">
            <a:extLst>
              <a:ext uri="{FF2B5EF4-FFF2-40B4-BE49-F238E27FC236}">
                <a16:creationId xmlns:a16="http://schemas.microsoft.com/office/drawing/2014/main" id="{17DBF118-A9A3-6B4A-8D6F-DCD3478E9D94}"/>
              </a:ext>
            </a:extLst>
          </p:cNvPr>
          <p:cNvSpPr>
            <a:spLocks noGrp="1"/>
          </p:cNvSpPr>
          <p:nvPr>
            <p:ph type="body" sz="quarter" idx="17" hasCustomPrompt="1"/>
          </p:nvPr>
        </p:nvSpPr>
        <p:spPr>
          <a:xfrm>
            <a:off x="5689600" y="2795955"/>
            <a:ext cx="4681538"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2" name="Text Placeholder 10">
            <a:extLst>
              <a:ext uri="{FF2B5EF4-FFF2-40B4-BE49-F238E27FC236}">
                <a16:creationId xmlns:a16="http://schemas.microsoft.com/office/drawing/2014/main" id="{8F18C260-6B13-674E-A152-F60D988656D0}"/>
              </a:ext>
            </a:extLst>
          </p:cNvPr>
          <p:cNvSpPr>
            <a:spLocks noGrp="1"/>
          </p:cNvSpPr>
          <p:nvPr>
            <p:ph type="body" sz="quarter" idx="18"/>
          </p:nvPr>
        </p:nvSpPr>
        <p:spPr>
          <a:xfrm>
            <a:off x="5678556" y="3429000"/>
            <a:ext cx="4681538" cy="2703513"/>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88246722"/>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lumn Silde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804228" y="2111742"/>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8F428F49-45F0-DB43-8B02-D7D8003DA045}"/>
              </a:ext>
            </a:extLst>
          </p:cNvPr>
          <p:cNvSpPr>
            <a:spLocks noGrp="1"/>
          </p:cNvSpPr>
          <p:nvPr>
            <p:ph type="body" sz="quarter" idx="16" hasCustomPrompt="1"/>
          </p:nvPr>
        </p:nvSpPr>
        <p:spPr>
          <a:xfrm>
            <a:off x="4804229" y="1478697"/>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Tree>
    <p:extLst>
      <p:ext uri="{BB962C8B-B14F-4D97-AF65-F5344CB8AC3E}">
        <p14:creationId xmlns:p14="http://schemas.microsoft.com/office/powerpoint/2010/main" val="3703986712"/>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wo Column Sild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610404DB-54A2-CE45-953F-33A259AD37BC}"/>
              </a:ext>
            </a:extLst>
          </p:cNvPr>
          <p:cNvSpPr>
            <a:spLocks noGrp="1"/>
          </p:cNvSpPr>
          <p:nvPr>
            <p:ph type="body" sz="quarter" idx="14"/>
          </p:nvPr>
        </p:nvSpPr>
        <p:spPr>
          <a:xfrm>
            <a:off x="4804228" y="2111742"/>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66B11282-4214-3B44-B17C-9B2CB6A7899D}"/>
              </a:ext>
            </a:extLst>
          </p:cNvPr>
          <p:cNvSpPr>
            <a:spLocks noGrp="1"/>
          </p:cNvSpPr>
          <p:nvPr>
            <p:ph type="body" sz="quarter" idx="16" hasCustomPrompt="1"/>
          </p:nvPr>
        </p:nvSpPr>
        <p:spPr>
          <a:xfrm>
            <a:off x="4804229" y="1478697"/>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Tree>
    <p:extLst>
      <p:ext uri="{BB962C8B-B14F-4D97-AF65-F5344CB8AC3E}">
        <p14:creationId xmlns:p14="http://schemas.microsoft.com/office/powerpoint/2010/main" val="1276159773"/>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wo Column Subhead Silde Black">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E2DB3808-ED75-B640-8FA2-DE1A46107966}"/>
              </a:ext>
            </a:extLst>
          </p:cNvPr>
          <p:cNvSpPr>
            <a:spLocks noGrp="1"/>
          </p:cNvSpPr>
          <p:nvPr>
            <p:ph type="body" sz="quarter" idx="14"/>
          </p:nvPr>
        </p:nvSpPr>
        <p:spPr>
          <a:xfrm>
            <a:off x="4804228" y="2111742"/>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02D463CD-9D09-C54A-A67B-EFECE519AD9D}"/>
              </a:ext>
            </a:extLst>
          </p:cNvPr>
          <p:cNvSpPr>
            <a:spLocks noGrp="1"/>
          </p:cNvSpPr>
          <p:nvPr>
            <p:ph type="body" sz="quarter" idx="16" hasCustomPrompt="1"/>
          </p:nvPr>
        </p:nvSpPr>
        <p:spPr>
          <a:xfrm>
            <a:off x="4804229" y="1478697"/>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Tree>
    <p:extLst>
      <p:ext uri="{BB962C8B-B14F-4D97-AF65-F5344CB8AC3E}">
        <p14:creationId xmlns:p14="http://schemas.microsoft.com/office/powerpoint/2010/main" val="86541536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lumn Silde Black">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E2DB3808-ED75-B640-8FA2-DE1A46107966}"/>
              </a:ext>
            </a:extLst>
          </p:cNvPr>
          <p:cNvSpPr>
            <a:spLocks noGrp="1"/>
          </p:cNvSpPr>
          <p:nvPr>
            <p:ph type="body" sz="quarter" idx="14"/>
          </p:nvPr>
        </p:nvSpPr>
        <p:spPr>
          <a:xfrm>
            <a:off x="4804228" y="2815032"/>
            <a:ext cx="4433105" cy="312652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43086968"/>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One Column Silde Orange Picture">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lvl1pPr>
          </a:lstStyle>
          <a:p>
            <a:r>
              <a:rPr lang="en-US" dirty="0"/>
              <a:t>Insert Picture</a:t>
            </a:r>
          </a:p>
        </p:txBody>
      </p:sp>
      <p:sp>
        <p:nvSpPr>
          <p:cNvPr id="10" name="Rectangle 9">
            <a:extLst>
              <a:ext uri="{FF2B5EF4-FFF2-40B4-BE49-F238E27FC236}">
                <a16:creationId xmlns:a16="http://schemas.microsoft.com/office/drawing/2014/main" id="{F3400FEE-AF2A-4A4C-A689-68AC86084282}"/>
              </a:ext>
            </a:extLst>
          </p:cNvPr>
          <p:cNvSpPr/>
          <p:nvPr userDrawn="1"/>
        </p:nvSpPr>
        <p:spPr>
          <a:xfrm>
            <a:off x="-1" y="0"/>
            <a:ext cx="443310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bg1"/>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spcBef>
                <a:spcPts val="0"/>
              </a:spcBef>
              <a:spcAft>
                <a:spcPts val="400"/>
              </a:spcAft>
              <a:buNone/>
              <a:defRPr sz="1800">
                <a:solidFill>
                  <a:schemeClr val="bg1"/>
                </a:solidFill>
                <a:latin typeface="+mj-lt"/>
              </a:defRPr>
            </a:lvl1pPr>
            <a:lvl2pPr marL="228600" indent="-222250">
              <a:spcBef>
                <a:spcPts val="0"/>
              </a:spcBef>
              <a:spcAft>
                <a:spcPts val="400"/>
              </a:spcAft>
              <a:tabLst/>
              <a:defRPr sz="1800">
                <a:solidFill>
                  <a:schemeClr val="bg1"/>
                </a:solidFill>
                <a:latin typeface="+mj-lt"/>
              </a:defRPr>
            </a:lvl2pPr>
            <a:lvl3pPr marL="519113" indent="-274638">
              <a:spcBef>
                <a:spcPts val="0"/>
              </a:spcBef>
              <a:spcAft>
                <a:spcPts val="400"/>
              </a:spcAft>
              <a:tabLst/>
              <a:defRPr sz="1800">
                <a:solidFill>
                  <a:schemeClr val="bg1"/>
                </a:solidFill>
                <a:latin typeface="+mj-lt"/>
              </a:defRPr>
            </a:lvl3pPr>
            <a:lvl4pPr marL="803275" indent="-238125">
              <a:spcBef>
                <a:spcPts val="0"/>
              </a:spcBef>
              <a:spcAft>
                <a:spcPts val="400"/>
              </a:spcAft>
              <a:tabLst/>
              <a:defRPr sz="1800">
                <a:solidFill>
                  <a:schemeClr val="bg1"/>
                </a:solidFill>
                <a:latin typeface="+mj-lt"/>
              </a:defRPr>
            </a:lvl4pPr>
            <a:lvl5pPr marL="1085850" indent="-276225">
              <a:spcBef>
                <a:spcPts val="0"/>
              </a:spcBef>
              <a:spcAft>
                <a:spcPts val="400"/>
              </a:spcAft>
              <a:tabLst/>
              <a:defRPr sz="1800">
                <a:solidFill>
                  <a:schemeClr val="bg1"/>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3102959808"/>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One Column Silde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457200"/>
            <a:ext cx="7300912" cy="5484813"/>
          </a:xfrm>
          <a:solidFill>
            <a:schemeClr val="bg1"/>
          </a:solidFill>
        </p:spPr>
        <p:txBody>
          <a:bodyPr anchor="ctr" anchorCtr="0"/>
          <a:lstStyle>
            <a:lvl1pPr marL="0" indent="0" algn="ctr">
              <a:buNone/>
              <a:defRPr sz="1600"/>
            </a:lvl1pPr>
          </a:lstStyle>
          <a:p>
            <a:pPr lvl="0"/>
            <a:r>
              <a:rPr lang="en-US" dirty="0"/>
              <a:t>Insert infographics within this area</a:t>
            </a:r>
          </a:p>
        </p:txBody>
      </p:sp>
    </p:spTree>
    <p:extLst>
      <p:ext uri="{BB962C8B-B14F-4D97-AF65-F5344CB8AC3E}">
        <p14:creationId xmlns:p14="http://schemas.microsoft.com/office/powerpoint/2010/main" val="2413633861"/>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ne Column Content">
    <p:bg>
      <p:bgRef idx="1001">
        <a:schemeClr val="bg1"/>
      </p:bgRef>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57200" y="1415144"/>
            <a:ext cx="11277600" cy="4717813"/>
          </a:xfrm>
          <a:noFill/>
        </p:spPr>
        <p:txBody>
          <a:bodyPr anchor="ctr" anchorCtr="0"/>
          <a:lstStyle>
            <a:lvl1pPr marL="0" indent="0" algn="ctr">
              <a:buNone/>
              <a:defRPr sz="1600"/>
            </a:lvl1pPr>
          </a:lstStyle>
          <a:p>
            <a:pPr lvl="0"/>
            <a:r>
              <a:rPr lang="en-US" dirty="0"/>
              <a:t>Insert infographics within this area</a:t>
            </a:r>
          </a:p>
        </p:txBody>
      </p:sp>
      <p:sp>
        <p:nvSpPr>
          <p:cNvPr id="2" name="Title 1"/>
          <p:cNvSpPr>
            <a:spLocks noGrp="1"/>
          </p:cNvSpPr>
          <p:nvPr>
            <p:ph type="ctrTitle"/>
          </p:nvPr>
        </p:nvSpPr>
        <p:spPr>
          <a:xfrm>
            <a:off x="457200" y="456744"/>
            <a:ext cx="11277600" cy="864056"/>
          </a:xfrm>
        </p:spPr>
        <p:txBody>
          <a:bodyPr anchor="t" anchorCtr="0">
            <a:noAutofit/>
          </a:bodyPr>
          <a:lstStyle>
            <a:lvl1pPr algn="l">
              <a:lnSpc>
                <a:spcPct val="80000"/>
              </a:lnSpc>
              <a:defRPr sz="32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696686" y="1626159"/>
            <a:ext cx="5399314" cy="500184"/>
          </a:xfrm>
        </p:spPr>
        <p:txBody>
          <a:bodyPr>
            <a:noAutofit/>
          </a:bodyPr>
          <a:lstStyle>
            <a:lvl1pPr marL="0" indent="0">
              <a:spcBef>
                <a:spcPts val="0"/>
              </a:spcBef>
              <a:buNone/>
              <a:defRPr sz="1400" b="1" i="0">
                <a:solidFill>
                  <a:schemeClr val="tx2"/>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Tree>
    <p:extLst>
      <p:ext uri="{BB962C8B-B14F-4D97-AF65-F5344CB8AC3E}">
        <p14:creationId xmlns:p14="http://schemas.microsoft.com/office/powerpoint/2010/main" val="161019646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lumn Orange Right">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400FEE-AF2A-4A4C-A689-68AC86084282}"/>
              </a:ext>
            </a:extLst>
          </p:cNvPr>
          <p:cNvSpPr/>
          <p:nvPr userDrawn="1"/>
        </p:nvSpPr>
        <p:spPr>
          <a:xfrm flipH="1">
            <a:off x="4433105" y="0"/>
            <a:ext cx="77588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bg1"/>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1" name="Text Placeholder 10">
            <a:extLst>
              <a:ext uri="{FF2B5EF4-FFF2-40B4-BE49-F238E27FC236}">
                <a16:creationId xmlns:a16="http://schemas.microsoft.com/office/drawing/2014/main" id="{FEF931B3-9150-A144-A52C-51AE7E468513}"/>
              </a:ext>
            </a:extLst>
          </p:cNvPr>
          <p:cNvSpPr>
            <a:spLocks noGrp="1"/>
          </p:cNvSpPr>
          <p:nvPr>
            <p:ph type="body" sz="quarter" idx="15"/>
          </p:nvPr>
        </p:nvSpPr>
        <p:spPr>
          <a:xfrm>
            <a:off x="4887045" y="1485900"/>
            <a:ext cx="6847755" cy="4646613"/>
          </a:xfrm>
        </p:spPr>
        <p:txBody>
          <a:bodyPr/>
          <a:lstStyle>
            <a:lvl1pPr marL="0" indent="0">
              <a:spcBef>
                <a:spcPts val="0"/>
              </a:spcBef>
              <a:spcAft>
                <a:spcPts val="600"/>
              </a:spcAft>
              <a:buNone/>
              <a:defRPr>
                <a:solidFill>
                  <a:schemeClr val="bg1"/>
                </a:solidFill>
                <a:latin typeface="+mj-lt"/>
              </a:defRPr>
            </a:lvl1pPr>
            <a:lvl2pPr marL="228600" indent="-222250">
              <a:spcBef>
                <a:spcPts val="0"/>
              </a:spcBef>
              <a:spcAft>
                <a:spcPts val="600"/>
              </a:spcAft>
              <a:tabLst/>
              <a:defRPr>
                <a:solidFill>
                  <a:schemeClr val="bg1"/>
                </a:solidFill>
                <a:latin typeface="+mj-lt"/>
              </a:defRPr>
            </a:lvl2pPr>
            <a:lvl3pPr marL="519113" indent="-266700">
              <a:spcBef>
                <a:spcPts val="0"/>
              </a:spcBef>
              <a:spcAft>
                <a:spcPts val="600"/>
              </a:spcAft>
              <a:tabLst/>
              <a:defRPr>
                <a:solidFill>
                  <a:schemeClr val="bg1"/>
                </a:solidFill>
                <a:latin typeface="+mj-lt"/>
              </a:defRPr>
            </a:lvl3pPr>
            <a:lvl4pPr marL="749300" indent="-238125">
              <a:spcBef>
                <a:spcPts val="0"/>
              </a:spcBef>
              <a:spcAft>
                <a:spcPts val="600"/>
              </a:spcAft>
              <a:tabLst/>
              <a:defRPr>
                <a:solidFill>
                  <a:schemeClr val="bg1"/>
                </a:solidFill>
                <a:latin typeface="+mj-lt"/>
              </a:defRPr>
            </a:lvl4pPr>
            <a:lvl5pPr marL="1031875" indent="-274638">
              <a:spcBef>
                <a:spcPts val="0"/>
              </a:spcBef>
              <a:spcAft>
                <a:spcPts val="600"/>
              </a:spcAft>
              <a:tabLst/>
              <a:defRPr>
                <a:solidFill>
                  <a:schemeClr val="bg1"/>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810C0A52-392D-4946-BCDD-EC07BEBCAAF7}"/>
              </a:ext>
            </a:extLst>
          </p:cNvPr>
          <p:cNvSpPr>
            <a:spLocks noGrp="1"/>
          </p:cNvSpPr>
          <p:nvPr>
            <p:ph type="body" sz="quarter" idx="16"/>
          </p:nvPr>
        </p:nvSpPr>
        <p:spPr>
          <a:xfrm>
            <a:off x="457200" y="3234978"/>
            <a:ext cx="3679371"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460375" indent="-223838">
              <a:spcBef>
                <a:spcPts val="0"/>
              </a:spcBef>
              <a:spcAft>
                <a:spcPts val="400"/>
              </a:spcAft>
              <a:tabLst/>
              <a:defRPr sz="15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619993"/>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ix Infographic Boxes">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958362"/>
            <a:ext cx="11277600" cy="1100959"/>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5638800" cy="401483"/>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C6B72333-1498-944B-A236-F01FCD24FF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A0212F11-0FEC-0D48-98C2-450BD6561319}"/>
              </a:ext>
            </a:extLst>
          </p:cNvPr>
          <p:cNvSpPr>
            <a:spLocks noGrp="1"/>
          </p:cNvSpPr>
          <p:nvPr>
            <p:ph sz="quarter" idx="14" hasCustomPrompt="1"/>
          </p:nvPr>
        </p:nvSpPr>
        <p:spPr>
          <a:xfrm>
            <a:off x="457200" y="2159000"/>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0" name="Content Placeholder 3">
            <a:extLst>
              <a:ext uri="{FF2B5EF4-FFF2-40B4-BE49-F238E27FC236}">
                <a16:creationId xmlns:a16="http://schemas.microsoft.com/office/drawing/2014/main" id="{742E0F13-9A85-0646-BF08-9D103A90B11B}"/>
              </a:ext>
            </a:extLst>
          </p:cNvPr>
          <p:cNvSpPr>
            <a:spLocks noGrp="1"/>
          </p:cNvSpPr>
          <p:nvPr>
            <p:ph sz="quarter" idx="15" hasCustomPrompt="1"/>
          </p:nvPr>
        </p:nvSpPr>
        <p:spPr>
          <a:xfrm>
            <a:off x="4272322" y="2159000"/>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1" name="Content Placeholder 3">
            <a:extLst>
              <a:ext uri="{FF2B5EF4-FFF2-40B4-BE49-F238E27FC236}">
                <a16:creationId xmlns:a16="http://schemas.microsoft.com/office/drawing/2014/main" id="{15059411-4DD2-BF4A-B40A-09062DE7428F}"/>
              </a:ext>
            </a:extLst>
          </p:cNvPr>
          <p:cNvSpPr>
            <a:spLocks noGrp="1"/>
          </p:cNvSpPr>
          <p:nvPr>
            <p:ph sz="quarter" idx="16" hasCustomPrompt="1"/>
          </p:nvPr>
        </p:nvSpPr>
        <p:spPr>
          <a:xfrm>
            <a:off x="8087445" y="2159000"/>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2" name="Content Placeholder 3">
            <a:extLst>
              <a:ext uri="{FF2B5EF4-FFF2-40B4-BE49-F238E27FC236}">
                <a16:creationId xmlns:a16="http://schemas.microsoft.com/office/drawing/2014/main" id="{F43E6FA5-304B-6C45-B371-90C06A62E29D}"/>
              </a:ext>
            </a:extLst>
          </p:cNvPr>
          <p:cNvSpPr>
            <a:spLocks noGrp="1"/>
          </p:cNvSpPr>
          <p:nvPr>
            <p:ph sz="quarter" idx="17" hasCustomPrompt="1"/>
          </p:nvPr>
        </p:nvSpPr>
        <p:spPr>
          <a:xfrm>
            <a:off x="457200"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3" name="Content Placeholder 3">
            <a:extLst>
              <a:ext uri="{FF2B5EF4-FFF2-40B4-BE49-F238E27FC236}">
                <a16:creationId xmlns:a16="http://schemas.microsoft.com/office/drawing/2014/main" id="{2679A949-03FB-C84F-8BB4-A59204838C82}"/>
              </a:ext>
            </a:extLst>
          </p:cNvPr>
          <p:cNvSpPr>
            <a:spLocks noGrp="1"/>
          </p:cNvSpPr>
          <p:nvPr>
            <p:ph sz="quarter" idx="18" hasCustomPrompt="1"/>
          </p:nvPr>
        </p:nvSpPr>
        <p:spPr>
          <a:xfrm>
            <a:off x="4272322"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4" name="Content Placeholder 3">
            <a:extLst>
              <a:ext uri="{FF2B5EF4-FFF2-40B4-BE49-F238E27FC236}">
                <a16:creationId xmlns:a16="http://schemas.microsoft.com/office/drawing/2014/main" id="{6617106F-B15C-3C47-9852-86708E908130}"/>
              </a:ext>
            </a:extLst>
          </p:cNvPr>
          <p:cNvSpPr>
            <a:spLocks noGrp="1"/>
          </p:cNvSpPr>
          <p:nvPr>
            <p:ph sz="quarter" idx="19" hasCustomPrompt="1"/>
          </p:nvPr>
        </p:nvSpPr>
        <p:spPr>
          <a:xfrm>
            <a:off x="8087445" y="4195268"/>
            <a:ext cx="3646488" cy="1890713"/>
          </a:xfrm>
          <a:noFill/>
        </p:spPr>
        <p:txBody>
          <a:bodyPr anchor="ctr" anchorCtr="0"/>
          <a:lstStyle>
            <a:lvl1pPr marL="0" indent="0" algn="ctr">
              <a:buNone/>
              <a:defRPr sz="1200"/>
            </a:lvl1pPr>
          </a:lstStyle>
          <a:p>
            <a:pPr lvl="0"/>
            <a:r>
              <a:rPr lang="en-US" dirty="0"/>
              <a:t>Insert infographics within this area</a:t>
            </a:r>
          </a:p>
        </p:txBody>
      </p:sp>
    </p:spTree>
    <p:extLst>
      <p:ext uri="{BB962C8B-B14F-4D97-AF65-F5344CB8AC3E}">
        <p14:creationId xmlns:p14="http://schemas.microsoft.com/office/powerpoint/2010/main" val="4201333734"/>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ix Infographic Boxes w/ heading">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958363"/>
            <a:ext cx="11277600" cy="635000"/>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5638800" cy="401483"/>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C6B72333-1498-944B-A236-F01FCD24FF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A0212F11-0FEC-0D48-98C2-450BD6561319}"/>
              </a:ext>
            </a:extLst>
          </p:cNvPr>
          <p:cNvSpPr>
            <a:spLocks noGrp="1"/>
          </p:cNvSpPr>
          <p:nvPr>
            <p:ph sz="quarter" idx="14" hasCustomPrompt="1"/>
          </p:nvPr>
        </p:nvSpPr>
        <p:spPr>
          <a:xfrm>
            <a:off x="457200" y="194803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0" name="Content Placeholder 3">
            <a:extLst>
              <a:ext uri="{FF2B5EF4-FFF2-40B4-BE49-F238E27FC236}">
                <a16:creationId xmlns:a16="http://schemas.microsoft.com/office/drawing/2014/main" id="{742E0F13-9A85-0646-BF08-9D103A90B11B}"/>
              </a:ext>
            </a:extLst>
          </p:cNvPr>
          <p:cNvSpPr>
            <a:spLocks noGrp="1"/>
          </p:cNvSpPr>
          <p:nvPr>
            <p:ph sz="quarter" idx="15" hasCustomPrompt="1"/>
          </p:nvPr>
        </p:nvSpPr>
        <p:spPr>
          <a:xfrm>
            <a:off x="4272322" y="194803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1" name="Content Placeholder 3">
            <a:extLst>
              <a:ext uri="{FF2B5EF4-FFF2-40B4-BE49-F238E27FC236}">
                <a16:creationId xmlns:a16="http://schemas.microsoft.com/office/drawing/2014/main" id="{15059411-4DD2-BF4A-B40A-09062DE7428F}"/>
              </a:ext>
            </a:extLst>
          </p:cNvPr>
          <p:cNvSpPr>
            <a:spLocks noGrp="1"/>
          </p:cNvSpPr>
          <p:nvPr>
            <p:ph sz="quarter" idx="16" hasCustomPrompt="1"/>
          </p:nvPr>
        </p:nvSpPr>
        <p:spPr>
          <a:xfrm>
            <a:off x="8087445" y="194803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2" name="Content Placeholder 3">
            <a:extLst>
              <a:ext uri="{FF2B5EF4-FFF2-40B4-BE49-F238E27FC236}">
                <a16:creationId xmlns:a16="http://schemas.microsoft.com/office/drawing/2014/main" id="{F43E6FA5-304B-6C45-B371-90C06A62E29D}"/>
              </a:ext>
            </a:extLst>
          </p:cNvPr>
          <p:cNvSpPr>
            <a:spLocks noGrp="1"/>
          </p:cNvSpPr>
          <p:nvPr>
            <p:ph sz="quarter" idx="17" hasCustomPrompt="1"/>
          </p:nvPr>
        </p:nvSpPr>
        <p:spPr>
          <a:xfrm>
            <a:off x="457200"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3" name="Content Placeholder 3">
            <a:extLst>
              <a:ext uri="{FF2B5EF4-FFF2-40B4-BE49-F238E27FC236}">
                <a16:creationId xmlns:a16="http://schemas.microsoft.com/office/drawing/2014/main" id="{2679A949-03FB-C84F-8BB4-A59204838C82}"/>
              </a:ext>
            </a:extLst>
          </p:cNvPr>
          <p:cNvSpPr>
            <a:spLocks noGrp="1"/>
          </p:cNvSpPr>
          <p:nvPr>
            <p:ph sz="quarter" idx="18" hasCustomPrompt="1"/>
          </p:nvPr>
        </p:nvSpPr>
        <p:spPr>
          <a:xfrm>
            <a:off x="4272322"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4" name="Content Placeholder 3">
            <a:extLst>
              <a:ext uri="{FF2B5EF4-FFF2-40B4-BE49-F238E27FC236}">
                <a16:creationId xmlns:a16="http://schemas.microsoft.com/office/drawing/2014/main" id="{6617106F-B15C-3C47-9852-86708E908130}"/>
              </a:ext>
            </a:extLst>
          </p:cNvPr>
          <p:cNvSpPr>
            <a:spLocks noGrp="1"/>
          </p:cNvSpPr>
          <p:nvPr>
            <p:ph sz="quarter" idx="19" hasCustomPrompt="1"/>
          </p:nvPr>
        </p:nvSpPr>
        <p:spPr>
          <a:xfrm>
            <a:off x="8087445"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11" name="Text Placeholder 10">
            <a:extLst>
              <a:ext uri="{FF2B5EF4-FFF2-40B4-BE49-F238E27FC236}">
                <a16:creationId xmlns:a16="http://schemas.microsoft.com/office/drawing/2014/main" id="{3C84ABE0-31CF-D648-940C-63E5DA921106}"/>
              </a:ext>
            </a:extLst>
          </p:cNvPr>
          <p:cNvSpPr>
            <a:spLocks noGrp="1"/>
          </p:cNvSpPr>
          <p:nvPr>
            <p:ph type="body" sz="quarter" idx="20"/>
          </p:nvPr>
        </p:nvSpPr>
        <p:spPr>
          <a:xfrm>
            <a:off x="457201"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9" name="Text Placeholder 10">
            <a:extLst>
              <a:ext uri="{FF2B5EF4-FFF2-40B4-BE49-F238E27FC236}">
                <a16:creationId xmlns:a16="http://schemas.microsoft.com/office/drawing/2014/main" id="{CA55A367-F7E2-A24B-850F-F41F079B4DE0}"/>
              </a:ext>
            </a:extLst>
          </p:cNvPr>
          <p:cNvSpPr>
            <a:spLocks noGrp="1"/>
          </p:cNvSpPr>
          <p:nvPr>
            <p:ph type="body" sz="quarter" idx="21"/>
          </p:nvPr>
        </p:nvSpPr>
        <p:spPr>
          <a:xfrm>
            <a:off x="4272756"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5" name="Text Placeholder 10">
            <a:extLst>
              <a:ext uri="{FF2B5EF4-FFF2-40B4-BE49-F238E27FC236}">
                <a16:creationId xmlns:a16="http://schemas.microsoft.com/office/drawing/2014/main" id="{2A77CC42-5D2C-AD42-A4E0-14DCA9D6AD67}"/>
              </a:ext>
            </a:extLst>
          </p:cNvPr>
          <p:cNvSpPr>
            <a:spLocks noGrp="1"/>
          </p:cNvSpPr>
          <p:nvPr>
            <p:ph type="body" sz="quarter" idx="22"/>
          </p:nvPr>
        </p:nvSpPr>
        <p:spPr>
          <a:xfrm>
            <a:off x="8085339"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6" name="Text Placeholder 10">
            <a:extLst>
              <a:ext uri="{FF2B5EF4-FFF2-40B4-BE49-F238E27FC236}">
                <a16:creationId xmlns:a16="http://schemas.microsoft.com/office/drawing/2014/main" id="{BCF0045D-2B71-B84E-B96F-7032EFE40BF4}"/>
              </a:ext>
            </a:extLst>
          </p:cNvPr>
          <p:cNvSpPr>
            <a:spLocks noGrp="1"/>
          </p:cNvSpPr>
          <p:nvPr>
            <p:ph type="body" sz="quarter" idx="23"/>
          </p:nvPr>
        </p:nvSpPr>
        <p:spPr>
          <a:xfrm>
            <a:off x="457201" y="394546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7" name="Text Placeholder 10">
            <a:extLst>
              <a:ext uri="{FF2B5EF4-FFF2-40B4-BE49-F238E27FC236}">
                <a16:creationId xmlns:a16="http://schemas.microsoft.com/office/drawing/2014/main" id="{82BD4E58-4705-054E-8E5B-494A8A662AAD}"/>
              </a:ext>
            </a:extLst>
          </p:cNvPr>
          <p:cNvSpPr>
            <a:spLocks noGrp="1"/>
          </p:cNvSpPr>
          <p:nvPr>
            <p:ph type="body" sz="quarter" idx="24"/>
          </p:nvPr>
        </p:nvSpPr>
        <p:spPr>
          <a:xfrm>
            <a:off x="4272756" y="394546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8" name="Text Placeholder 10">
            <a:extLst>
              <a:ext uri="{FF2B5EF4-FFF2-40B4-BE49-F238E27FC236}">
                <a16:creationId xmlns:a16="http://schemas.microsoft.com/office/drawing/2014/main" id="{0B3D0F63-6E1F-044B-BE7B-F876E84AE8DD}"/>
              </a:ext>
            </a:extLst>
          </p:cNvPr>
          <p:cNvSpPr>
            <a:spLocks noGrp="1"/>
          </p:cNvSpPr>
          <p:nvPr>
            <p:ph type="body" sz="quarter" idx="25"/>
          </p:nvPr>
        </p:nvSpPr>
        <p:spPr>
          <a:xfrm>
            <a:off x="8085339" y="394546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Tree>
    <p:extLst>
      <p:ext uri="{BB962C8B-B14F-4D97-AF65-F5344CB8AC3E}">
        <p14:creationId xmlns:p14="http://schemas.microsoft.com/office/powerpoint/2010/main" val="1238455581"/>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Four Column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045417"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3" name="Text Placeholder 10">
            <a:extLst>
              <a:ext uri="{FF2B5EF4-FFF2-40B4-BE49-F238E27FC236}">
                <a16:creationId xmlns:a16="http://schemas.microsoft.com/office/drawing/2014/main" id="{F03A92C8-4D21-FB40-A217-7D7F8D3397FD}"/>
              </a:ext>
            </a:extLst>
          </p:cNvPr>
          <p:cNvSpPr>
            <a:spLocks noGrp="1"/>
          </p:cNvSpPr>
          <p:nvPr>
            <p:ph type="body" sz="quarter" idx="19"/>
          </p:nvPr>
        </p:nvSpPr>
        <p:spPr>
          <a:xfrm>
            <a:off x="3872856"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0">
            <a:extLst>
              <a:ext uri="{FF2B5EF4-FFF2-40B4-BE49-F238E27FC236}">
                <a16:creationId xmlns:a16="http://schemas.microsoft.com/office/drawing/2014/main" id="{0A07D5EE-B3F8-AA44-8D0B-DEB1CD4DD75F}"/>
              </a:ext>
            </a:extLst>
          </p:cNvPr>
          <p:cNvSpPr>
            <a:spLocks noGrp="1"/>
          </p:cNvSpPr>
          <p:nvPr>
            <p:ph type="body" sz="quarter" idx="22"/>
          </p:nvPr>
        </p:nvSpPr>
        <p:spPr>
          <a:xfrm>
            <a:off x="6556421"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10">
            <a:extLst>
              <a:ext uri="{FF2B5EF4-FFF2-40B4-BE49-F238E27FC236}">
                <a16:creationId xmlns:a16="http://schemas.microsoft.com/office/drawing/2014/main" id="{45864CBC-9FA5-F041-B465-DE00482D6D11}"/>
              </a:ext>
            </a:extLst>
          </p:cNvPr>
          <p:cNvSpPr>
            <a:spLocks noGrp="1"/>
          </p:cNvSpPr>
          <p:nvPr>
            <p:ph type="body" sz="quarter" idx="23"/>
          </p:nvPr>
        </p:nvSpPr>
        <p:spPr>
          <a:xfrm>
            <a:off x="9253238"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0">
            <a:extLst>
              <a:ext uri="{FF2B5EF4-FFF2-40B4-BE49-F238E27FC236}">
                <a16:creationId xmlns:a16="http://schemas.microsoft.com/office/drawing/2014/main" id="{ECE26F75-3860-3546-85F7-4E09E38C146B}"/>
              </a:ext>
            </a:extLst>
          </p:cNvPr>
          <p:cNvSpPr>
            <a:spLocks noGrp="1"/>
          </p:cNvSpPr>
          <p:nvPr>
            <p:ph type="body" sz="quarter" idx="24"/>
          </p:nvPr>
        </p:nvSpPr>
        <p:spPr>
          <a:xfrm>
            <a:off x="457200" y="3234978"/>
            <a:ext cx="3045417"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14460172"/>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Column w/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1" y="1485900"/>
            <a:ext cx="3006916"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F4431BF9-4DD4-B741-825E-226AABE970A3}"/>
              </a:ext>
            </a:extLst>
          </p:cNvPr>
          <p:cNvSpPr>
            <a:spLocks noGrp="1"/>
          </p:cNvSpPr>
          <p:nvPr>
            <p:ph sz="quarter" idx="17" hasCustomPrompt="1"/>
          </p:nvPr>
        </p:nvSpPr>
        <p:spPr>
          <a:xfrm>
            <a:off x="8948738" y="1484313"/>
            <a:ext cx="2786062"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dirty="0"/>
              <a:t>Insert infographics within this area</a:t>
            </a:r>
          </a:p>
        </p:txBody>
      </p:sp>
      <p:cxnSp>
        <p:nvCxnSpPr>
          <p:cNvPr id="10" name="Straight Connector 9">
            <a:extLst>
              <a:ext uri="{FF2B5EF4-FFF2-40B4-BE49-F238E27FC236}">
                <a16:creationId xmlns:a16="http://schemas.microsoft.com/office/drawing/2014/main" id="{7F2620F7-0541-0B45-B341-1E1D12D1390B}"/>
              </a:ext>
            </a:extLst>
          </p:cNvPr>
          <p:cNvCxnSpPr/>
          <p:nvPr userDrawn="1"/>
        </p:nvCxnSpPr>
        <p:spPr>
          <a:xfrm>
            <a:off x="8748793" y="1483669"/>
            <a:ext cx="0" cy="464884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Text Placeholder 10">
            <a:extLst>
              <a:ext uri="{FF2B5EF4-FFF2-40B4-BE49-F238E27FC236}">
                <a16:creationId xmlns:a16="http://schemas.microsoft.com/office/drawing/2014/main" id="{136AC2DB-B5C2-3A41-A570-78C62820C2A3}"/>
              </a:ext>
            </a:extLst>
          </p:cNvPr>
          <p:cNvSpPr>
            <a:spLocks noGrp="1"/>
          </p:cNvSpPr>
          <p:nvPr>
            <p:ph type="body" sz="quarter" idx="20"/>
          </p:nvPr>
        </p:nvSpPr>
        <p:spPr>
          <a:xfrm>
            <a:off x="3872856" y="1483668"/>
            <a:ext cx="4675989" cy="4648199"/>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824F38BC-D9BA-9143-A602-F90DC3AFC8FC}"/>
              </a:ext>
            </a:extLst>
          </p:cNvPr>
          <p:cNvSpPr>
            <a:spLocks noGrp="1"/>
          </p:cNvSpPr>
          <p:nvPr>
            <p:ph type="body" sz="quarter" idx="19"/>
          </p:nvPr>
        </p:nvSpPr>
        <p:spPr>
          <a:xfrm>
            <a:off x="457201" y="3234978"/>
            <a:ext cx="3006916"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60765827"/>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One Column w/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192651"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F4431BF9-4DD4-B741-825E-226AABE970A3}"/>
              </a:ext>
            </a:extLst>
          </p:cNvPr>
          <p:cNvSpPr>
            <a:spLocks noGrp="1"/>
          </p:cNvSpPr>
          <p:nvPr>
            <p:ph sz="quarter" idx="17" hasCustomPrompt="1"/>
          </p:nvPr>
        </p:nvSpPr>
        <p:spPr>
          <a:xfrm>
            <a:off x="8948738" y="1484313"/>
            <a:ext cx="2786062"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dirty="0"/>
              <a:t>Insert infographics within this area</a:t>
            </a:r>
          </a:p>
        </p:txBody>
      </p:sp>
      <p:cxnSp>
        <p:nvCxnSpPr>
          <p:cNvPr id="10" name="Straight Connector 9">
            <a:extLst>
              <a:ext uri="{FF2B5EF4-FFF2-40B4-BE49-F238E27FC236}">
                <a16:creationId xmlns:a16="http://schemas.microsoft.com/office/drawing/2014/main" id="{7F2620F7-0541-0B45-B341-1E1D12D1390B}"/>
              </a:ext>
            </a:extLst>
          </p:cNvPr>
          <p:cNvCxnSpPr/>
          <p:nvPr userDrawn="1"/>
        </p:nvCxnSpPr>
        <p:spPr>
          <a:xfrm>
            <a:off x="8748793" y="1483669"/>
            <a:ext cx="0" cy="464884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Content Placeholder 3">
            <a:extLst>
              <a:ext uri="{FF2B5EF4-FFF2-40B4-BE49-F238E27FC236}">
                <a16:creationId xmlns:a16="http://schemas.microsoft.com/office/drawing/2014/main" id="{8D6F557C-3C26-B547-B21C-88ADA188DD02}"/>
              </a:ext>
            </a:extLst>
          </p:cNvPr>
          <p:cNvSpPr>
            <a:spLocks noGrp="1"/>
          </p:cNvSpPr>
          <p:nvPr>
            <p:ph sz="quarter" idx="18" hasCustomPrompt="1"/>
          </p:nvPr>
        </p:nvSpPr>
        <p:spPr>
          <a:xfrm>
            <a:off x="3865293" y="1484313"/>
            <a:ext cx="4702140"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dirty="0"/>
              <a:t>Insert infographics within this area</a:t>
            </a:r>
          </a:p>
        </p:txBody>
      </p:sp>
      <p:sp>
        <p:nvSpPr>
          <p:cNvPr id="12" name="Text Placeholder 10">
            <a:extLst>
              <a:ext uri="{FF2B5EF4-FFF2-40B4-BE49-F238E27FC236}">
                <a16:creationId xmlns:a16="http://schemas.microsoft.com/office/drawing/2014/main" id="{6A6C5533-0E3B-4A43-98F3-7F2AE6EEEA6D}"/>
              </a:ext>
            </a:extLst>
          </p:cNvPr>
          <p:cNvSpPr>
            <a:spLocks noGrp="1"/>
          </p:cNvSpPr>
          <p:nvPr>
            <p:ph type="body" sz="quarter" idx="19"/>
          </p:nvPr>
        </p:nvSpPr>
        <p:spPr>
          <a:xfrm>
            <a:off x="457200" y="3234978"/>
            <a:ext cx="3192651"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28779410"/>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Content w/ gray top">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userDrawn="1"/>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1"/>
                </a:solidFill>
              </a:defRPr>
            </a:lvl1pPr>
          </a:lstStyle>
          <a:p>
            <a:r>
              <a:rPr lang="en-US" dirty="0"/>
              <a:t>Click to edit </a:t>
            </a:r>
            <a:br>
              <a:rPr lang="en-US" dirty="0"/>
            </a:br>
            <a:r>
              <a:rPr lang="en-US" dirty="0"/>
              <a:t>Master </a:t>
            </a:r>
            <a:br>
              <a:rPr lang="en-US" dirty="0"/>
            </a:br>
            <a:r>
              <a:rPr lang="en-US" dirty="0"/>
              <a:t>title style</a:t>
            </a:r>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02749091"/>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ote Slide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p:cNvSpPr>
            <a:spLocks noGrp="1"/>
          </p:cNvSpPr>
          <p:nvPr>
            <p:ph type="ctrTitle"/>
          </p:nvPr>
        </p:nvSpPr>
        <p:spPr>
          <a:xfrm>
            <a:off x="457200" y="1232900"/>
            <a:ext cx="11277600" cy="4708656"/>
          </a:xfrm>
        </p:spPr>
        <p:txBody>
          <a:bodyPr anchor="ctr" anchorCtr="0">
            <a:noAutofit/>
          </a:bodyPr>
          <a:lstStyle>
            <a:lvl1pPr algn="l">
              <a:lnSpc>
                <a:spcPct val="80000"/>
              </a:lnSpc>
              <a:defRPr sz="6000">
                <a:solidFill>
                  <a:schemeClr val="bg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bg1"/>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0" name="Picture 9">
            <a:extLst>
              <a:ext uri="{FF2B5EF4-FFF2-40B4-BE49-F238E27FC236}">
                <a16:creationId xmlns:a16="http://schemas.microsoft.com/office/drawing/2014/main" id="{019F8FE3-FF5A-624D-A591-97864EAB295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596937838"/>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Quote Slide Whit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232900"/>
            <a:ext cx="11277600" cy="4708656"/>
          </a:xfrm>
        </p:spPr>
        <p:txBody>
          <a:bodyPr anchor="ctr" anchorCtr="0">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9DDEEA63-7DE6-284F-9F05-D9A33CE7D84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10611036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ne Column Twe Picture Boxes">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309118" y="1485900"/>
            <a:ext cx="3849205" cy="3572061"/>
          </a:xfrm>
          <a:solidFill>
            <a:schemeClr val="accent6"/>
          </a:solidFill>
        </p:spPr>
        <p:txBody>
          <a:bodyPr anchor="ctr" anchorCtr="0"/>
          <a:lstStyle>
            <a:lvl1pPr marL="0" indent="0" algn="ctr">
              <a:buNone/>
              <a:defRPr sz="1500"/>
            </a:lvl1pPr>
          </a:lstStyle>
          <a:p>
            <a:r>
              <a:rPr lang="en-US" dirty="0"/>
              <a:t>Insert Picture</a:t>
            </a:r>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2" name="Picture 11">
            <a:extLst>
              <a:ext uri="{FF2B5EF4-FFF2-40B4-BE49-F238E27FC236}">
                <a16:creationId xmlns:a16="http://schemas.microsoft.com/office/drawing/2014/main" id="{82DC73AC-0C8F-B04D-AA36-CBBE9383694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ext Placeholder 6">
            <a:extLst>
              <a:ext uri="{FF2B5EF4-FFF2-40B4-BE49-F238E27FC236}">
                <a16:creationId xmlns:a16="http://schemas.microsoft.com/office/drawing/2014/main" id="{755F2D2C-2732-3F46-8B67-8714402C7FF4}"/>
              </a:ext>
            </a:extLst>
          </p:cNvPr>
          <p:cNvSpPr>
            <a:spLocks noGrp="1"/>
          </p:cNvSpPr>
          <p:nvPr>
            <p:ph type="body" sz="quarter" idx="16"/>
          </p:nvPr>
        </p:nvSpPr>
        <p:spPr>
          <a:xfrm>
            <a:off x="4308475" y="5170489"/>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3" name="Picture Placeholder 3">
            <a:extLst>
              <a:ext uri="{FF2B5EF4-FFF2-40B4-BE49-F238E27FC236}">
                <a16:creationId xmlns:a16="http://schemas.microsoft.com/office/drawing/2014/main" id="{B04BC302-BF6F-9F4A-B866-30F63178BDC2}"/>
              </a:ext>
            </a:extLst>
          </p:cNvPr>
          <p:cNvSpPr>
            <a:spLocks noGrp="1"/>
          </p:cNvSpPr>
          <p:nvPr>
            <p:ph type="pic" sz="quarter" idx="17" hasCustomPrompt="1"/>
          </p:nvPr>
        </p:nvSpPr>
        <p:spPr>
          <a:xfrm>
            <a:off x="8341856" y="1485900"/>
            <a:ext cx="3849205" cy="3572061"/>
          </a:xfrm>
          <a:solidFill>
            <a:schemeClr val="accent6"/>
          </a:solidFill>
        </p:spPr>
        <p:txBody>
          <a:bodyPr anchor="ctr" anchorCtr="0"/>
          <a:lstStyle>
            <a:lvl1pPr marL="0" indent="0" algn="ctr">
              <a:buNone/>
              <a:defRPr sz="1500"/>
            </a:lvl1pPr>
          </a:lstStyle>
          <a:p>
            <a:r>
              <a:rPr lang="en-US" dirty="0"/>
              <a:t>Insert Picture</a:t>
            </a:r>
          </a:p>
        </p:txBody>
      </p:sp>
      <p:sp>
        <p:nvSpPr>
          <p:cNvPr id="14" name="Text Placeholder 6">
            <a:extLst>
              <a:ext uri="{FF2B5EF4-FFF2-40B4-BE49-F238E27FC236}">
                <a16:creationId xmlns:a16="http://schemas.microsoft.com/office/drawing/2014/main" id="{862EB926-2F74-D64F-A4CD-EC5E10070E64}"/>
              </a:ext>
            </a:extLst>
          </p:cNvPr>
          <p:cNvSpPr>
            <a:spLocks noGrp="1"/>
          </p:cNvSpPr>
          <p:nvPr>
            <p:ph type="body" sz="quarter" idx="18"/>
          </p:nvPr>
        </p:nvSpPr>
        <p:spPr>
          <a:xfrm>
            <a:off x="8341213" y="5170489"/>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5" name="Text Placeholder 10">
            <a:extLst>
              <a:ext uri="{FF2B5EF4-FFF2-40B4-BE49-F238E27FC236}">
                <a16:creationId xmlns:a16="http://schemas.microsoft.com/office/drawing/2014/main" id="{6C2F399F-28D4-9E43-B164-5A6B7AA1442D}"/>
              </a:ext>
            </a:extLst>
          </p:cNvPr>
          <p:cNvSpPr>
            <a:spLocks noGrp="1"/>
          </p:cNvSpPr>
          <p:nvPr>
            <p:ph type="body" sz="quarter" idx="19"/>
          </p:nvPr>
        </p:nvSpPr>
        <p:spPr>
          <a:xfrm>
            <a:off x="457200" y="3234978"/>
            <a:ext cx="3667742" cy="1822983"/>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20621586"/>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ne Column Infographic Box">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a:t>
            </a:r>
            <a:r>
              <a:rPr kumimoji="0" lang="en-US" sz="800" b="0" i="0" u="none" strike="noStrike" kern="1200" cap="none" spc="0" normalizeH="0" baseline="0" noProof="0" dirty="0" err="1">
                <a:ln>
                  <a:noFill/>
                </a:ln>
                <a:solidFill>
                  <a:srgbClr val="000000"/>
                </a:solidFill>
                <a:effectLst/>
                <a:uLnTx/>
                <a:uFillTx/>
                <a:latin typeface="Calibri" panose="020F0502020204030204"/>
                <a:ea typeface="+mn-ea"/>
                <a:cs typeface="+mn-cs"/>
              </a:rPr>
              <a:t>Exl</a:t>
            </a: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485900"/>
            <a:ext cx="7300912" cy="4456113"/>
          </a:xfrm>
          <a:noFill/>
        </p:spPr>
        <p:txBody>
          <a:bodyPr anchor="ctr" anchorCtr="0"/>
          <a:lstStyle>
            <a:lvl1pPr marL="0" indent="0" algn="ctr">
              <a:buNone/>
              <a:defRPr sz="1600"/>
            </a:lvl1pPr>
          </a:lstStyle>
          <a:p>
            <a:pPr lvl="0"/>
            <a:r>
              <a:rPr lang="en-US" dirty="0"/>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3234978"/>
            <a:ext cx="3667742" cy="1822983"/>
          </a:xfrm>
        </p:spPr>
        <p:txBody>
          <a:bodyPr>
            <a:noAutofit/>
          </a:bodyPr>
          <a:lstStyle>
            <a:lvl1pPr marL="230188" indent="-230188">
              <a:spcBef>
                <a:spcPts val="0"/>
              </a:spcBef>
              <a:spcAft>
                <a:spcPts val="400"/>
              </a:spcAft>
              <a:buFont typeface="System Font Regular"/>
              <a:buChar char="–"/>
              <a:tabLst/>
              <a:defRPr sz="1500">
                <a:latin typeface="+mj-lt"/>
              </a:defRPr>
            </a:lvl1pPr>
            <a:lvl2pPr marL="460375" indent="-223838">
              <a:spcBef>
                <a:spcPts val="0"/>
              </a:spcBef>
              <a:spcAft>
                <a:spcPts val="400"/>
              </a:spcAft>
              <a:tabLst/>
              <a:defRPr sz="15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69517183"/>
      </p:ext>
    </p:extLst>
  </p:cSld>
  <p:clrMapOvr>
    <a:overrideClrMapping bg1="lt1" tx1="dk1" bg2="lt2" tx2="dk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wo Picture Boxes Slide">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57200" y="2214542"/>
            <a:ext cx="7701124" cy="3488834"/>
          </a:xfrm>
          <a:solidFill>
            <a:schemeClr val="accent6"/>
          </a:solidFill>
        </p:spPr>
        <p:txBody>
          <a:bodyPr anchor="ctr" anchorCtr="0"/>
          <a:lstStyle>
            <a:lvl1pPr marL="0" indent="0" algn="ctr">
              <a:buNone/>
              <a:defRPr sz="1500"/>
            </a:lvl1pPr>
          </a:lstStyle>
          <a:p>
            <a:r>
              <a:rPr lang="en-US" dirty="0"/>
              <a:t>Insert Picture</a:t>
            </a:r>
          </a:p>
        </p:txBody>
      </p:sp>
      <p:sp>
        <p:nvSpPr>
          <p:cNvPr id="2" name="Title 1"/>
          <p:cNvSpPr>
            <a:spLocks noGrp="1"/>
          </p:cNvSpPr>
          <p:nvPr>
            <p:ph type="ctrTitle"/>
          </p:nvPr>
        </p:nvSpPr>
        <p:spPr>
          <a:xfrm>
            <a:off x="457199" y="1485900"/>
            <a:ext cx="7700963" cy="728642"/>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2" name="Picture 11">
            <a:extLst>
              <a:ext uri="{FF2B5EF4-FFF2-40B4-BE49-F238E27FC236}">
                <a16:creationId xmlns:a16="http://schemas.microsoft.com/office/drawing/2014/main" id="{82DC73AC-0C8F-B04D-AA36-CBBE9383694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ext Placeholder 6">
            <a:extLst>
              <a:ext uri="{FF2B5EF4-FFF2-40B4-BE49-F238E27FC236}">
                <a16:creationId xmlns:a16="http://schemas.microsoft.com/office/drawing/2014/main" id="{755F2D2C-2732-3F46-8B67-8714402C7FF4}"/>
              </a:ext>
            </a:extLst>
          </p:cNvPr>
          <p:cNvSpPr>
            <a:spLocks noGrp="1"/>
          </p:cNvSpPr>
          <p:nvPr>
            <p:ph type="body" sz="quarter" idx="16"/>
          </p:nvPr>
        </p:nvSpPr>
        <p:spPr>
          <a:xfrm>
            <a:off x="457200" y="5841830"/>
            <a:ext cx="7700963"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3" name="Picture Placeholder 3">
            <a:extLst>
              <a:ext uri="{FF2B5EF4-FFF2-40B4-BE49-F238E27FC236}">
                <a16:creationId xmlns:a16="http://schemas.microsoft.com/office/drawing/2014/main" id="{B04BC302-BF6F-9F4A-B866-30F63178BDC2}"/>
              </a:ext>
            </a:extLst>
          </p:cNvPr>
          <p:cNvSpPr>
            <a:spLocks noGrp="1"/>
          </p:cNvSpPr>
          <p:nvPr>
            <p:ph type="pic" sz="quarter" idx="17" hasCustomPrompt="1"/>
          </p:nvPr>
        </p:nvSpPr>
        <p:spPr>
          <a:xfrm>
            <a:off x="8341856" y="2214542"/>
            <a:ext cx="3849205" cy="3488834"/>
          </a:xfrm>
          <a:solidFill>
            <a:schemeClr val="accent6"/>
          </a:solidFill>
        </p:spPr>
        <p:txBody>
          <a:bodyPr anchor="ctr" anchorCtr="0"/>
          <a:lstStyle>
            <a:lvl1pPr marL="0" indent="0" algn="ctr">
              <a:buNone/>
              <a:defRPr sz="1500"/>
            </a:lvl1pPr>
          </a:lstStyle>
          <a:p>
            <a:r>
              <a:rPr lang="en-US" dirty="0"/>
              <a:t>Insert Picture</a:t>
            </a:r>
          </a:p>
        </p:txBody>
      </p:sp>
      <p:sp>
        <p:nvSpPr>
          <p:cNvPr id="14" name="Text Placeholder 6">
            <a:extLst>
              <a:ext uri="{FF2B5EF4-FFF2-40B4-BE49-F238E27FC236}">
                <a16:creationId xmlns:a16="http://schemas.microsoft.com/office/drawing/2014/main" id="{862EB926-2F74-D64F-A4CD-EC5E10070E64}"/>
              </a:ext>
            </a:extLst>
          </p:cNvPr>
          <p:cNvSpPr>
            <a:spLocks noGrp="1"/>
          </p:cNvSpPr>
          <p:nvPr>
            <p:ph type="body" sz="quarter" idx="18"/>
          </p:nvPr>
        </p:nvSpPr>
        <p:spPr>
          <a:xfrm>
            <a:off x="8341213" y="5841830"/>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6" name="Text Placeholder 15">
            <a:extLst>
              <a:ext uri="{FF2B5EF4-FFF2-40B4-BE49-F238E27FC236}">
                <a16:creationId xmlns:a16="http://schemas.microsoft.com/office/drawing/2014/main" id="{C3C935CB-FC55-5340-B422-F68ABAB4969C}"/>
              </a:ext>
            </a:extLst>
          </p:cNvPr>
          <p:cNvSpPr>
            <a:spLocks noGrp="1"/>
          </p:cNvSpPr>
          <p:nvPr>
            <p:ph type="body" sz="quarter" idx="19"/>
          </p:nvPr>
        </p:nvSpPr>
        <p:spPr>
          <a:xfrm>
            <a:off x="8340725" y="1485900"/>
            <a:ext cx="3394075" cy="614363"/>
          </a:xfrm>
        </p:spPr>
        <p:txBody>
          <a:bodyPr/>
          <a:lstStyle>
            <a:lvl1pPr marL="0" indent="0">
              <a:spcBef>
                <a:spcPts val="0"/>
              </a:spcBef>
              <a:buNone/>
              <a:defRPr sz="1500">
                <a:latin typeface="+mj-lt"/>
              </a:defRPr>
            </a:lvl1pPr>
            <a:lvl2pPr marL="290513" indent="0">
              <a:spcBef>
                <a:spcPts val="0"/>
              </a:spcBef>
              <a:buNone/>
              <a:defRPr sz="1500">
                <a:latin typeface="+mj-lt"/>
              </a:defRPr>
            </a:lvl2pPr>
            <a:lvl3pPr marL="582613" indent="0">
              <a:spcBef>
                <a:spcPts val="0"/>
              </a:spcBef>
              <a:buNone/>
              <a:defRPr sz="1500">
                <a:latin typeface="+mj-lt"/>
              </a:defRPr>
            </a:lvl3pPr>
            <a:lvl4pPr marL="855663" indent="0">
              <a:spcBef>
                <a:spcPts val="0"/>
              </a:spcBef>
              <a:buNone/>
              <a:defRPr sz="1500">
                <a:latin typeface="+mj-lt"/>
              </a:defRPr>
            </a:lvl4pPr>
            <a:lvl5pPr marL="1100138" indent="0">
              <a:spcBef>
                <a:spcPts val="0"/>
              </a:spcBef>
              <a:buNone/>
              <a:defRPr sz="1500">
                <a:latin typeface="+mj-lt"/>
              </a:defRPr>
            </a:lvl5pPr>
          </a:lstStyle>
          <a:p>
            <a:pPr lvl="0"/>
            <a:r>
              <a:rPr lang="en-US"/>
              <a:t>Edit Master text styles</a:t>
            </a:r>
          </a:p>
        </p:txBody>
      </p:sp>
    </p:spTree>
    <p:extLst>
      <p:ext uri="{BB962C8B-B14F-4D97-AF65-F5344CB8AC3E}">
        <p14:creationId xmlns:p14="http://schemas.microsoft.com/office/powerpoint/2010/main" val="2814157231"/>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End Slide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05356"/>
            <a:ext cx="11277600" cy="3447288"/>
          </a:xfrm>
        </p:spPr>
        <p:txBody>
          <a:bodyPr anchor="ctr" anchorCtr="0">
            <a:noAutofit/>
          </a:bodyPr>
          <a:lstStyle>
            <a:lvl1pPr algn="l">
              <a:lnSpc>
                <a:spcPct val="80000"/>
              </a:lnSpc>
              <a:defRPr sz="8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207313079"/>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End Slide Whit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05356"/>
            <a:ext cx="11277600" cy="3447288"/>
          </a:xfrm>
        </p:spPr>
        <p:txBody>
          <a:bodyPr anchor="ctr" anchorCtr="0">
            <a:noAutofit/>
          </a:bodyPr>
          <a:lstStyle>
            <a:lvl1pPr algn="l">
              <a:lnSpc>
                <a:spcPct val="80000"/>
              </a:lnSpc>
              <a:defRPr sz="8800">
                <a:solidFill>
                  <a:schemeClr val="tx2"/>
                </a:solidFill>
              </a:defRPr>
            </a:lvl1pPr>
          </a:lstStyle>
          <a:p>
            <a:r>
              <a:rPr lang="en-US"/>
              <a:t>Click to edit Master title style</a:t>
            </a:r>
            <a:endParaRPr lang="en-US" dirty="0"/>
          </a:p>
        </p:txBody>
      </p:sp>
      <p:pic>
        <p:nvPicPr>
          <p:cNvPr id="4" name="Picture 3">
            <a:extLst>
              <a:ext uri="{FF2B5EF4-FFF2-40B4-BE49-F238E27FC236}">
                <a16:creationId xmlns:a16="http://schemas.microsoft.com/office/drawing/2014/main" id="{3134B387-8E5D-BC42-B9C5-15885C27AF8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91362737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1790487183"/>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act Slide Orang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304205561"/>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Walk-In Logo Orang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2330009331"/>
      </p:ext>
    </p:extLst>
  </p:cSld>
  <p:clrMapOvr>
    <a:overrideClrMapping bg1="dk1" tx1="lt1" bg2="dk2" tx2="lt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1559283155"/>
      </p:ext>
    </p:extLst>
  </p:cSld>
  <p:clrMapOvr>
    <a:overrideClrMapping bg1="lt1" tx1="dk1" bg2="lt2" tx2="dk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ver title orang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976873554"/>
      </p:ext>
    </p:extLst>
  </p:cSld>
  <p:clrMapOvr>
    <a:overrideClrMapping bg1="dk1" tx1="lt1" bg2="dk2" tx2="lt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Logo&#10;&#10;Description automatically generated">
            <a:extLst>
              <a:ext uri="{FF2B5EF4-FFF2-40B4-BE49-F238E27FC236}">
                <a16:creationId xmlns:a16="http://schemas.microsoft.com/office/drawing/2014/main" id="{55FCFE5F-EACE-DF4E-98EB-EB028DF66F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485023968"/>
      </p:ext>
    </p:extLst>
  </p:cSld>
  <p:clrMapOvr>
    <a:overrideClrMapping bg1="lt1" tx1="dk1" bg2="lt2" tx2="dk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ver title whit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Text Placeholder 7">
            <a:extLst>
              <a:ext uri="{FF2B5EF4-FFF2-40B4-BE49-F238E27FC236}">
                <a16:creationId xmlns:a16="http://schemas.microsoft.com/office/drawing/2014/main" id="{A507E633-4606-0F5C-1C47-2E2296BF6013}"/>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351424108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ver title arrow window">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3048" y="0"/>
            <a:ext cx="12192000" cy="6858000"/>
          </a:xfrm>
          <a:solidFill>
            <a:schemeClr val="accent6"/>
          </a:solidFill>
        </p:spPr>
        <p:txBody>
          <a:bodyPr tIns="1188720" rIns="914400"/>
          <a:lstStyle>
            <a:lvl1pPr marL="0" indent="0" algn="r">
              <a:buNone/>
              <a:defRPr/>
            </a:lvl1pPr>
          </a:lstStyle>
          <a:p>
            <a:r>
              <a:rPr lang="en-US" dirty="0"/>
              <a:t>Insert Picture</a:t>
            </a:r>
            <a:br>
              <a:rPr lang="en-US" dirty="0"/>
            </a:br>
            <a:r>
              <a:rPr lang="en-US" dirty="0"/>
              <a:t>and send to back</a:t>
            </a:r>
          </a:p>
        </p:txBody>
      </p:sp>
      <p:sp>
        <p:nvSpPr>
          <p:cNvPr id="12" name="Text Placeholder 11">
            <a:extLst>
              <a:ext uri="{FF2B5EF4-FFF2-40B4-BE49-F238E27FC236}">
                <a16:creationId xmlns:a16="http://schemas.microsoft.com/office/drawing/2014/main" id="{67CD8347-12EC-7004-68FD-F0EB1360FD8F}"/>
              </a:ext>
            </a:extLst>
          </p:cNvPr>
          <p:cNvSpPr>
            <a:spLocks noGrp="1"/>
          </p:cNvSpPr>
          <p:nvPr>
            <p:ph type="body" sz="quarter" idx="12"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FontTx/>
              <a:buNone/>
              <a:defRPr/>
            </a:lvl1pPr>
          </a:lstStyle>
          <a:p>
            <a:pPr lvl="0"/>
            <a:r>
              <a:rPr lang="en-US" dirty="0"/>
              <a:t> </a:t>
            </a:r>
          </a:p>
        </p:txBody>
      </p:sp>
      <p:sp>
        <p:nvSpPr>
          <p:cNvPr id="2" name="Title 1"/>
          <p:cNvSpPr>
            <a:spLocks noGrp="1"/>
          </p:cNvSpPr>
          <p:nvPr>
            <p:ph type="ctrTitle"/>
          </p:nvPr>
        </p:nvSpPr>
        <p:spPr>
          <a:xfrm>
            <a:off x="2752627" y="457200"/>
            <a:ext cx="5637229" cy="3413547"/>
          </a:xfrm>
        </p:spPr>
        <p:txBody>
          <a:bodyPr anchor="b">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752627" y="4027501"/>
            <a:ext cx="5637229" cy="936385"/>
          </a:xfrm>
        </p:spPr>
        <p:txBody>
          <a:bodyPr>
            <a:noAutofit/>
          </a:bodyPr>
          <a:lstStyle>
            <a:lvl1pPr marL="0" indent="0" algn="l">
              <a:spcBef>
                <a:spcPts val="0"/>
              </a:spcBef>
              <a:buNone/>
              <a:defRPr sz="20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55699020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ver title orang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Text Placeholder 7">
            <a:extLst>
              <a:ext uri="{FF2B5EF4-FFF2-40B4-BE49-F238E27FC236}">
                <a16:creationId xmlns:a16="http://schemas.microsoft.com/office/drawing/2014/main" id="{051F0EE0-3D9B-E861-B59E-EC60640064C5}"/>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76855513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ivider slate blue bkgr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865413386"/>
      </p:ext>
    </p:extLst>
  </p:cSld>
  <p:clrMapOvr>
    <a:overrideClrMapping bg1="dk1" tx1="lt1" bg2="dk2" tx2="lt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ivider light blue bkgrd">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accent3"/>
                </a:solidFill>
              </a:defRPr>
            </a:lvl1pPr>
          </a:lstStyle>
          <a:p>
            <a:r>
              <a:rPr lang="en-US"/>
              <a:t>Click to edit Master title style</a:t>
            </a:r>
            <a:endParaRPr lang="en-US" dirty="0"/>
          </a:p>
        </p:txBody>
      </p:sp>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a:solidFill>
            <a:schemeClr val="bg2"/>
          </a:solidFill>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Text Placeholder 7">
            <a:extLst>
              <a:ext uri="{FF2B5EF4-FFF2-40B4-BE49-F238E27FC236}">
                <a16:creationId xmlns:a16="http://schemas.microsoft.com/office/drawing/2014/main" id="{21022AB0-A6DF-42F4-2FD1-C8A66FD65C7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66064271"/>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ivider triangle slate blue">
    <p:bg>
      <p:bgPr>
        <a:solidFill>
          <a:schemeClr val="accent1"/>
        </a:solidFill>
        <a:effectLst/>
      </p:bgPr>
    </p:bg>
    <p:spTree>
      <p:nvGrpSpPr>
        <p:cNvPr id="1" name=""/>
        <p:cNvGrpSpPr/>
        <p:nvPr/>
      </p:nvGrpSpPr>
      <p:grpSpPr>
        <a:xfrm>
          <a:off x="0" y="0"/>
          <a:ext cx="0" cy="0"/>
          <a:chOff x="0" y="0"/>
          <a:chExt cx="0" cy="0"/>
        </a:xfrm>
      </p:grpSpPr>
      <p:sp>
        <p:nvSpPr>
          <p:cNvPr id="3" name="Triangle 6">
            <a:extLst>
              <a:ext uri="{FF2B5EF4-FFF2-40B4-BE49-F238E27FC236}">
                <a16:creationId xmlns:a16="http://schemas.microsoft.com/office/drawing/2014/main" id="{931308C3-C86F-8439-79F6-BF2D0C1E6F6F}"/>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759936411"/>
      </p:ext>
    </p:extLst>
  </p:cSld>
  <p:clrMapOvr>
    <a:overrideClrMapping bg1="dk1" tx1="lt1" bg2="dk2" tx2="lt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ivider triangle light blu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bg2"/>
                </a:solidFill>
              </a:defRPr>
            </a:lvl1pPr>
          </a:lstStyle>
          <a:p>
            <a:r>
              <a:rPr lang="en-US"/>
              <a:t>Click to edit Master title style</a:t>
            </a:r>
            <a:endParaRPr lang="en-US" dirty="0"/>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
        <p:nvSpPr>
          <p:cNvPr id="4" name="Triangle 6">
            <a:extLst>
              <a:ext uri="{FF2B5EF4-FFF2-40B4-BE49-F238E27FC236}">
                <a16:creationId xmlns:a16="http://schemas.microsoft.com/office/drawing/2014/main" id="{4766D99B-C9CC-1DAD-1E54-88F872622439}"/>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3451295"/>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ivider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dirty="0"/>
              <a:t>Insert Picture</a:t>
            </a:r>
            <a:br>
              <a:rPr lang="en-US" dirty="0"/>
            </a:br>
            <a:r>
              <a:rPr lang="en-US" dirty="0"/>
              <a:t>then send to back</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75817510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ivider triangle window photo">
    <p:bg>
      <p:bgPr>
        <a:solidFill>
          <a:schemeClr val="tx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68FB34F-AFB3-FB22-6CF1-6C96D239CF45}"/>
              </a:ext>
            </a:extLst>
          </p:cNvPr>
          <p:cNvSpPr>
            <a:spLocks noGrp="1"/>
          </p:cNvSpPr>
          <p:nvPr>
            <p:ph type="body" sz="quarter" idx="13"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 </a:t>
            </a:r>
          </a:p>
        </p:txBody>
      </p:sp>
      <p:sp>
        <p:nvSpPr>
          <p:cNvPr id="13" name="Picture Placeholder 12">
            <a:extLst>
              <a:ext uri="{FF2B5EF4-FFF2-40B4-BE49-F238E27FC236}">
                <a16:creationId xmlns:a16="http://schemas.microsoft.com/office/drawing/2014/main" id="{22DD5020-0712-DF29-4789-07AE704465D4}"/>
              </a:ext>
            </a:extLst>
          </p:cNvPr>
          <p:cNvSpPr>
            <a:spLocks noGrp="1"/>
          </p:cNvSpPr>
          <p:nvPr>
            <p:ph type="pic" sz="quarter" idx="12"/>
          </p:nvPr>
        </p:nvSpPr>
        <p:spPr>
          <a:xfrm>
            <a:off x="0" y="0"/>
            <a:ext cx="12188952" cy="6858000"/>
          </a:xfrm>
        </p:spPr>
        <p:txBody>
          <a:bodyPr/>
          <a:lstStyle>
            <a:lvl1pPr marL="0" indent="0" algn="ctr">
              <a:buNone/>
              <a:defRPr>
                <a:solidFill>
                  <a:schemeClr val="accent3"/>
                </a:solidFill>
              </a:defRPr>
            </a:lvl1pPr>
          </a:lstStyle>
          <a:p>
            <a:r>
              <a:rPr lang="en-US"/>
              <a:t>Click icon to add picture</a:t>
            </a:r>
            <a:endParaRPr lang="en-US" dirty="0"/>
          </a:p>
        </p:txBody>
      </p:sp>
      <p:sp>
        <p:nvSpPr>
          <p:cNvPr id="2" name="Title 1"/>
          <p:cNvSpPr>
            <a:spLocks noGrp="1"/>
          </p:cNvSpPr>
          <p:nvPr>
            <p:ph type="ctrTitle"/>
          </p:nvPr>
        </p:nvSpPr>
        <p:spPr>
          <a:xfrm>
            <a:off x="8097625" y="696688"/>
            <a:ext cx="3912124" cy="3447288"/>
          </a:xfrm>
        </p:spPr>
        <p:txBody>
          <a:bodyPr anchor="ctr" anchorCtr="0">
            <a:noAutofit/>
          </a:bodyPr>
          <a:lstStyle>
            <a:lvl1pPr algn="l">
              <a:lnSpc>
                <a:spcPct val="80000"/>
              </a:lnSpc>
              <a:defRPr sz="4000">
                <a:solidFill>
                  <a:schemeClr val="bg2"/>
                </a:solidFill>
              </a:defRPr>
            </a:lvl1pPr>
          </a:lstStyle>
          <a:p>
            <a:r>
              <a:rPr lang="en-US"/>
              <a:t>Click to edit Master title style</a:t>
            </a:r>
            <a:endParaRPr lang="en-US" dirty="0"/>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455136879"/>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One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420992"/>
            <a:ext cx="11249320"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88101146"/>
      </p:ext>
    </p:extLst>
  </p:cSld>
  <p:clrMapOvr>
    <a:overrideClrMapping bg1="lt1" tx1="dk1" bg2="lt2" tx2="dk2" accent1="accent1" accent2="accent2" accent3="accent3" accent4="accent4" accent5="accent5" accent6="accent6" hlink="hlink" folHlink="folHlink"/>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One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558199"/>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636226"/>
            <a:ext cx="11249320" cy="4344320"/>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4" name="Text Placeholder 3">
            <a:extLst>
              <a:ext uri="{FF2B5EF4-FFF2-40B4-BE49-F238E27FC236}">
                <a16:creationId xmlns:a16="http://schemas.microsoft.com/office/drawing/2014/main" id="{CC51CF4F-FD7D-FD19-6372-B37CB1750868}"/>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1085493481"/>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wo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420992"/>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420813"/>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7584757"/>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wo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2"/>
            <a:ext cx="11277600" cy="567626"/>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636226"/>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636226"/>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3">
            <a:extLst>
              <a:ext uri="{FF2B5EF4-FFF2-40B4-BE49-F238E27FC236}">
                <a16:creationId xmlns:a16="http://schemas.microsoft.com/office/drawing/2014/main" id="{7DC9EA03-FA8F-AD79-F54A-F23726C03305}"/>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1263437979"/>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ider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 Placeholder 5">
            <a:extLst>
              <a:ext uri="{FF2B5EF4-FFF2-40B4-BE49-F238E27FC236}">
                <a16:creationId xmlns:a16="http://schemas.microsoft.com/office/drawing/2014/main" id="{F6620FF5-63E7-D7A1-E95E-667A3A5A47A4}"/>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18263127"/>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ider slat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4" name="Text Placeholder 5">
            <a:extLst>
              <a:ext uri="{FF2B5EF4-FFF2-40B4-BE49-F238E27FC236}">
                <a16:creationId xmlns:a16="http://schemas.microsoft.com/office/drawing/2014/main" id="{C8AEF62A-DB20-DFA5-60EF-17E3D0291795}"/>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7348568"/>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Sider midn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accent3"/>
                </a:solidFill>
                <a:latin typeface="+mn-lt"/>
              </a:defRPr>
            </a:lvl1pPr>
            <a:lvl2pPr marL="460375" indent="-223838">
              <a:lnSpc>
                <a:spcPct val="100000"/>
              </a:lnSpc>
              <a:spcBef>
                <a:spcPts val="0"/>
              </a:spcBef>
              <a:spcAft>
                <a:spcPts val="600"/>
              </a:spcAft>
              <a:buClr>
                <a:schemeClr val="accent3"/>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accent3"/>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3" name="Text Placeholder 5">
            <a:extLst>
              <a:ext uri="{FF2B5EF4-FFF2-40B4-BE49-F238E27FC236}">
                <a16:creationId xmlns:a16="http://schemas.microsoft.com/office/drawing/2014/main" id="{150E4EC5-C9CD-0784-3B8B-14E383CDC869}"/>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80984848"/>
      </p:ext>
    </p:extLst>
  </p:cSld>
  <p:clrMapOvr>
    <a:overrideClrMapping bg1="lt1" tx1="dk1" bg2="lt2" tx2="dk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ider l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tx1"/>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3" name="Text Placeholder 5">
            <a:extLst>
              <a:ext uri="{FF2B5EF4-FFF2-40B4-BE49-F238E27FC236}">
                <a16:creationId xmlns:a16="http://schemas.microsoft.com/office/drawing/2014/main" id="{87AF6875-806F-55D2-B677-EBF1DABD0717}"/>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tx2"/>
                </a:solidFill>
                <a:latin typeface="+mn-lt"/>
              </a:defRPr>
            </a:lvl1pPr>
            <a:lvl2pPr marL="227013" indent="-227013">
              <a:lnSpc>
                <a:spcPct val="100000"/>
              </a:lnSpc>
              <a:spcAft>
                <a:spcPts val="300"/>
              </a:spcAft>
              <a:buFont typeface="Arial" panose="020B0604020202020204" pitchFamily="34" charset="0"/>
              <a:buChar char="•"/>
              <a:defRPr sz="2000">
                <a:solidFill>
                  <a:schemeClr val="tx2"/>
                </a:solidFill>
              </a:defRPr>
            </a:lvl2pPr>
            <a:lvl3pPr marL="461963" indent="-225425">
              <a:lnSpc>
                <a:spcPct val="100000"/>
              </a:lnSpc>
              <a:spcAft>
                <a:spcPts val="300"/>
              </a:spcAft>
              <a:tabLst/>
              <a:defRPr>
                <a:solidFill>
                  <a:schemeClr val="tx2"/>
                </a:solidFill>
              </a:defRPr>
            </a:lvl3pPr>
            <a:lvl4pPr marL="744538" indent="-225425">
              <a:lnSpc>
                <a:spcPct val="100000"/>
              </a:lnSpc>
              <a:spcAft>
                <a:spcPts val="300"/>
              </a:spcAft>
              <a:tabLst/>
              <a:defRPr>
                <a:solidFill>
                  <a:schemeClr val="tx2"/>
                </a:solidFill>
              </a:defRPr>
            </a:lvl4pPr>
            <a:lvl5pPr marL="971550" indent="-169863">
              <a:lnSpc>
                <a:spcPct val="100000"/>
              </a:lnSpc>
              <a:spcAft>
                <a:spcPts val="300"/>
              </a:spcAft>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40892607"/>
      </p:ext>
    </p:extLst>
  </p:cSld>
  <p:clrMapOvr>
    <a:overrideClrMapping bg1="lt1" tx1="dk1" bg2="lt2" tx2="dk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ider photo">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977353" y="984831"/>
            <a:ext cx="6136849" cy="891103"/>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1883303"/>
            <a:ext cx="6136849" cy="4130997"/>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4" name="Picture Placeholder 3">
            <a:extLst>
              <a:ext uri="{FF2B5EF4-FFF2-40B4-BE49-F238E27FC236}">
                <a16:creationId xmlns:a16="http://schemas.microsoft.com/office/drawing/2014/main" id="{4B95AAFB-5AB3-8043-3405-030A209051B7}"/>
              </a:ext>
            </a:extLst>
          </p:cNvPr>
          <p:cNvSpPr>
            <a:spLocks noGrp="1"/>
          </p:cNvSpPr>
          <p:nvPr>
            <p:ph type="pic" sz="quarter" idx="15" hasCustomPrompt="1"/>
          </p:nvPr>
        </p:nvSpPr>
        <p:spPr>
          <a:xfrm>
            <a:off x="0" y="0"/>
            <a:ext cx="4434840" cy="6858000"/>
          </a:xfrm>
          <a:solidFill>
            <a:schemeClr val="bg1">
              <a:lumMod val="95000"/>
            </a:schemeClr>
          </a:solidFill>
        </p:spPr>
        <p:txBody>
          <a:bodyPr tIns="1828800"/>
          <a:lstStyle>
            <a:lvl1pPr marL="0" indent="0" algn="ctr">
              <a:buFontTx/>
              <a:buNone/>
              <a:defRPr>
                <a:solidFill>
                  <a:schemeClr val="tx1"/>
                </a:solidFill>
              </a:defRPr>
            </a:lvl1pPr>
          </a:lstStyle>
          <a:p>
            <a:r>
              <a:rPr lang="en-US" dirty="0"/>
              <a:t>Insert photo here</a:t>
            </a:r>
            <a:br>
              <a:rPr lang="en-US" dirty="0"/>
            </a:br>
            <a:r>
              <a:rPr lang="en-US" dirty="0"/>
              <a:t>4.85”w x 7.5” h </a:t>
            </a:r>
          </a:p>
        </p:txBody>
      </p:sp>
    </p:spTree>
    <p:extLst>
      <p:ext uri="{BB962C8B-B14F-4D97-AF65-F5344CB8AC3E}">
        <p14:creationId xmlns:p14="http://schemas.microsoft.com/office/powerpoint/2010/main" val="2978276085"/>
      </p:ext>
    </p:extLst>
  </p:cSld>
  <p:clrMapOvr>
    <a:overrideClrMapping bg1="lt1" tx1="dk1" bg2="lt2" tx2="dk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Large photo graphic">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solidFill>
                  <a:schemeClr val="accent1"/>
                </a:solidFill>
              </a:defRPr>
            </a:lvl1pPr>
          </a:lstStyle>
          <a:p>
            <a:r>
              <a:rPr lang="en-US" dirty="0"/>
              <a:t>Insert  photo</a:t>
            </a:r>
            <a:br>
              <a:rPr lang="en-US" dirty="0"/>
            </a:br>
            <a:r>
              <a:rPr lang="en-US" dirty="0"/>
              <a:t>8.48”w x 7.5”h</a:t>
            </a:r>
          </a:p>
        </p:txBody>
      </p:sp>
      <p:sp>
        <p:nvSpPr>
          <p:cNvPr id="10" name="Rectangle 9">
            <a:extLst>
              <a:ext uri="{FF2B5EF4-FFF2-40B4-BE49-F238E27FC236}">
                <a16:creationId xmlns:a16="http://schemas.microsoft.com/office/drawing/2014/main" id="{F3400FEE-AF2A-4A4C-A689-68AC86084282}"/>
              </a:ext>
            </a:extLst>
          </p:cNvPr>
          <p:cNvSpPr/>
          <p:nvPr userDrawn="1"/>
        </p:nvSpPr>
        <p:spPr>
          <a:xfrm>
            <a:off x="-1"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lnSpc>
                <a:spcPct val="100000"/>
              </a:lnSpc>
              <a:spcBef>
                <a:spcPts val="0"/>
              </a:spcBef>
              <a:spcAft>
                <a:spcPts val="1200"/>
              </a:spcAft>
              <a:buFontTx/>
              <a:buNone/>
              <a:defRPr sz="1800">
                <a:solidFill>
                  <a:schemeClr val="bg1"/>
                </a:solidFill>
                <a:latin typeface="+mn-lt"/>
              </a:defRPr>
            </a:lvl1pPr>
            <a:lvl2pPr marL="228600" indent="-222250">
              <a:lnSpc>
                <a:spcPct val="100000"/>
              </a:lnSpc>
              <a:spcBef>
                <a:spcPts val="0"/>
              </a:spcBef>
              <a:spcAft>
                <a:spcPts val="600"/>
              </a:spcAft>
              <a:buFont typeface="Arial" panose="020B0604020202020204" pitchFamily="34" charset="0"/>
              <a:buChar char="•"/>
              <a:tabLst/>
              <a:defRPr sz="1800">
                <a:solidFill>
                  <a:schemeClr val="bg1"/>
                </a:solidFill>
                <a:latin typeface="+mj-lt"/>
              </a:defRPr>
            </a:lvl2pPr>
            <a:lvl3pPr marL="519113" indent="-274638">
              <a:lnSpc>
                <a:spcPct val="100000"/>
              </a:lnSpc>
              <a:spcBef>
                <a:spcPts val="0"/>
              </a:spcBef>
              <a:spcAft>
                <a:spcPts val="600"/>
              </a:spcAft>
              <a:tabLst/>
              <a:defRPr sz="1800">
                <a:solidFill>
                  <a:schemeClr val="bg1"/>
                </a:solidFill>
                <a:latin typeface="+mj-lt"/>
              </a:defRPr>
            </a:lvl3pPr>
            <a:lvl4pPr marL="803275" indent="-238125">
              <a:lnSpc>
                <a:spcPct val="100000"/>
              </a:lnSpc>
              <a:spcBef>
                <a:spcPts val="0"/>
              </a:spcBef>
              <a:spcAft>
                <a:spcPts val="600"/>
              </a:spcAft>
              <a:tabLst/>
              <a:defRPr sz="1800">
                <a:solidFill>
                  <a:schemeClr val="bg1"/>
                </a:solidFill>
                <a:latin typeface="+mj-lt"/>
              </a:defRPr>
            </a:lvl4pPr>
            <a:lvl5pPr marL="1085850" indent="-276225">
              <a:lnSpc>
                <a:spcPct val="100000"/>
              </a:lnSpc>
              <a:spcBef>
                <a:spcPts val="0"/>
              </a:spcBef>
              <a:spcAft>
                <a:spcPts val="600"/>
              </a:spcAft>
              <a:tabLst/>
              <a:defRPr sz="1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
        <p:nvSpPr>
          <p:cNvPr id="12" name="TextBox 11">
            <a:extLst>
              <a:ext uri="{FF2B5EF4-FFF2-40B4-BE49-F238E27FC236}">
                <a16:creationId xmlns:a16="http://schemas.microsoft.com/office/drawing/2014/main" id="{02021025-6C5D-4AD1-B98F-3B9F05B818B5}"/>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bg1"/>
                </a:solidFill>
                <a:effectLst/>
                <a:uLnTx/>
                <a:uFillTx/>
                <a:latin typeface="Calibri" panose="020F0502020204030204"/>
                <a:ea typeface="+mn-ea"/>
                <a:cs typeface="+mn-cs"/>
              </a:rPr>
              <a:t>©2024 ExlService Holdings, Inc. All rights reserved.</a:t>
            </a:r>
          </a:p>
        </p:txBody>
      </p:sp>
      <p:sp>
        <p:nvSpPr>
          <p:cNvPr id="13" name="TextBox 12">
            <a:extLst>
              <a:ext uri="{FF2B5EF4-FFF2-40B4-BE49-F238E27FC236}">
                <a16:creationId xmlns:a16="http://schemas.microsoft.com/office/drawing/2014/main" id="{0927DF11-5732-451F-BDC5-76D509152895}"/>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dirty="0">
              <a:solidFill>
                <a:schemeClr val="bg1"/>
              </a:solidFill>
            </a:endParaRPr>
          </a:p>
        </p:txBody>
      </p:sp>
    </p:spTree>
    <p:extLst>
      <p:ext uri="{BB962C8B-B14F-4D97-AF65-F5344CB8AC3E}">
        <p14:creationId xmlns:p14="http://schemas.microsoft.com/office/powerpoint/2010/main" val="4188214842"/>
      </p:ext>
    </p:extLst>
  </p:cSld>
  <p:clrMapOvr>
    <a:overrideClrMapping bg1="lt1" tx1="dk1" bg2="lt2" tx2="dk2" accent1="accent1" accent2="accent2" accent3="accent3" accent4="accent4" accent5="accent5" accent6="accent6" hlink="hlink" folHlink="folHlink"/>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ase study stats">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userDrawn="1"/>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2"/>
                </a:solidFill>
              </a:defRPr>
            </a:lvl1pPr>
          </a:lstStyle>
          <a:p>
            <a:r>
              <a:rPr lang="en-US" dirty="0"/>
              <a:t>Click to edit </a:t>
            </a:r>
            <a:br>
              <a:rPr lang="en-US" dirty="0"/>
            </a:br>
            <a:r>
              <a:rPr lang="en-US" dirty="0"/>
              <a:t>Master </a:t>
            </a:r>
            <a:br>
              <a:rPr lang="en-US" dirty="0"/>
            </a:br>
            <a:r>
              <a:rPr lang="en-US" dirty="0"/>
              <a:t>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lnSpc>
                <a:spcPct val="100000"/>
              </a:lnSpc>
              <a:spcBef>
                <a:spcPts val="0"/>
              </a:spcBef>
              <a:spcAft>
                <a:spcPts val="300"/>
              </a:spcAft>
              <a:buNone/>
              <a:defRPr sz="1400" b="1" i="0">
                <a:solidFill>
                  <a:schemeClr val="accent3"/>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0" indent="0">
              <a:spcBef>
                <a:spcPts val="0"/>
              </a:spcBef>
              <a:spcAft>
                <a:spcPts val="400"/>
              </a:spcAft>
              <a:buFontTx/>
              <a:buNone/>
              <a:tabLst/>
              <a:defRPr sz="1500" b="1">
                <a:solidFill>
                  <a:schemeClr val="tx1"/>
                </a:solidFill>
                <a:latin typeface="+mj-lt"/>
              </a:defRPr>
            </a:lvl1pPr>
            <a:lvl2pPr marL="230188" indent="-230188">
              <a:spcBef>
                <a:spcPts val="0"/>
              </a:spcBef>
              <a:spcAft>
                <a:spcPts val="400"/>
              </a:spcAft>
              <a:buFont typeface="Arial" panose="020B0604020202020204" pitchFamily="34" charset="0"/>
              <a:buChar char="•"/>
              <a:tabLst/>
              <a:defRPr sz="1500">
                <a:solidFill>
                  <a:schemeClr val="tx1"/>
                </a:solidFill>
                <a:latin typeface="+mj-lt"/>
              </a:defRPr>
            </a:lvl2pPr>
            <a:lvl3pPr marL="460375" indent="-223838">
              <a:spcBef>
                <a:spcPts val="0"/>
              </a:spcBef>
              <a:spcAft>
                <a:spcPts val="400"/>
              </a:spcAft>
              <a:tabLst/>
              <a:defRPr sz="1500">
                <a:solidFill>
                  <a:schemeClr val="tx1"/>
                </a:solidFill>
                <a:latin typeface="+mj-lt"/>
              </a:defRPr>
            </a:lvl3pPr>
            <a:lvl4pPr marL="690563" indent="-230188">
              <a:spcBef>
                <a:spcPts val="0"/>
              </a:spcBef>
              <a:spcAft>
                <a:spcPts val="400"/>
              </a:spcAft>
              <a:tabLst/>
              <a:defRPr sz="1500">
                <a:solidFill>
                  <a:schemeClr val="tx1"/>
                </a:solidFill>
                <a:latin typeface="+mj-lt"/>
              </a:defRPr>
            </a:lvl4pPr>
            <a:lvl5pPr marL="914400" indent="-211138">
              <a:spcBef>
                <a:spcPts val="0"/>
              </a:spcBef>
              <a:spcAft>
                <a:spcPts val="400"/>
              </a:spcAft>
              <a:tabLst/>
              <a:defRPr sz="15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3346783488"/>
      </p:ext>
    </p:extLst>
  </p:cSld>
  <p:clrMapOvr>
    <a:overrideClrMapping bg1="lt1" tx1="dk1" bg2="lt2" tx2="dk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Case study detaile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0396F7-F256-7EC8-5CFA-5E28D456D666}"/>
              </a:ext>
            </a:extLst>
          </p:cNvPr>
          <p:cNvSpPr/>
          <p:nvPr userDrawn="1"/>
        </p:nvSpPr>
        <p:spPr>
          <a:xfrm>
            <a:off x="0" y="0"/>
            <a:ext cx="12192000" cy="12041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511BE63-AB7C-B671-C72A-EFE88271CA5D}"/>
              </a:ext>
            </a:extLst>
          </p:cNvPr>
          <p:cNvSpPr txBox="1"/>
          <p:nvPr userDrawn="1"/>
        </p:nvSpPr>
        <p:spPr>
          <a:xfrm>
            <a:off x="8955344" y="645799"/>
            <a:ext cx="2945230" cy="769441"/>
          </a:xfrm>
          <a:prstGeom prst="rect">
            <a:avLst/>
          </a:prstGeom>
          <a:noFill/>
        </p:spPr>
        <p:txBody>
          <a:bodyPr wrap="none" rtlCol="0">
            <a:spAutoFit/>
          </a:bodyPr>
          <a:lstStyle/>
          <a:p>
            <a:r>
              <a:rPr lang="en-US" sz="4400" dirty="0">
                <a:solidFill>
                  <a:schemeClr val="bg1"/>
                </a:solidFill>
                <a:latin typeface="+mj-lt"/>
              </a:rPr>
              <a:t>CASE STUDY</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Box 5">
            <a:extLst>
              <a:ext uri="{FF2B5EF4-FFF2-40B4-BE49-F238E27FC236}">
                <a16:creationId xmlns:a16="http://schemas.microsoft.com/office/drawing/2014/main" id="{1C0C95D7-21A9-CC2A-7CC1-81A26F21BCF3}"/>
              </a:ext>
            </a:extLst>
          </p:cNvPr>
          <p:cNvSpPr txBox="1"/>
          <p:nvPr userDrawn="1"/>
        </p:nvSpPr>
        <p:spPr>
          <a:xfrm>
            <a:off x="8766928" y="976213"/>
            <a:ext cx="3322063" cy="861774"/>
          </a:xfrm>
          <a:prstGeom prst="rect">
            <a:avLst/>
          </a:prstGeom>
          <a:noFill/>
        </p:spPr>
        <p:txBody>
          <a:bodyPr wrap="none" rtlCol="0">
            <a:spAutoFit/>
          </a:bodyPr>
          <a:lstStyle/>
          <a:p>
            <a:r>
              <a:rPr lang="en-US" sz="5000" dirty="0">
                <a:solidFill>
                  <a:schemeClr val="bg1"/>
                </a:solidFill>
                <a:latin typeface="+mj-lt"/>
              </a:rPr>
              <a:t>CASE STUDY</a:t>
            </a:r>
          </a:p>
        </p:txBody>
      </p:sp>
      <p:sp>
        <p:nvSpPr>
          <p:cNvPr id="10" name="Text Placeholder 9">
            <a:extLst>
              <a:ext uri="{FF2B5EF4-FFF2-40B4-BE49-F238E27FC236}">
                <a16:creationId xmlns:a16="http://schemas.microsoft.com/office/drawing/2014/main" id="{09F8A7F0-36A8-F7F8-93EA-B7D45AAAE0F1}"/>
              </a:ext>
            </a:extLst>
          </p:cNvPr>
          <p:cNvSpPr>
            <a:spLocks noGrp="1"/>
          </p:cNvSpPr>
          <p:nvPr>
            <p:ph type="body" sz="quarter" idx="10"/>
          </p:nvPr>
        </p:nvSpPr>
        <p:spPr>
          <a:xfrm>
            <a:off x="457200" y="315990"/>
            <a:ext cx="11524268" cy="558199"/>
          </a:xfrm>
        </p:spPr>
        <p:txBody>
          <a:bodyPr/>
          <a:lstStyle>
            <a:lvl1pPr marL="0" indent="0">
              <a:buNone/>
              <a:defRPr sz="3600"/>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27" name="Text Placeholder 26">
            <a:extLst>
              <a:ext uri="{FF2B5EF4-FFF2-40B4-BE49-F238E27FC236}">
                <a16:creationId xmlns:a16="http://schemas.microsoft.com/office/drawing/2014/main" id="{0341B144-3A4C-B95E-E40F-3D52D3981375}"/>
              </a:ext>
            </a:extLst>
          </p:cNvPr>
          <p:cNvSpPr>
            <a:spLocks noGrp="1"/>
          </p:cNvSpPr>
          <p:nvPr>
            <p:ph type="body" sz="quarter" idx="12"/>
          </p:nvPr>
        </p:nvSpPr>
        <p:spPr>
          <a:xfrm>
            <a:off x="457200" y="855549"/>
            <a:ext cx="8308975" cy="227798"/>
          </a:xfrm>
        </p:spPr>
        <p:txBody>
          <a:bodyPr/>
          <a:lstStyle>
            <a:lvl1pPr marL="0" indent="0">
              <a:buFontTx/>
              <a:buNone/>
              <a:defRPr sz="1600" b="1">
                <a:solidFill>
                  <a:schemeClr val="accent3"/>
                </a:solidFill>
                <a:latin typeface="+mn-lt"/>
              </a:defRPr>
            </a:lvl1pPr>
          </a:lstStyle>
          <a:p>
            <a:pPr lvl="0"/>
            <a:r>
              <a:rPr lang="en-US"/>
              <a:t>Click to edit Master text styles</a:t>
            </a:r>
          </a:p>
        </p:txBody>
      </p:sp>
      <p:sp>
        <p:nvSpPr>
          <p:cNvPr id="29" name="Text Placeholder 26">
            <a:extLst>
              <a:ext uri="{FF2B5EF4-FFF2-40B4-BE49-F238E27FC236}">
                <a16:creationId xmlns:a16="http://schemas.microsoft.com/office/drawing/2014/main" id="{85C16B2F-0E6E-4C9F-FDC9-5049DDE918B7}"/>
              </a:ext>
            </a:extLst>
          </p:cNvPr>
          <p:cNvSpPr>
            <a:spLocks noGrp="1"/>
          </p:cNvSpPr>
          <p:nvPr>
            <p:ph type="body" sz="quarter" idx="13" hasCustomPrompt="1"/>
          </p:nvPr>
        </p:nvSpPr>
        <p:spPr>
          <a:xfrm>
            <a:off x="457201" y="1570034"/>
            <a:ext cx="2201157" cy="282410"/>
          </a:xfrm>
        </p:spPr>
        <p:txBody>
          <a:bodyPr/>
          <a:lstStyle>
            <a:lvl1pPr marL="0" indent="0">
              <a:buFontTx/>
              <a:buNone/>
              <a:defRPr sz="1600" b="1">
                <a:solidFill>
                  <a:schemeClr val="accent3"/>
                </a:solidFill>
                <a:latin typeface="+mn-lt"/>
              </a:defRPr>
            </a:lvl1pPr>
          </a:lstStyle>
          <a:p>
            <a:pPr lvl="0"/>
            <a:r>
              <a:rPr lang="en-US" dirty="0"/>
              <a:t>Client</a:t>
            </a:r>
          </a:p>
        </p:txBody>
      </p:sp>
      <p:sp>
        <p:nvSpPr>
          <p:cNvPr id="32" name="Text Placeholder 31">
            <a:extLst>
              <a:ext uri="{FF2B5EF4-FFF2-40B4-BE49-F238E27FC236}">
                <a16:creationId xmlns:a16="http://schemas.microsoft.com/office/drawing/2014/main" id="{FD25BC01-6A2C-BC8A-CE0F-9CCBDA97A1D6}"/>
              </a:ext>
            </a:extLst>
          </p:cNvPr>
          <p:cNvSpPr>
            <a:spLocks noGrp="1"/>
          </p:cNvSpPr>
          <p:nvPr>
            <p:ph type="body" sz="quarter" idx="14" hasCustomPrompt="1"/>
          </p:nvPr>
        </p:nvSpPr>
        <p:spPr>
          <a:xfrm>
            <a:off x="461388" y="1924655"/>
            <a:ext cx="2196206" cy="1055065"/>
          </a:xfrm>
        </p:spPr>
        <p:txBody>
          <a:bodyPr/>
          <a:lstStyle>
            <a:lvl1pPr marL="0" indent="0">
              <a:buFontTx/>
              <a:buNone/>
              <a:defRPr lang="en-US" sz="1800" kern="1200" dirty="0" smtClean="0">
                <a:solidFill>
                  <a:srgbClr val="000000"/>
                </a:solidFill>
                <a:latin typeface="+mj-lt"/>
                <a:ea typeface="+mn-ea"/>
                <a:cs typeface="+mn-cs"/>
              </a:defRPr>
            </a:lvl1pPr>
            <a:lvl2pPr marL="290513" indent="0">
              <a:buFontTx/>
              <a:buNone/>
              <a:defRPr lang="en-US" sz="1800" kern="1200" dirty="0" smtClean="0">
                <a:solidFill>
                  <a:srgbClr val="000000"/>
                </a:solidFill>
                <a:latin typeface="+mj-lt"/>
                <a:ea typeface="+mn-ea"/>
                <a:cs typeface="+mn-cs"/>
              </a:defRPr>
            </a:lvl2pPr>
            <a:lvl3pPr marL="582613" indent="0">
              <a:buFontTx/>
              <a:buNone/>
              <a:defRPr lang="en-US" sz="1800" kern="1200" dirty="0" smtClean="0">
                <a:solidFill>
                  <a:srgbClr val="000000"/>
                </a:solidFill>
                <a:latin typeface="+mj-lt"/>
                <a:ea typeface="+mn-ea"/>
                <a:cs typeface="+mn-cs"/>
              </a:defRPr>
            </a:lvl3pPr>
            <a:lvl4pPr marL="855663" indent="0">
              <a:buFontTx/>
              <a:buNone/>
              <a:defRPr lang="en-US" sz="1800" kern="1200" dirty="0" smtClean="0">
                <a:solidFill>
                  <a:srgbClr val="000000"/>
                </a:solidFill>
                <a:latin typeface="+mj-lt"/>
                <a:ea typeface="+mn-ea"/>
                <a:cs typeface="+mn-cs"/>
              </a:defRPr>
            </a:lvl4pPr>
            <a:lvl5pPr marL="1100138" indent="0">
              <a:buFontTx/>
              <a:buNone/>
              <a:defRPr lang="en-US" sz="1800" kern="1200" dirty="0">
                <a:solidFill>
                  <a:srgbClr val="000000"/>
                </a:solidFill>
                <a:latin typeface="+mj-lt"/>
                <a:ea typeface="+mn-ea"/>
                <a:cs typeface="+mn-cs"/>
              </a:defRPr>
            </a:lvl5pPr>
          </a:lstStyle>
          <a:p>
            <a:pPr lvl="0"/>
            <a:r>
              <a:rPr lang="en-US" dirty="0"/>
              <a:t>Client industry intro description goes here on up to four lines of text content</a:t>
            </a:r>
          </a:p>
        </p:txBody>
      </p:sp>
      <p:sp>
        <p:nvSpPr>
          <p:cNvPr id="33" name="Text Placeholder 26">
            <a:extLst>
              <a:ext uri="{FF2B5EF4-FFF2-40B4-BE49-F238E27FC236}">
                <a16:creationId xmlns:a16="http://schemas.microsoft.com/office/drawing/2014/main" id="{702C7A7B-5BE8-27C7-C967-54B2501D1DD1}"/>
              </a:ext>
            </a:extLst>
          </p:cNvPr>
          <p:cNvSpPr>
            <a:spLocks noGrp="1"/>
          </p:cNvSpPr>
          <p:nvPr>
            <p:ph type="body" sz="quarter" idx="15" hasCustomPrompt="1"/>
          </p:nvPr>
        </p:nvSpPr>
        <p:spPr>
          <a:xfrm>
            <a:off x="457201" y="3151528"/>
            <a:ext cx="2201157" cy="282410"/>
          </a:xfrm>
        </p:spPr>
        <p:txBody>
          <a:bodyPr/>
          <a:lstStyle>
            <a:lvl1pPr marL="0" indent="0">
              <a:buFontTx/>
              <a:buNone/>
              <a:defRPr sz="1600" b="1">
                <a:solidFill>
                  <a:schemeClr val="accent3"/>
                </a:solidFill>
                <a:latin typeface="+mn-lt"/>
              </a:defRPr>
            </a:lvl1pPr>
          </a:lstStyle>
          <a:p>
            <a:pPr lvl="0"/>
            <a:r>
              <a:rPr lang="en-US" dirty="0"/>
              <a:t>Client challenges</a:t>
            </a:r>
          </a:p>
        </p:txBody>
      </p:sp>
      <p:sp>
        <p:nvSpPr>
          <p:cNvPr id="37" name="Text Placeholder 36">
            <a:extLst>
              <a:ext uri="{FF2B5EF4-FFF2-40B4-BE49-F238E27FC236}">
                <a16:creationId xmlns:a16="http://schemas.microsoft.com/office/drawing/2014/main" id="{C924DEDB-3EDF-E33C-EF76-4E02B7B6B8EF}"/>
              </a:ext>
            </a:extLst>
          </p:cNvPr>
          <p:cNvSpPr>
            <a:spLocks noGrp="1"/>
          </p:cNvSpPr>
          <p:nvPr>
            <p:ph type="body" sz="quarter" idx="16"/>
          </p:nvPr>
        </p:nvSpPr>
        <p:spPr>
          <a:xfrm>
            <a:off x="457201" y="3502135"/>
            <a:ext cx="2201157" cy="2598720"/>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3" name="Text Placeholder 26">
            <a:extLst>
              <a:ext uri="{FF2B5EF4-FFF2-40B4-BE49-F238E27FC236}">
                <a16:creationId xmlns:a16="http://schemas.microsoft.com/office/drawing/2014/main" id="{FDA3A212-8F30-D033-AB41-B7498539543D}"/>
              </a:ext>
            </a:extLst>
          </p:cNvPr>
          <p:cNvSpPr>
            <a:spLocks noGrp="1"/>
          </p:cNvSpPr>
          <p:nvPr>
            <p:ph type="body" sz="quarter" idx="17" hasCustomPrompt="1"/>
          </p:nvPr>
        </p:nvSpPr>
        <p:spPr>
          <a:xfrm>
            <a:off x="3054221" y="1570034"/>
            <a:ext cx="2414504" cy="282410"/>
          </a:xfrm>
        </p:spPr>
        <p:txBody>
          <a:bodyPr/>
          <a:lstStyle>
            <a:lvl1pPr marL="0" indent="0">
              <a:buFontTx/>
              <a:buNone/>
              <a:defRPr sz="1600" b="1">
                <a:solidFill>
                  <a:schemeClr val="accent3"/>
                </a:solidFill>
                <a:latin typeface="+mn-lt"/>
              </a:defRPr>
            </a:lvl1pPr>
          </a:lstStyle>
          <a:p>
            <a:pPr lvl="0"/>
            <a:r>
              <a:rPr lang="en-US" dirty="0"/>
              <a:t>Scope</a:t>
            </a:r>
          </a:p>
        </p:txBody>
      </p:sp>
      <p:sp>
        <p:nvSpPr>
          <p:cNvPr id="44" name="Text Placeholder 36">
            <a:extLst>
              <a:ext uri="{FF2B5EF4-FFF2-40B4-BE49-F238E27FC236}">
                <a16:creationId xmlns:a16="http://schemas.microsoft.com/office/drawing/2014/main" id="{A14E640B-FB32-E6A5-7E82-DDDAEC38172A}"/>
              </a:ext>
            </a:extLst>
          </p:cNvPr>
          <p:cNvSpPr>
            <a:spLocks noGrp="1"/>
          </p:cNvSpPr>
          <p:nvPr>
            <p:ph type="body" sz="quarter" idx="18"/>
          </p:nvPr>
        </p:nvSpPr>
        <p:spPr>
          <a:xfrm>
            <a:off x="3054221" y="1924656"/>
            <a:ext cx="5603600" cy="2363868"/>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6" name="Text Placeholder 26">
            <a:extLst>
              <a:ext uri="{FF2B5EF4-FFF2-40B4-BE49-F238E27FC236}">
                <a16:creationId xmlns:a16="http://schemas.microsoft.com/office/drawing/2014/main" id="{2841CF6B-CB34-C014-F54E-BC4F141F3BBE}"/>
              </a:ext>
            </a:extLst>
          </p:cNvPr>
          <p:cNvSpPr>
            <a:spLocks noGrp="1"/>
          </p:cNvSpPr>
          <p:nvPr>
            <p:ph type="body" sz="quarter" idx="19" hasCustomPrompt="1"/>
          </p:nvPr>
        </p:nvSpPr>
        <p:spPr>
          <a:xfrm>
            <a:off x="3054221" y="4427256"/>
            <a:ext cx="2414504" cy="282410"/>
          </a:xfrm>
        </p:spPr>
        <p:txBody>
          <a:bodyPr/>
          <a:lstStyle>
            <a:lvl1pPr marL="0" indent="0">
              <a:buFontTx/>
              <a:buNone/>
              <a:defRPr sz="1600" b="1">
                <a:solidFill>
                  <a:schemeClr val="accent3"/>
                </a:solidFill>
                <a:latin typeface="+mn-lt"/>
              </a:defRPr>
            </a:lvl1pPr>
          </a:lstStyle>
          <a:p>
            <a:pPr lvl="0"/>
            <a:r>
              <a:rPr lang="en-US" dirty="0"/>
              <a:t>EXL solution</a:t>
            </a:r>
          </a:p>
        </p:txBody>
      </p:sp>
      <p:sp>
        <p:nvSpPr>
          <p:cNvPr id="47" name="Text Placeholder 36">
            <a:extLst>
              <a:ext uri="{FF2B5EF4-FFF2-40B4-BE49-F238E27FC236}">
                <a16:creationId xmlns:a16="http://schemas.microsoft.com/office/drawing/2014/main" id="{78ADAF88-FA61-AF79-0470-D140F7AA2F72}"/>
              </a:ext>
            </a:extLst>
          </p:cNvPr>
          <p:cNvSpPr>
            <a:spLocks noGrp="1"/>
          </p:cNvSpPr>
          <p:nvPr>
            <p:ph type="body" sz="quarter" idx="20"/>
          </p:nvPr>
        </p:nvSpPr>
        <p:spPr>
          <a:xfrm>
            <a:off x="3054221" y="4790839"/>
            <a:ext cx="5603600" cy="1310016"/>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cxnSp>
        <p:nvCxnSpPr>
          <p:cNvPr id="48" name="Straight Connector 47">
            <a:extLst>
              <a:ext uri="{FF2B5EF4-FFF2-40B4-BE49-F238E27FC236}">
                <a16:creationId xmlns:a16="http://schemas.microsoft.com/office/drawing/2014/main" id="{E6F7A8F4-AED5-94AE-36B9-7758B5EC0DB7}"/>
              </a:ext>
            </a:extLst>
          </p:cNvPr>
          <p:cNvCxnSpPr>
            <a:cxnSpLocks/>
          </p:cNvCxnSpPr>
          <p:nvPr userDrawn="1"/>
        </p:nvCxnSpPr>
        <p:spPr>
          <a:xfrm>
            <a:off x="8804633" y="1569450"/>
            <a:ext cx="0" cy="456350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26">
            <a:extLst>
              <a:ext uri="{FF2B5EF4-FFF2-40B4-BE49-F238E27FC236}">
                <a16:creationId xmlns:a16="http://schemas.microsoft.com/office/drawing/2014/main" id="{DE3059AE-6A6C-9CE8-454D-9F278F9EC3A2}"/>
              </a:ext>
            </a:extLst>
          </p:cNvPr>
          <p:cNvSpPr>
            <a:spLocks noGrp="1"/>
          </p:cNvSpPr>
          <p:nvPr>
            <p:ph type="body" sz="quarter" idx="21" hasCustomPrompt="1"/>
          </p:nvPr>
        </p:nvSpPr>
        <p:spPr>
          <a:xfrm>
            <a:off x="9125145" y="1570034"/>
            <a:ext cx="2677207" cy="282410"/>
          </a:xfrm>
        </p:spPr>
        <p:txBody>
          <a:bodyPr/>
          <a:lstStyle>
            <a:lvl1pPr marL="0" indent="0">
              <a:buFontTx/>
              <a:buNone/>
              <a:defRPr sz="1600" b="1">
                <a:solidFill>
                  <a:schemeClr val="tx2"/>
                </a:solidFill>
                <a:latin typeface="+mn-lt"/>
              </a:defRPr>
            </a:lvl1pPr>
          </a:lstStyle>
          <a:p>
            <a:pPr lvl="0"/>
            <a:r>
              <a:rPr lang="en-US" dirty="0"/>
              <a:t>Results</a:t>
            </a:r>
          </a:p>
        </p:txBody>
      </p:sp>
      <p:sp>
        <p:nvSpPr>
          <p:cNvPr id="51" name="Text Placeholder 36">
            <a:extLst>
              <a:ext uri="{FF2B5EF4-FFF2-40B4-BE49-F238E27FC236}">
                <a16:creationId xmlns:a16="http://schemas.microsoft.com/office/drawing/2014/main" id="{BD35A55A-C259-3ABC-DCF1-FF10E661689D}"/>
              </a:ext>
            </a:extLst>
          </p:cNvPr>
          <p:cNvSpPr>
            <a:spLocks noGrp="1"/>
          </p:cNvSpPr>
          <p:nvPr>
            <p:ph type="body" sz="quarter" idx="22"/>
          </p:nvPr>
        </p:nvSpPr>
        <p:spPr>
          <a:xfrm>
            <a:off x="9125146" y="1924655"/>
            <a:ext cx="2677206" cy="3975653"/>
          </a:xfrm>
        </p:spPr>
        <p:txBody>
          <a:bodyPr/>
          <a:lstStyle>
            <a:lvl1pPr marL="112713" indent="-112713">
              <a:spcBef>
                <a:spcPts val="200"/>
              </a:spcBef>
              <a:spcAft>
                <a:spcPts val="200"/>
              </a:spcAft>
              <a:buClr>
                <a:schemeClr val="tx2"/>
              </a:buClr>
              <a:defRPr sz="1100">
                <a:solidFill>
                  <a:schemeClr val="tx2"/>
                </a:solidFill>
                <a:latin typeface="+mn-lt"/>
              </a:defRPr>
            </a:lvl1pPr>
          </a:lstStyle>
          <a:p>
            <a:pPr lvl="0"/>
            <a:r>
              <a:rPr lang="en-US"/>
              <a:t>Click to edit Master text styles</a:t>
            </a:r>
          </a:p>
        </p:txBody>
      </p:sp>
    </p:spTree>
    <p:extLst>
      <p:ext uri="{BB962C8B-B14F-4D97-AF65-F5344CB8AC3E}">
        <p14:creationId xmlns:p14="http://schemas.microsoft.com/office/powerpoint/2010/main" val="3544103569"/>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hart highlight">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184239"/>
            <a:ext cx="7300912" cy="4456113"/>
          </a:xfrm>
          <a:noFill/>
        </p:spPr>
        <p:txBody>
          <a:bodyPr anchor="ctr" anchorCtr="0"/>
          <a:lstStyle>
            <a:lvl1pPr marL="0" indent="0" algn="ctr">
              <a:buNone/>
              <a:defRPr sz="1600"/>
            </a:lvl1pPr>
          </a:lstStyle>
          <a:p>
            <a:pPr lvl="0"/>
            <a:r>
              <a:rPr lang="en-US" dirty="0"/>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184239"/>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Click to 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2933317"/>
            <a:ext cx="3667742" cy="1822983"/>
          </a:xfrm>
        </p:spPr>
        <p:txBody>
          <a:bodyPr>
            <a:noAutofit/>
          </a:bodyPr>
          <a:lstStyle>
            <a:lvl1pPr marL="0" indent="0">
              <a:spcBef>
                <a:spcPts val="0"/>
              </a:spcBef>
              <a:spcAft>
                <a:spcPts val="400"/>
              </a:spcAft>
              <a:buFontTx/>
              <a:buNone/>
              <a:tabLst/>
              <a:defRPr sz="2200">
                <a:solidFill>
                  <a:schemeClr val="tx1"/>
                </a:solidFill>
                <a:latin typeface="+mn-lt"/>
              </a:defRPr>
            </a:lvl1pPr>
            <a:lvl2pPr marL="460375" indent="-223838">
              <a:spcBef>
                <a:spcPts val="0"/>
              </a:spcBef>
              <a:spcAft>
                <a:spcPts val="400"/>
              </a:spcAft>
              <a:buClr>
                <a:schemeClr val="tx2"/>
              </a:buClr>
              <a:buFont typeface="Arial" panose="020B0604020202020204" pitchFamily="34" charset="0"/>
              <a:buChar char="•"/>
              <a:tabLst/>
              <a:defRPr sz="2000">
                <a:solidFill>
                  <a:schemeClr val="tx1"/>
                </a:solidFill>
                <a:latin typeface="+mj-lt"/>
              </a:defRPr>
            </a:lvl2pPr>
            <a:lvl3pPr marL="690563" indent="-223838">
              <a:spcBef>
                <a:spcPts val="0"/>
              </a:spcBef>
              <a:spcAft>
                <a:spcPts val="400"/>
              </a:spcAft>
              <a:tabLst/>
              <a:defRPr sz="2000">
                <a:solidFill>
                  <a:schemeClr val="tx1"/>
                </a:solidFill>
                <a:latin typeface="+mj-lt"/>
              </a:defRPr>
            </a:lvl3pPr>
            <a:lvl4pPr marL="914400" indent="-230188">
              <a:spcBef>
                <a:spcPts val="0"/>
              </a:spcBef>
              <a:spcAft>
                <a:spcPts val="400"/>
              </a:spcAft>
              <a:tabLst/>
              <a:defRPr sz="1800">
                <a:solidFill>
                  <a:schemeClr val="tx1"/>
                </a:solidFill>
                <a:latin typeface="+mj-lt"/>
              </a:defRPr>
            </a:lvl4pPr>
            <a:lvl5pPr marL="1144588" indent="-211138">
              <a:spcBef>
                <a:spcPts val="0"/>
              </a:spcBef>
              <a:spcAft>
                <a:spcPts val="400"/>
              </a:spcAft>
              <a:tabLst/>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BE405EF5-67A3-467C-B557-30C099F3F7D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3" name="TextBox 12">
            <a:extLst>
              <a:ext uri="{FF2B5EF4-FFF2-40B4-BE49-F238E27FC236}">
                <a16:creationId xmlns:a16="http://schemas.microsoft.com/office/drawing/2014/main" id="{F7E476FB-F1EB-4325-8567-72CD95BF0CAA}"/>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4148365640"/>
      </p:ext>
    </p:extLst>
  </p:cSld>
  <p:clrMapOvr>
    <a:overrideClrMapping bg1="lt1" tx1="dk1" bg2="lt2" tx2="dk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554610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3999117299"/>
      </p:ext>
    </p:extLst>
  </p:cSld>
  <p:clrMapOvr>
    <a:overrideClrMapping bg1="lt1" tx1="dk1" bg2="lt2" tx2="dk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act Slide Orange">
    <p:bg>
      <p:bgPr>
        <a:solidFill>
          <a:schemeClr val="bg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52143548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9" Type="http://schemas.openxmlformats.org/officeDocument/2006/relationships/slideLayout" Target="../slideLayouts/slideLayout68.xml"/><Relationship Id="rId21" Type="http://schemas.openxmlformats.org/officeDocument/2006/relationships/slideLayout" Target="../slideLayouts/slideLayout50.xml"/><Relationship Id="rId34" Type="http://schemas.openxmlformats.org/officeDocument/2006/relationships/slideLayout" Target="../slideLayouts/slideLayout63.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33" Type="http://schemas.openxmlformats.org/officeDocument/2006/relationships/slideLayout" Target="../slideLayouts/slideLayout62.xml"/><Relationship Id="rId38" Type="http://schemas.openxmlformats.org/officeDocument/2006/relationships/slideLayout" Target="../slideLayouts/slideLayout67.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slideLayout" Target="../slideLayouts/slideLayout61.xml"/><Relationship Id="rId37" Type="http://schemas.openxmlformats.org/officeDocument/2006/relationships/slideLayout" Target="../slideLayouts/slideLayout66.xml"/><Relationship Id="rId40" Type="http://schemas.openxmlformats.org/officeDocument/2006/relationships/theme" Target="../theme/theme2.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36" Type="http://schemas.openxmlformats.org/officeDocument/2006/relationships/slideLayout" Target="../slideLayouts/slideLayout65.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slideLayout" Target="../slideLayouts/slideLayout60.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slideLayout" Target="../slideLayouts/slideLayout59.xml"/><Relationship Id="rId35" Type="http://schemas.openxmlformats.org/officeDocument/2006/relationships/slideLayout" Target="../slideLayouts/slideLayout64.xml"/><Relationship Id="rId8" Type="http://schemas.openxmlformats.org/officeDocument/2006/relationships/slideLayout" Target="../slideLayouts/slideLayout37.xml"/><Relationship Id="rId3"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slideLayout" Target="../slideLayouts/slideLayout81.xml"/><Relationship Id="rId18" Type="http://schemas.openxmlformats.org/officeDocument/2006/relationships/slideLayout" Target="../slideLayouts/slideLayout86.xml"/><Relationship Id="rId26" Type="http://schemas.openxmlformats.org/officeDocument/2006/relationships/slideLayout" Target="../slideLayouts/slideLayout94.xml"/><Relationship Id="rId3" Type="http://schemas.openxmlformats.org/officeDocument/2006/relationships/slideLayout" Target="../slideLayouts/slideLayout71.xml"/><Relationship Id="rId21" Type="http://schemas.openxmlformats.org/officeDocument/2006/relationships/slideLayout" Target="../slideLayouts/slideLayout89.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5" Type="http://schemas.openxmlformats.org/officeDocument/2006/relationships/slideLayout" Target="../slideLayouts/slideLayout93.xml"/><Relationship Id="rId2" Type="http://schemas.openxmlformats.org/officeDocument/2006/relationships/slideLayout" Target="../slideLayouts/slideLayout70.xml"/><Relationship Id="rId16" Type="http://schemas.openxmlformats.org/officeDocument/2006/relationships/slideLayout" Target="../slideLayouts/slideLayout84.xml"/><Relationship Id="rId20" Type="http://schemas.openxmlformats.org/officeDocument/2006/relationships/slideLayout" Target="../slideLayouts/slideLayout88.xml"/><Relationship Id="rId29" Type="http://schemas.openxmlformats.org/officeDocument/2006/relationships/slideLayout" Target="../slideLayouts/slideLayout97.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24" Type="http://schemas.openxmlformats.org/officeDocument/2006/relationships/slideLayout" Target="../slideLayouts/slideLayout92.xml"/><Relationship Id="rId5" Type="http://schemas.openxmlformats.org/officeDocument/2006/relationships/slideLayout" Target="../slideLayouts/slideLayout73.xml"/><Relationship Id="rId15" Type="http://schemas.openxmlformats.org/officeDocument/2006/relationships/slideLayout" Target="../slideLayouts/slideLayout83.xml"/><Relationship Id="rId23" Type="http://schemas.openxmlformats.org/officeDocument/2006/relationships/slideLayout" Target="../slideLayouts/slideLayout91.xml"/><Relationship Id="rId28" Type="http://schemas.openxmlformats.org/officeDocument/2006/relationships/slideLayout" Target="../slideLayouts/slideLayout96.xml"/><Relationship Id="rId10" Type="http://schemas.openxmlformats.org/officeDocument/2006/relationships/slideLayout" Target="../slideLayouts/slideLayout78.xml"/><Relationship Id="rId19" Type="http://schemas.openxmlformats.org/officeDocument/2006/relationships/slideLayout" Target="../slideLayouts/slideLayout87.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slideLayout" Target="../slideLayouts/slideLayout82.xml"/><Relationship Id="rId22" Type="http://schemas.openxmlformats.org/officeDocument/2006/relationships/slideLayout" Target="../slideLayouts/slideLayout90.xml"/><Relationship Id="rId27" Type="http://schemas.openxmlformats.org/officeDocument/2006/relationships/slideLayout" Target="../slideLayouts/slideLayout95.xml"/><Relationship Id="rId30"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0CCCACD6-8279-7A43-AFDE-A51255A0F160}" type="datetime1">
              <a:rPr lang="en-US" smtClean="0"/>
              <a:t>3/25/2025</a:t>
            </a:fld>
            <a:endParaRPr lang="en-US"/>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r>
              <a:rPr lang="en-US"/>
              <a:t>©2025 ExlService Holdings, Inc. All rights reserved.</a:t>
            </a:r>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CCA08CA8-4222-D24F-ACDB-33341C247B6F}" type="slidenum">
              <a:rPr lang="en-US" smtClean="0"/>
              <a:pPr/>
              <a:t>‹#›</a:t>
            </a:fld>
            <a:endParaRPr lang="en-US"/>
          </a:p>
        </p:txBody>
      </p:sp>
    </p:spTree>
    <p:extLst>
      <p:ext uri="{BB962C8B-B14F-4D97-AF65-F5344CB8AC3E}">
        <p14:creationId xmlns:p14="http://schemas.microsoft.com/office/powerpoint/2010/main" val="30070786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pos="7392">
          <p15:clr>
            <a:srgbClr val="F26B43"/>
          </p15:clr>
        </p15:guide>
        <p15:guide id="5" orient="horz" pos="4128">
          <p15:clr>
            <a:srgbClr val="F26B43"/>
          </p15:clr>
        </p15:guide>
        <p15:guide id="6" orient="horz" pos="2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0CCCACD6-8279-7A43-AFDE-A51255A0F160}" type="datetime1">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3/25/2025</a:t>
            </a:fld>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491471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711" r:id="rId21"/>
    <p:sldLayoutId id="2147483712" r:id="rId22"/>
    <p:sldLayoutId id="2147483713" r:id="rId23"/>
    <p:sldLayoutId id="2147483714" r:id="rId24"/>
    <p:sldLayoutId id="2147483715" r:id="rId25"/>
    <p:sldLayoutId id="2147483716" r:id="rId26"/>
    <p:sldLayoutId id="2147483717" r:id="rId27"/>
    <p:sldLayoutId id="2147483718" r:id="rId28"/>
    <p:sldLayoutId id="2147483719" r:id="rId29"/>
    <p:sldLayoutId id="2147483720" r:id="rId30"/>
    <p:sldLayoutId id="2147483721" r:id="rId31"/>
    <p:sldLayoutId id="2147483722" r:id="rId32"/>
    <p:sldLayoutId id="2147483723" r:id="rId33"/>
    <p:sldLayoutId id="2147483724" r:id="rId34"/>
    <p:sldLayoutId id="2147483725" r:id="rId35"/>
    <p:sldLayoutId id="2147483726" r:id="rId36"/>
    <p:sldLayoutId id="2147483727" r:id="rId37"/>
    <p:sldLayoutId id="2147483728" r:id="rId38"/>
    <p:sldLayoutId id="2147483729" r:id="rId39"/>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1"/>
        </a:buClr>
        <a:buFont typeface="System Font Regular"/>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pos="7392">
          <p15:clr>
            <a:srgbClr val="F26B43"/>
          </p15:clr>
        </p15:guide>
        <p15:guide id="5" orient="horz" pos="4128">
          <p15:clr>
            <a:srgbClr val="F26B43"/>
          </p15:clr>
        </p15:guide>
        <p15:guide id="6" orient="horz" pos="2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0CCCACD6-8279-7A43-AFDE-A51255A0F160}" type="datetime1">
              <a:rPr lang="en-US" smtClean="0"/>
              <a:t>3/25/2025</a:t>
            </a:fld>
            <a:endParaRPr lang="en-US" dirty="0"/>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r>
              <a:rPr lang="en-US" dirty="0"/>
              <a:t>©2024 ExlService Holdings, Inc. All rights reserved.</a:t>
            </a:r>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CCA08CA8-4222-D24F-ACDB-33341C247B6F}" type="slidenum">
              <a:rPr lang="en-US" smtClean="0"/>
              <a:pPr/>
              <a:t>‹#›</a:t>
            </a:fld>
            <a:endParaRPr lang="en-US"/>
          </a:p>
        </p:txBody>
      </p:sp>
    </p:spTree>
    <p:extLst>
      <p:ext uri="{BB962C8B-B14F-4D97-AF65-F5344CB8AC3E}">
        <p14:creationId xmlns:p14="http://schemas.microsoft.com/office/powerpoint/2010/main" val="4273591175"/>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 id="2147483753" r:id="rId23"/>
    <p:sldLayoutId id="2147483754" r:id="rId24"/>
    <p:sldLayoutId id="2147483755" r:id="rId25"/>
    <p:sldLayoutId id="2147483756" r:id="rId26"/>
    <p:sldLayoutId id="2147483757" r:id="rId27"/>
    <p:sldLayoutId id="2147483758" r:id="rId28"/>
    <p:sldLayoutId id="2147483759" r:id="rId29"/>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pos="7392">
          <p15:clr>
            <a:srgbClr val="F26B43"/>
          </p15:clr>
        </p15:guide>
        <p15:guide id="5" orient="horz" pos="4128">
          <p15:clr>
            <a:srgbClr val="F26B43"/>
          </p15:clr>
        </p15:guide>
        <p15:guide id="6" orient="horz" pos="2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4.xml"/></Relationships>
</file>

<file path=ppt/slides/_rels/slide3.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hyperlink" Target="https://www.infinx.com/prior-authorization-solution-ai-and-automation/" TargetMode="External"/><Relationship Id="rId7" Type="http://schemas.openxmlformats.org/officeDocument/2006/relationships/hyperlink" Target="https://themedicalpractice.com/tools/best-prior-authorization-software/#other-tools" TargetMode="External"/><Relationship Id="rId2" Type="http://schemas.openxmlformats.org/officeDocument/2006/relationships/notesSlide" Target="../notesSlides/notesSlide2.xml"/><Relationship Id="rId1" Type="http://schemas.openxmlformats.org/officeDocument/2006/relationships/slideLayout" Target="../slideLayouts/slideLayout54.xml"/><Relationship Id="rId6" Type="http://schemas.openxmlformats.org/officeDocument/2006/relationships/hyperlink" Target="https://www.availity.com/wp-content/uploads/2024/05/Authorization_Whitepaper.pdf" TargetMode="External"/><Relationship Id="rId11" Type="http://schemas.openxmlformats.org/officeDocument/2006/relationships/image" Target="../media/image11.jpeg"/><Relationship Id="rId5" Type="http://schemas.openxmlformats.org/officeDocument/2006/relationships/hyperlink" Target="https://www.availity.com/authai/" TargetMode="External"/><Relationship Id="rId10" Type="http://schemas.openxmlformats.org/officeDocument/2006/relationships/image" Target="../media/image10.jpeg"/><Relationship Id="rId4" Type="http://schemas.openxmlformats.org/officeDocument/2006/relationships/hyperlink" Target="https://www.waystar.com/our-platform/financial-clearance/authorizations/" TargetMode="External"/><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54.xml"/><Relationship Id="rId5" Type="http://schemas.openxmlformats.org/officeDocument/2006/relationships/image" Target="../media/image15.sv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14.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D4C67-A73C-7681-649B-9E7856012365}"/>
              </a:ext>
            </a:extLst>
          </p:cNvPr>
          <p:cNvSpPr>
            <a:spLocks noGrp="1"/>
          </p:cNvSpPr>
          <p:nvPr>
            <p:ph type="ctrTitle"/>
          </p:nvPr>
        </p:nvSpPr>
        <p:spPr/>
        <p:txBody>
          <a:bodyPr/>
          <a:lstStyle/>
          <a:p>
            <a:r>
              <a:rPr lang="en-US" b="1" dirty="0"/>
              <a:t>Utilization Management Solution Proposal</a:t>
            </a:r>
          </a:p>
        </p:txBody>
      </p:sp>
      <p:sp>
        <p:nvSpPr>
          <p:cNvPr id="3" name="Text Placeholder 2">
            <a:extLst>
              <a:ext uri="{FF2B5EF4-FFF2-40B4-BE49-F238E27FC236}">
                <a16:creationId xmlns:a16="http://schemas.microsoft.com/office/drawing/2014/main" id="{3E0D9560-A610-22E0-A2C0-9C33B5A9C95D}"/>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206380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978E906-5073-89E6-17FA-CDCBB3E6C06E}"/>
              </a:ext>
            </a:extLst>
          </p:cNvPr>
          <p:cNvSpPr>
            <a:spLocks noGrp="1"/>
          </p:cNvSpPr>
          <p:nvPr>
            <p:ph type="ctrTitle"/>
          </p:nvPr>
        </p:nvSpPr>
        <p:spPr/>
        <p:txBody>
          <a:bodyPr>
            <a:normAutofit/>
          </a:bodyPr>
          <a:lstStyle/>
          <a:p>
            <a:r>
              <a:rPr lang="en-US" sz="3200" b="1" dirty="0">
                <a:solidFill>
                  <a:srgbClr val="FF4E0B"/>
                </a:solidFill>
              </a:rPr>
              <a:t>Project –</a:t>
            </a:r>
            <a:r>
              <a:rPr kumimoji="0" lang="en-US" sz="3200" b="1" i="0" u="none" strike="noStrike" kern="1200" cap="none" spc="0" normalizeH="0" baseline="0" noProof="0" dirty="0">
                <a:ln>
                  <a:noFill/>
                </a:ln>
                <a:solidFill>
                  <a:srgbClr val="FF4E0B"/>
                </a:solidFill>
                <a:effectLst/>
                <a:uLnTx/>
                <a:uFillTx/>
                <a:ea typeface="+mj-ea"/>
                <a:cs typeface="+mj-cs"/>
              </a:rPr>
              <a:t> </a:t>
            </a:r>
            <a:r>
              <a:rPr lang="en-US" sz="3200" b="1" dirty="0">
                <a:solidFill>
                  <a:srgbClr val="FF4E0B"/>
                </a:solidFill>
              </a:rPr>
              <a:t>Utilization and Case Management AI Automation </a:t>
            </a:r>
          </a:p>
        </p:txBody>
      </p:sp>
      <p:sp>
        <p:nvSpPr>
          <p:cNvPr id="5" name="Content Placeholder 2">
            <a:extLst>
              <a:ext uri="{FF2B5EF4-FFF2-40B4-BE49-F238E27FC236}">
                <a16:creationId xmlns:a16="http://schemas.microsoft.com/office/drawing/2014/main" id="{CFC846CF-2649-3780-7FE2-838245DF6F63}"/>
              </a:ext>
            </a:extLst>
          </p:cNvPr>
          <p:cNvSpPr txBox="1">
            <a:spLocks/>
          </p:cNvSpPr>
          <p:nvPr/>
        </p:nvSpPr>
        <p:spPr>
          <a:xfrm>
            <a:off x="460256" y="914613"/>
            <a:ext cx="11271488" cy="909485"/>
          </a:xfrm>
          <a:prstGeom prst="rect">
            <a:avLst/>
          </a:prstGeom>
        </p:spPr>
        <p:txBody>
          <a:bodyPr>
            <a:normAutofit/>
          </a:bodyPr>
          <a:lst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FB4D0A"/>
              </a:buClr>
              <a:buSzTx/>
              <a:buFont typeface="Arial" panose="020B0604020202020204" pitchFamily="34" charset="0"/>
              <a:buNone/>
              <a:tabLst/>
              <a:defRPr/>
            </a:pPr>
            <a:r>
              <a:rPr kumimoji="0" lang="en-US" sz="1600" b="1" i="0" u="none" strike="noStrike" kern="1200" cap="none" spc="0" normalizeH="0" baseline="0" noProof="0" dirty="0">
                <a:ln>
                  <a:noFill/>
                </a:ln>
                <a:solidFill>
                  <a:srgbClr val="000000"/>
                </a:solidFill>
                <a:effectLst/>
                <a:uLnTx/>
                <a:uFillTx/>
                <a:latin typeface="Calibri Light" panose="020F0302020204030204"/>
                <a:ea typeface="+mn-ea"/>
                <a:cs typeface="+mn-cs"/>
              </a:rPr>
              <a:t>Objective: </a:t>
            </a:r>
            <a:r>
              <a:rPr kumimoji="0" lang="en-US" sz="1200" b="0" i="0" u="none" strike="noStrike" kern="1200" cap="none" spc="0" normalizeH="0" baseline="0" noProof="0" dirty="0">
                <a:ln>
                  <a:noFill/>
                </a:ln>
                <a:solidFill>
                  <a:srgbClr val="000000"/>
                </a:solidFill>
                <a:effectLst/>
                <a:uLnTx/>
                <a:uFillTx/>
                <a:latin typeface="Calibri Light" panose="020F0302020204030204"/>
                <a:ea typeface="+mn-ea"/>
                <a:cs typeface="Calibri Light" panose="020F0302020204030204" pitchFamily="34" charset="0"/>
              </a:rPr>
              <a:t>Develop and deploy an AI-powered automation platform designed to revolutionize utilization and case management for healthcare payers.</a:t>
            </a:r>
            <a:br>
              <a:rPr kumimoji="0" lang="en-US" sz="1200" b="0" i="0" u="none" strike="noStrike" kern="1200" cap="none" spc="0" normalizeH="0" baseline="0" noProof="0" dirty="0">
                <a:ln>
                  <a:noFill/>
                </a:ln>
                <a:solidFill>
                  <a:srgbClr val="000000"/>
                </a:solidFill>
                <a:effectLst/>
                <a:uLnTx/>
                <a:uFillTx/>
                <a:latin typeface="Calibri Light" panose="020F0302020204030204"/>
                <a:ea typeface="+mn-ea"/>
                <a:cs typeface="Calibri Light" panose="020F0302020204030204" pitchFamily="34" charset="0"/>
              </a:rPr>
            </a:br>
            <a:r>
              <a:rPr kumimoji="0" lang="en-US" sz="1200" b="0" i="0" u="none" strike="noStrike" kern="1200" cap="none" spc="0" normalizeH="0" baseline="0" noProof="0" dirty="0">
                <a:ln>
                  <a:noFill/>
                </a:ln>
                <a:solidFill>
                  <a:srgbClr val="000000"/>
                </a:solidFill>
                <a:effectLst/>
                <a:uLnTx/>
                <a:uFillTx/>
                <a:latin typeface="Calibri Light" panose="020F0302020204030204"/>
                <a:ea typeface="+mn-ea"/>
                <a:cs typeface="Calibri Light" panose="020F0302020204030204" pitchFamily="34" charset="0"/>
              </a:rPr>
              <a:t>This cutting-edge solution will leverage Generative AI, machine learning, and natural language processing (NLP) to streamline case identification, tracking, and management. By automating routine tasks, predicting case outcomes, and optimizing resource allocation, the platform will empower healthcare organizations to improve decision-making, enhance operational efficiency, and significantly reduce medical costs </a:t>
            </a:r>
          </a:p>
        </p:txBody>
      </p:sp>
      <p:sp>
        <p:nvSpPr>
          <p:cNvPr id="6" name="TextBox 5">
            <a:extLst>
              <a:ext uri="{FF2B5EF4-FFF2-40B4-BE49-F238E27FC236}">
                <a16:creationId xmlns:a16="http://schemas.microsoft.com/office/drawing/2014/main" id="{854725D6-42BE-0F8C-31E4-13A5B020DF5D}"/>
              </a:ext>
            </a:extLst>
          </p:cNvPr>
          <p:cNvSpPr txBox="1"/>
          <p:nvPr/>
        </p:nvSpPr>
        <p:spPr>
          <a:xfrm>
            <a:off x="457200" y="1862663"/>
            <a:ext cx="5317728" cy="5565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Light" panose="020F0302020204030204"/>
                <a:ea typeface="Calibri Light" panose="020F0302020204030204" pitchFamily="34" charset="0"/>
                <a:cs typeface="Calibri Light" panose="020F0302020204030204" pitchFamily="34" charset="0"/>
              </a:rPr>
              <a:t>In Scope:</a:t>
            </a:r>
          </a:p>
          <a:p>
            <a:pPr marL="285750" marR="0" lvl="0" indent="-28575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Calibri Light" panose="020F0302020204030204"/>
                <a:ea typeface="Calibri Light" panose="020F0302020204030204" pitchFamily="34" charset="0"/>
                <a:cs typeface="Calibri Light" panose="020F0302020204030204" pitchFamily="34" charset="0"/>
              </a:rPr>
              <a:t>All UM and CM cases that are handled by EXL Clinical Operations team</a:t>
            </a:r>
          </a:p>
        </p:txBody>
      </p:sp>
      <p:sp>
        <p:nvSpPr>
          <p:cNvPr id="8" name="Content Placeholder 2">
            <a:extLst>
              <a:ext uri="{FF2B5EF4-FFF2-40B4-BE49-F238E27FC236}">
                <a16:creationId xmlns:a16="http://schemas.microsoft.com/office/drawing/2014/main" id="{7AD7A540-37C2-C463-3705-E3F9170E006E}"/>
              </a:ext>
            </a:extLst>
          </p:cNvPr>
          <p:cNvSpPr txBox="1">
            <a:spLocks/>
          </p:cNvSpPr>
          <p:nvPr/>
        </p:nvSpPr>
        <p:spPr>
          <a:xfrm>
            <a:off x="457200" y="2481298"/>
            <a:ext cx="5683909" cy="25099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0000"/>
                </a:solidFill>
                <a:effectLst/>
                <a:uLnTx/>
                <a:uFillTx/>
                <a:latin typeface="Calibri Light" panose="020F0302020204030204"/>
                <a:ea typeface="Calibri Light" panose="020F0302020204030204" pitchFamily="34" charset="0"/>
                <a:cs typeface="Calibri Light" panose="020F0302020204030204" pitchFamily="34" charset="0"/>
              </a:rPr>
              <a:t>Project Milestones (KPI): </a:t>
            </a:r>
          </a:p>
          <a:p>
            <a:pPr marL="228600" marR="0" lvl="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Calibri Light" panose="020F0302020204030204"/>
                <a:ea typeface="Calibri Light" panose="020F0302020204030204" pitchFamily="34" charset="0"/>
                <a:cs typeface="Calibri Light" panose="020F0302020204030204" pitchFamily="34" charset="0"/>
              </a:rPr>
              <a:t>MS 1: </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Calibri Light" panose="020F0302020204030204" pitchFamily="34" charset="0"/>
              </a:rPr>
              <a:t>Finalize the project scope, objectives, and technical feasibility. Get approval          from stakeholders to move forward. (Week 4)</a:t>
            </a:r>
          </a:p>
          <a:p>
            <a:pPr marL="228600" marR="0" lvl="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Calibri Light" panose="020F0302020204030204"/>
                <a:ea typeface="Calibri Light" panose="020F0302020204030204" pitchFamily="34" charset="0"/>
                <a:cs typeface="Calibri Light" panose="020F0302020204030204" pitchFamily="34" charset="0"/>
              </a:rPr>
              <a:t>MS 2: </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Calibri Light" panose="020F0302020204030204" pitchFamily="34" charset="0"/>
              </a:rPr>
              <a:t>Complete the first iteration of machine learning models for utilization reviews and case prioritization, ready for testing and validation. Complete the integration of NLP algorithms for extracting patient data from EHRs, NPL ready for testing within the existing systems. (Week 12)</a:t>
            </a:r>
          </a:p>
          <a:p>
            <a:pPr marL="228600" marR="0" lvl="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Calibri Light" panose="020F0302020204030204"/>
                <a:ea typeface="Calibri Light" panose="020F0302020204030204" pitchFamily="34" charset="0"/>
                <a:cs typeface="Calibri Light" panose="020F0302020204030204" pitchFamily="34" charset="0"/>
              </a:rPr>
              <a:t>MS 3: </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Calibri Light" panose="020F0302020204030204" pitchFamily="34" charset="0"/>
              </a:rPr>
              <a:t>Complete the integration of all AI, ML, and NLP components into the existing case management system, followed by pilot testing and user feedback collection. (Week 16)</a:t>
            </a:r>
          </a:p>
          <a:p>
            <a:pPr marL="228600" marR="0" lvl="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Calibri Light" panose="020F0302020204030204"/>
                <a:ea typeface="+mn-ea"/>
                <a:cs typeface="Calibri Light" panose="020F0302020204030204" pitchFamily="34" charset="0"/>
              </a:rPr>
              <a:t>MS 4</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Calibri Light" panose="020F0302020204030204" pitchFamily="34" charset="0"/>
              </a:rPr>
              <a:t>: Deploy the fully integrated system and conduct a post-deployment review for any necessary adjustments or improvements. (Week 20)</a:t>
            </a:r>
          </a:p>
        </p:txBody>
      </p:sp>
      <p:sp>
        <p:nvSpPr>
          <p:cNvPr id="10" name="Content Placeholder 2">
            <a:extLst>
              <a:ext uri="{FF2B5EF4-FFF2-40B4-BE49-F238E27FC236}">
                <a16:creationId xmlns:a16="http://schemas.microsoft.com/office/drawing/2014/main" id="{13793AAF-08E0-F9D7-3114-6F2CD312D68F}"/>
              </a:ext>
            </a:extLst>
          </p:cNvPr>
          <p:cNvSpPr txBox="1">
            <a:spLocks/>
          </p:cNvSpPr>
          <p:nvPr/>
        </p:nvSpPr>
        <p:spPr>
          <a:xfrm>
            <a:off x="457200" y="4991214"/>
            <a:ext cx="5754608" cy="15498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0000"/>
                </a:solidFill>
                <a:effectLst/>
                <a:uLnTx/>
                <a:uFillTx/>
                <a:latin typeface="Calibri Light" panose="020F0302020204030204"/>
                <a:ea typeface="Calibri Light" panose="020F0302020204030204" pitchFamily="34" charset="0"/>
                <a:cs typeface="Calibri Light" panose="020F0302020204030204" pitchFamily="34" charset="0"/>
              </a:rPr>
              <a:t>Project Risks: </a:t>
            </a:r>
          </a:p>
          <a:p>
            <a:pPr marL="228600" marR="0" lvl="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Calibri Light" panose="020F0302020204030204"/>
                <a:ea typeface="Calibri Light" panose="020F0302020204030204" pitchFamily="34" charset="0"/>
                <a:cs typeface="Calibri Light" panose="020F0302020204030204" pitchFamily="34" charset="0"/>
              </a:rPr>
              <a:t>Risk 1: </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Calibri Light" panose="020F0302020204030204" pitchFamily="34" charset="0"/>
              </a:rPr>
              <a:t>Inaccurate AI predictions or algorithms due to data sufficiency and process knowledge </a:t>
            </a:r>
          </a:p>
          <a:p>
            <a:pPr marL="228600" marR="0" lvl="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Calibri Light" panose="020F0302020204030204"/>
                <a:ea typeface="Calibri Light" panose="020F0302020204030204" pitchFamily="34" charset="0"/>
                <a:cs typeface="Calibri Light" panose="020F0302020204030204" pitchFamily="34" charset="0"/>
              </a:rPr>
              <a:t>Risk 2:</a:t>
            </a:r>
            <a:r>
              <a:rPr kumimoji="0" lang="en-US" sz="1200" b="0" i="0" u="none" strike="noStrike" kern="1200" cap="none" spc="0" normalizeH="0" baseline="0" noProof="0" dirty="0">
                <a:ln>
                  <a:noFill/>
                </a:ln>
                <a:solidFill>
                  <a:prstClr val="black"/>
                </a:solidFill>
                <a:effectLst/>
                <a:uLnTx/>
                <a:uFillTx/>
                <a:latin typeface="Calibri Light" panose="020F0302020204030204"/>
                <a:ea typeface="Calibri Light" panose="020F0302020204030204" pitchFamily="34" charset="0"/>
                <a:cs typeface="Calibri Light" panose="020F0302020204030204" pitchFamily="34" charset="0"/>
              </a:rPr>
              <a:t> </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Calibri Light" panose="020F0302020204030204" pitchFamily="34" charset="0"/>
              </a:rPr>
              <a:t>Delays in project timeline due to unforeseen technical challenges or resource shortages</a:t>
            </a:r>
          </a:p>
          <a:p>
            <a:pPr marL="228600" marR="0" lvl="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Calibri Light" panose="020F0302020204030204"/>
                <a:ea typeface="Calibri Light" panose="020F0302020204030204" pitchFamily="34" charset="0"/>
                <a:cs typeface="Calibri Light" panose="020F0302020204030204" pitchFamily="34" charset="0"/>
              </a:rPr>
              <a:t>Risk 3</a:t>
            </a: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Calibri Light" panose="020F0302020204030204" pitchFamily="34" charset="0"/>
              </a:rPr>
              <a:t>:Changes in data privacy regulations that affect the development or deployment of AI systems</a:t>
            </a:r>
          </a:p>
        </p:txBody>
      </p:sp>
      <p:sp>
        <p:nvSpPr>
          <p:cNvPr id="12" name="TextBox 11">
            <a:extLst>
              <a:ext uri="{FF2B5EF4-FFF2-40B4-BE49-F238E27FC236}">
                <a16:creationId xmlns:a16="http://schemas.microsoft.com/office/drawing/2014/main" id="{9909DD32-733A-57F3-C869-26B432048C51}"/>
              </a:ext>
            </a:extLst>
          </p:cNvPr>
          <p:cNvSpPr txBox="1"/>
          <p:nvPr/>
        </p:nvSpPr>
        <p:spPr>
          <a:xfrm>
            <a:off x="6410960" y="1862663"/>
            <a:ext cx="5317728" cy="120289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Light" panose="020F0302020204030204"/>
                <a:ea typeface="Calibri Light" panose="020F0302020204030204" pitchFamily="34" charset="0"/>
                <a:cs typeface="Calibri Light" panose="020F0302020204030204" pitchFamily="34" charset="0"/>
              </a:rPr>
              <a:t>Out of Scope:</a:t>
            </a:r>
          </a:p>
          <a:p>
            <a:pPr marL="285750" marR="0" lvl="0" indent="-28575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Calibri Light" panose="020F0302020204030204"/>
                <a:ea typeface="+mn-ea"/>
                <a:cs typeface="Calibri Light" panose="020F0302020204030204" pitchFamily="34" charset="0"/>
              </a:rPr>
              <a:t>Non-AI-Driven Process Improvement: Any manual process improvements not directly related to AI implementation (e.g., staffing changes, non-automation-related software upgrades etc.)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Light" panose="020F0302020204030204"/>
              <a:ea typeface="Calibri Light" panose="020F0302020204030204" pitchFamily="34" charset="0"/>
              <a:cs typeface="Calibri Light" panose="020F0302020204030204" pitchFamily="34" charset="0"/>
            </a:endParaRPr>
          </a:p>
        </p:txBody>
      </p:sp>
      <p:sp>
        <p:nvSpPr>
          <p:cNvPr id="14" name="Content Placeholder 2">
            <a:extLst>
              <a:ext uri="{FF2B5EF4-FFF2-40B4-BE49-F238E27FC236}">
                <a16:creationId xmlns:a16="http://schemas.microsoft.com/office/drawing/2014/main" id="{05485F0A-2704-28C1-6F7C-3C2666FECDB9}"/>
              </a:ext>
            </a:extLst>
          </p:cNvPr>
          <p:cNvSpPr txBox="1">
            <a:spLocks/>
          </p:cNvSpPr>
          <p:nvPr/>
        </p:nvSpPr>
        <p:spPr>
          <a:xfrm>
            <a:off x="6410960" y="2844438"/>
            <a:ext cx="5317728" cy="3502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0000"/>
                </a:solidFill>
                <a:effectLst/>
                <a:uLnTx/>
                <a:uFillTx/>
                <a:latin typeface="Calibri Light" panose="020F0302020204030204"/>
                <a:ea typeface="Calibri Light" panose="020F0302020204030204" pitchFamily="34" charset="0"/>
                <a:cs typeface="Calibri Light" panose="020F0302020204030204" pitchFamily="34" charset="0"/>
              </a:rPr>
              <a:t>Project Stakeholders (RACI matrix):</a:t>
            </a:r>
          </a:p>
        </p:txBody>
      </p:sp>
      <p:sp>
        <p:nvSpPr>
          <p:cNvPr id="15" name="Content Placeholder 2">
            <a:extLst>
              <a:ext uri="{FF2B5EF4-FFF2-40B4-BE49-F238E27FC236}">
                <a16:creationId xmlns:a16="http://schemas.microsoft.com/office/drawing/2014/main" id="{15ADD865-63BD-CED2-41AC-C62221B2747A}"/>
              </a:ext>
            </a:extLst>
          </p:cNvPr>
          <p:cNvSpPr txBox="1">
            <a:spLocks/>
          </p:cNvSpPr>
          <p:nvPr/>
        </p:nvSpPr>
        <p:spPr>
          <a:xfrm>
            <a:off x="6476179" y="4887941"/>
            <a:ext cx="4917440" cy="14291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0000"/>
                </a:solidFill>
                <a:effectLst/>
                <a:uLnTx/>
                <a:uFillTx/>
                <a:latin typeface="Calibri Light" panose="020F0302020204030204"/>
                <a:ea typeface="Calibri Light" panose="020F0302020204030204" pitchFamily="34" charset="0"/>
                <a:cs typeface="Calibri Light" panose="020F0302020204030204" pitchFamily="34" charset="0"/>
              </a:rPr>
              <a:t>Risk Mitigation Plan: </a:t>
            </a:r>
          </a:p>
          <a:p>
            <a:pPr marL="342900" marR="0" lvl="0" indent="-342900" algn="l" defTabSz="914400" rtl="0" eaLnBrk="1" fontAlgn="auto" latinLnBrk="0" hangingPunct="1">
              <a:lnSpc>
                <a:spcPct val="90000"/>
              </a:lnSpc>
              <a:spcBef>
                <a:spcPts val="500"/>
              </a:spcBef>
              <a:spcAft>
                <a:spcPts val="0"/>
              </a:spcAft>
              <a:buClrTx/>
              <a:buSzTx/>
              <a:buFont typeface="+mj-lt"/>
              <a:buAutoNum type="arabicPeriod"/>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Calibri Light" panose="020F0302020204030204" pitchFamily="34" charset="0"/>
              </a:rPr>
              <a:t>Use an iterative approach for model development, conducting frequent testing and validation with real-world data and conduct thorough pre-implementation assessments to identify integration challenges.</a:t>
            </a:r>
          </a:p>
          <a:p>
            <a:pPr marL="342900" marR="0" lvl="0" indent="-342900" algn="l" defTabSz="914400" rtl="0" eaLnBrk="1" fontAlgn="auto" latinLnBrk="0" hangingPunct="1">
              <a:lnSpc>
                <a:spcPct val="90000"/>
              </a:lnSpc>
              <a:spcBef>
                <a:spcPts val="500"/>
              </a:spcBef>
              <a:spcAft>
                <a:spcPts val="0"/>
              </a:spcAft>
              <a:buClrTx/>
              <a:buSzTx/>
              <a:buFont typeface="+mj-lt"/>
              <a:buAutoNum type="arabicPeriod"/>
              <a:tabLst/>
              <a:defRPr/>
            </a:pPr>
            <a:r>
              <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Calibri Light" panose="020F0302020204030204" pitchFamily="34" charset="0"/>
              </a:rPr>
              <a:t>Establish a detailed project plan with realistic timelines and buffer time for unforeseen issues and Stay updated on relevant privacy regulations (e.g., GDPR, HIPAA) and incorporate them into system design.</a:t>
            </a:r>
          </a:p>
          <a:p>
            <a:pPr marL="342900" marR="0" lvl="0" indent="-342900" algn="l" defTabSz="914400" rtl="0" eaLnBrk="1" fontAlgn="auto" latinLnBrk="0" hangingPunct="1">
              <a:lnSpc>
                <a:spcPct val="90000"/>
              </a:lnSpc>
              <a:spcBef>
                <a:spcPts val="500"/>
              </a:spcBef>
              <a:spcAft>
                <a:spcPts val="0"/>
              </a:spcAft>
              <a:buClrTx/>
              <a:buSzTx/>
              <a:buFont typeface="+mj-lt"/>
              <a:buAutoNum type="arabicPeriod"/>
              <a:tabLst/>
              <a:defRPr/>
            </a:pPr>
            <a:endParaRPr kumimoji="0" lang="en-US" sz="1200" b="0" i="0" u="none" strike="noStrike" kern="1200" cap="none" spc="0" normalizeH="0" baseline="0" noProof="0" dirty="0">
              <a:ln>
                <a:noFill/>
              </a:ln>
              <a:solidFill>
                <a:prstClr val="black"/>
              </a:solidFill>
              <a:effectLst/>
              <a:uLnTx/>
              <a:uFillTx/>
              <a:latin typeface="Calibri Light" panose="020F0302020204030204"/>
              <a:ea typeface="+mn-ea"/>
              <a:cs typeface="Calibri Light" panose="020F0302020204030204" pitchFamily="34" charset="0"/>
            </a:endParaRPr>
          </a:p>
        </p:txBody>
      </p:sp>
      <p:sp>
        <p:nvSpPr>
          <p:cNvPr id="17" name="TextBox 16">
            <a:extLst>
              <a:ext uri="{FF2B5EF4-FFF2-40B4-BE49-F238E27FC236}">
                <a16:creationId xmlns:a16="http://schemas.microsoft.com/office/drawing/2014/main" id="{81C8E096-2C41-FF99-D2AB-528CFD329564}"/>
              </a:ext>
            </a:extLst>
          </p:cNvPr>
          <p:cNvSpPr txBox="1"/>
          <p:nvPr/>
        </p:nvSpPr>
        <p:spPr>
          <a:xfrm>
            <a:off x="457200" y="6391915"/>
            <a:ext cx="5641165"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1100" b="1" i="0" u="none" strike="noStrike" kern="1200" cap="none" spc="0" normalizeH="0" baseline="0" noProof="0" dirty="0">
                <a:ln>
                  <a:noFill/>
                </a:ln>
                <a:solidFill>
                  <a:srgbClr val="000000"/>
                </a:solidFill>
                <a:effectLst/>
                <a:uLnTx/>
                <a:uFillTx/>
                <a:latin typeface="Calibri Light" panose="020F0302020204030204"/>
                <a:ea typeface="+mn-ea"/>
                <a:cs typeface="+mn-cs"/>
              </a:rPr>
              <a:t>Key Stakeholders</a:t>
            </a:r>
            <a:r>
              <a:rPr kumimoji="0" lang="en-IE" sz="1100" b="0" i="0" u="none" strike="noStrike" kern="1200" cap="none" spc="0" normalizeH="0" baseline="0" noProof="0" dirty="0">
                <a:ln>
                  <a:noFill/>
                </a:ln>
                <a:solidFill>
                  <a:srgbClr val="000000"/>
                </a:solidFill>
                <a:effectLst/>
                <a:uLnTx/>
                <a:uFillTx/>
                <a:latin typeface="Calibri Light" panose="020F0302020204030204"/>
                <a:ea typeface="+mn-ea"/>
                <a:cs typeface="+mn-cs"/>
              </a:rPr>
              <a:t>: Analytics team (AT), Clinical Ops team (CO), EXL Clinical SMEs (CS), Client Stake holders (SH)</a:t>
            </a:r>
            <a:endParaRPr kumimoji="0" lang="en-US" sz="1100" b="0" i="0" u="none" strike="noStrike" kern="1200" cap="none" spc="0" normalizeH="0" baseline="0" noProof="0" dirty="0">
              <a:ln>
                <a:noFill/>
              </a:ln>
              <a:solidFill>
                <a:srgbClr val="000000"/>
              </a:solidFill>
              <a:effectLst/>
              <a:uLnTx/>
              <a:uFillTx/>
              <a:latin typeface="Calibri Light" panose="020F0302020204030204"/>
              <a:ea typeface="+mn-ea"/>
              <a:cs typeface="+mn-cs"/>
            </a:endParaRPr>
          </a:p>
        </p:txBody>
      </p:sp>
      <p:graphicFrame>
        <p:nvGraphicFramePr>
          <p:cNvPr id="4" name="Table 3">
            <a:extLst>
              <a:ext uri="{FF2B5EF4-FFF2-40B4-BE49-F238E27FC236}">
                <a16:creationId xmlns:a16="http://schemas.microsoft.com/office/drawing/2014/main" id="{C4C38729-23E9-D5DE-EE51-B21D2A5DA72E}"/>
              </a:ext>
            </a:extLst>
          </p:cNvPr>
          <p:cNvGraphicFramePr>
            <a:graphicFrameLocks noGrp="1"/>
          </p:cNvGraphicFramePr>
          <p:nvPr/>
        </p:nvGraphicFramePr>
        <p:xfrm>
          <a:off x="6572816" y="3097864"/>
          <a:ext cx="4755584" cy="1704634"/>
        </p:xfrm>
        <a:graphic>
          <a:graphicData uri="http://schemas.openxmlformats.org/drawingml/2006/table">
            <a:tbl>
              <a:tblPr firstRow="1" bandRow="1"/>
              <a:tblGrid>
                <a:gridCol w="2688024">
                  <a:extLst>
                    <a:ext uri="{9D8B030D-6E8A-4147-A177-3AD203B41FA5}">
                      <a16:colId xmlns:a16="http://schemas.microsoft.com/office/drawing/2014/main" val="2418923834"/>
                    </a:ext>
                  </a:extLst>
                </a:gridCol>
                <a:gridCol w="523240">
                  <a:extLst>
                    <a:ext uri="{9D8B030D-6E8A-4147-A177-3AD203B41FA5}">
                      <a16:colId xmlns:a16="http://schemas.microsoft.com/office/drawing/2014/main" val="1990022224"/>
                    </a:ext>
                  </a:extLst>
                </a:gridCol>
                <a:gridCol w="508000">
                  <a:extLst>
                    <a:ext uri="{9D8B030D-6E8A-4147-A177-3AD203B41FA5}">
                      <a16:colId xmlns:a16="http://schemas.microsoft.com/office/drawing/2014/main" val="685888627"/>
                    </a:ext>
                  </a:extLst>
                </a:gridCol>
                <a:gridCol w="487680">
                  <a:extLst>
                    <a:ext uri="{9D8B030D-6E8A-4147-A177-3AD203B41FA5}">
                      <a16:colId xmlns:a16="http://schemas.microsoft.com/office/drawing/2014/main" val="1283765189"/>
                    </a:ext>
                  </a:extLst>
                </a:gridCol>
                <a:gridCol w="548640">
                  <a:extLst>
                    <a:ext uri="{9D8B030D-6E8A-4147-A177-3AD203B41FA5}">
                      <a16:colId xmlns:a16="http://schemas.microsoft.com/office/drawing/2014/main" val="271521263"/>
                    </a:ext>
                  </a:extLst>
                </a:gridCol>
              </a:tblGrid>
              <a:tr h="32270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r>
                        <a:rPr lang="en-IE" sz="900" dirty="0">
                          <a:latin typeface="Calibri Light" panose="020F0302020204030204" pitchFamily="34" charset="0"/>
                          <a:ea typeface="Calibri Light" panose="020F0302020204030204" pitchFamily="34" charset="0"/>
                          <a:cs typeface="Calibri Light" panose="020F0302020204030204" pitchFamily="34" charset="0"/>
                        </a:rPr>
                        <a:t>Tasks</a:t>
                      </a:r>
                      <a:endParaRPr lang="en-US" sz="9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n-IE" sz="900" dirty="0">
                          <a:latin typeface="Calibri Light" panose="020F0302020204030204" pitchFamily="34" charset="0"/>
                          <a:ea typeface="Calibri Light" panose="020F0302020204030204" pitchFamily="34" charset="0"/>
                          <a:cs typeface="Calibri Light" panose="020F0302020204030204" pitchFamily="34" charset="0"/>
                        </a:rPr>
                        <a:t>AT</a:t>
                      </a:r>
                      <a:endParaRPr lang="en-US" sz="9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n-IE" sz="900" dirty="0">
                          <a:latin typeface="Calibri Light" panose="020F0302020204030204" pitchFamily="34" charset="0"/>
                          <a:ea typeface="Calibri Light" panose="020F0302020204030204" pitchFamily="34" charset="0"/>
                          <a:cs typeface="Calibri Light" panose="020F0302020204030204" pitchFamily="34" charset="0"/>
                        </a:rPr>
                        <a:t>CO</a:t>
                      </a:r>
                      <a:endParaRPr lang="en-US" sz="9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n-IE" sz="900" dirty="0">
                          <a:latin typeface="Calibri Light" panose="020F0302020204030204" pitchFamily="34" charset="0"/>
                          <a:ea typeface="Calibri Light" panose="020F0302020204030204" pitchFamily="34" charset="0"/>
                          <a:cs typeface="Calibri Light" panose="020F0302020204030204" pitchFamily="34" charset="0"/>
                        </a:rPr>
                        <a:t>CS</a:t>
                      </a:r>
                      <a:endParaRPr lang="en-US" sz="9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n-IE" sz="900">
                          <a:latin typeface="Calibri Light" panose="020F0302020204030204" pitchFamily="34" charset="0"/>
                          <a:ea typeface="Calibri Light" panose="020F0302020204030204" pitchFamily="34" charset="0"/>
                          <a:cs typeface="Calibri Light" panose="020F0302020204030204" pitchFamily="34" charset="0"/>
                        </a:rPr>
                        <a:t>SH</a:t>
                      </a:r>
                      <a:endParaRPr lang="en-US" sz="9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909699407"/>
                  </a:ext>
                </a:extLst>
              </a:tr>
              <a:tr h="19284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r>
                        <a:rPr lang="en-US" sz="900" kern="1200" dirty="0">
                          <a:solidFill>
                            <a:prstClr val="black"/>
                          </a:solidFill>
                          <a:latin typeface="+mj-lt"/>
                          <a:cs typeface="Calibri Light" panose="020F0302020204030204" pitchFamily="34" charset="0"/>
                        </a:rPr>
                        <a:t>Project Planning &amp; Research</a:t>
                      </a:r>
                      <a:endParaRPr lang="en-US" sz="900" kern="1200" dirty="0">
                        <a:solidFill>
                          <a:prstClr val="black"/>
                        </a:solidFill>
                        <a:latin typeface="+mj-lt"/>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R</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R</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C</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I</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71660328"/>
                  </a:ext>
                </a:extLst>
              </a:tr>
              <a:tr h="217108">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r>
                        <a:rPr lang="en-US" sz="900" kern="1200" dirty="0">
                          <a:solidFill>
                            <a:prstClr val="black"/>
                          </a:solidFill>
                          <a:latin typeface="+mj-lt"/>
                          <a:ea typeface="+mn-ea"/>
                          <a:cs typeface="Calibri Light" panose="020F0302020204030204" pitchFamily="34" charset="0"/>
                        </a:rPr>
                        <a:t>AI &amp; ML Model Development and testing</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A</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R</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C</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I</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5077275"/>
                  </a:ext>
                </a:extLst>
              </a:tr>
              <a:tr h="211564">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prstClr val="black"/>
                          </a:solidFill>
                          <a:latin typeface="+mj-lt"/>
                          <a:ea typeface="+mn-ea"/>
                          <a:cs typeface="Calibri Light" panose="020F0302020204030204" pitchFamily="34" charset="0"/>
                        </a:rPr>
                        <a:t>NLP Development, integration and testing</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A</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R</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C</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I</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2612473"/>
                  </a:ext>
                </a:extLst>
              </a:tr>
              <a:tr h="2337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prstClr val="black"/>
                          </a:solidFill>
                          <a:latin typeface="+mj-lt"/>
                          <a:ea typeface="+mn-ea"/>
                          <a:cs typeface="Calibri Light" panose="020F0302020204030204" pitchFamily="34" charset="0"/>
                        </a:rPr>
                        <a:t>Case Comparison (AI vs Manual)</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R</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R</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C</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I</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61721389"/>
                  </a:ext>
                </a:extLst>
              </a:tr>
              <a:tr h="2337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prstClr val="black"/>
                          </a:solidFill>
                          <a:latin typeface="+mj-lt"/>
                          <a:ea typeface="+mn-ea"/>
                          <a:cs typeface="Calibri Light" panose="020F0302020204030204" pitchFamily="34" charset="0"/>
                        </a:rPr>
                        <a:t>System Integration &amp; Testing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R</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A</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C</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E"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I</a:t>
                      </a:r>
                      <a:endPar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60671949"/>
                  </a:ext>
                </a:extLst>
              </a:tr>
              <a:tr h="1956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prstClr val="black"/>
                          </a:solidFill>
                          <a:latin typeface="+mj-lt"/>
                          <a:ea typeface="+mn-ea"/>
                          <a:cs typeface="Calibri Light" panose="020F0302020204030204" pitchFamily="34" charset="0"/>
                        </a:rPr>
                        <a:t>Training, Deployment &amp; Change Management</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p>
                      <a:pPr algn="ctr"/>
                      <a:r>
                        <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R</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p>
                      <a:pPr algn="ctr"/>
                      <a:r>
                        <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R</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p>
                      <a:pPr algn="ctr"/>
                      <a:r>
                        <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R</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tc>
                  <a:txBody>
                    <a:bodyPr/>
                    <a:lstStyle/>
                    <a:p>
                      <a:pPr algn="ctr"/>
                      <a:r>
                        <a:rPr lang="en-US" sz="9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I</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03622373"/>
                  </a:ext>
                </a:extLst>
              </a:tr>
            </a:tbl>
          </a:graphicData>
        </a:graphic>
      </p:graphicFrame>
      <p:sp>
        <p:nvSpPr>
          <p:cNvPr id="7" name="TextBox 6">
            <a:extLst>
              <a:ext uri="{FF2B5EF4-FFF2-40B4-BE49-F238E27FC236}">
                <a16:creationId xmlns:a16="http://schemas.microsoft.com/office/drawing/2014/main" id="{6199DBA8-86E2-B080-2695-4085153D37E1}"/>
              </a:ext>
            </a:extLst>
          </p:cNvPr>
          <p:cNvSpPr txBox="1"/>
          <p:nvPr/>
        </p:nvSpPr>
        <p:spPr>
          <a:xfrm>
            <a:off x="7910592" y="0"/>
            <a:ext cx="4281408" cy="461665"/>
          </a:xfrm>
          <a:prstGeom prst="rect">
            <a:avLst/>
          </a:prstGeom>
          <a:solidFill>
            <a:schemeClr val="tx2">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1200" b="1" i="0" u="none" strike="noStrike" kern="1200" cap="none" spc="0" normalizeH="0" baseline="0" noProof="0" dirty="0">
                <a:ln>
                  <a:noFill/>
                </a:ln>
                <a:solidFill>
                  <a:srgbClr val="000000"/>
                </a:solidFill>
                <a:effectLst/>
                <a:uLnTx/>
                <a:uFillTx/>
                <a:latin typeface="Calibri Light" panose="020F0302020204030204"/>
                <a:ea typeface="+mn-ea"/>
                <a:cs typeface="+mn-cs"/>
              </a:rPr>
              <a:t>Key messages: Changed the Objective based on discussion with Dr. Vikram</a:t>
            </a:r>
          </a:p>
        </p:txBody>
      </p:sp>
    </p:spTree>
    <p:extLst>
      <p:ext uri="{BB962C8B-B14F-4D97-AF65-F5344CB8AC3E}">
        <p14:creationId xmlns:p14="http://schemas.microsoft.com/office/powerpoint/2010/main" val="3047572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9B81686-D04A-E449-B083-F49A4F210BF3}"/>
              </a:ext>
            </a:extLst>
          </p:cNvPr>
          <p:cNvSpPr>
            <a:spLocks noGrp="1"/>
          </p:cNvSpPr>
          <p:nvPr>
            <p:ph type="ftr" sz="quarter" idx="1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©2025 Exl Service Holdings, Inc. All rights reserved.</a:t>
            </a:r>
          </a:p>
        </p:txBody>
      </p:sp>
      <p:sp>
        <p:nvSpPr>
          <p:cNvPr id="5" name="Slide Number Placeholder 4">
            <a:extLst>
              <a:ext uri="{FF2B5EF4-FFF2-40B4-BE49-F238E27FC236}">
                <a16:creationId xmlns:a16="http://schemas.microsoft.com/office/drawing/2014/main" id="{02173449-2105-5B49-90F5-F396907DEDA0}"/>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0" name="Title 3">
            <a:extLst>
              <a:ext uri="{FF2B5EF4-FFF2-40B4-BE49-F238E27FC236}">
                <a16:creationId xmlns:a16="http://schemas.microsoft.com/office/drawing/2014/main" id="{10E7E8D1-4DE7-49E9-A30D-B9CAC36938FA}"/>
              </a:ext>
            </a:extLst>
          </p:cNvPr>
          <p:cNvSpPr>
            <a:spLocks noGrp="1"/>
          </p:cNvSpPr>
          <p:nvPr>
            <p:ph type="ctrTitle"/>
          </p:nvPr>
        </p:nvSpPr>
        <p:spPr>
          <a:xfrm>
            <a:off x="457200" y="456744"/>
            <a:ext cx="1435608" cy="451239"/>
          </a:xfrm>
        </p:spPr>
        <p:txBody>
          <a:bodyPr/>
          <a:lstStyle/>
          <a:p>
            <a:r>
              <a:rPr lang="en-US" sz="1400" b="1" dirty="0">
                <a:latin typeface="+mn-lt"/>
              </a:rPr>
              <a:t>EXL Health</a:t>
            </a:r>
          </a:p>
        </p:txBody>
      </p:sp>
      <p:sp>
        <p:nvSpPr>
          <p:cNvPr id="78" name="Rectangle 77"/>
          <p:cNvSpPr/>
          <p:nvPr/>
        </p:nvSpPr>
        <p:spPr>
          <a:xfrm>
            <a:off x="407278" y="6044610"/>
            <a:ext cx="8507940"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B4D0A"/>
                </a:solidFill>
                <a:effectLst/>
                <a:uLnTx/>
                <a:uFillTx/>
                <a:latin typeface="Calibri" panose="020F0502020204030204"/>
                <a:ea typeface="+mn-ea"/>
                <a:cs typeface="+mn-cs"/>
              </a:rPr>
              <a:t>Source:</a:t>
            </a:r>
            <a:endParaRPr kumimoji="0" lang="en-US" sz="800" b="0" i="0" u="none" strike="noStrike" kern="1200" cap="none" spc="0" normalizeH="0" baseline="0" noProof="0" dirty="0">
              <a:ln>
                <a:noFill/>
              </a:ln>
              <a:solidFill>
                <a:srgbClr val="FB4D0A"/>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hlinkClick r:id="rId3"/>
              </a:rPr>
              <a:t>Prior Authorization Approvals Accelerated with AI &amp; Automation | </a:t>
            </a:r>
            <a:r>
              <a:rPr lang="en-US" sz="800" dirty="0" err="1">
                <a:hlinkClick r:id="rId3"/>
              </a:rPr>
              <a:t>Infinx</a:t>
            </a:r>
            <a:r>
              <a:rPr lang="en-US" sz="800" dirty="0">
                <a:hlinkClick r:id="rId3"/>
              </a:rPr>
              <a:t> Healthcare</a:t>
            </a:r>
            <a:endParaRPr lang="en-US" sz="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hlinkClick r:id="rId4"/>
              </a:rPr>
              <a:t>Waystar Authorization Platform | Prior Authorization Solutions</a:t>
            </a:r>
            <a:endParaRPr lang="en-US" sz="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hlinkClick r:id="rId5"/>
              </a:rPr>
              <a:t>AI-Powered Prior Authorization | Healthcare | Availity</a:t>
            </a:r>
            <a:endParaRPr lang="en-US" sz="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hlinkClick r:id="rId6"/>
              </a:rPr>
              <a:t>Authorization_Whitepaper.pdf</a:t>
            </a:r>
            <a:endParaRPr lang="en-US" sz="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hlinkClick r:id="rId7"/>
              </a:rPr>
              <a:t>18 Best Prior Authorization Software In Healthcare for 2025 - The Medical Practice</a:t>
            </a:r>
            <a:endParaRPr lang="en-US" sz="800" dirty="0"/>
          </a:p>
        </p:txBody>
      </p:sp>
      <p:sp>
        <p:nvSpPr>
          <p:cNvPr id="50" name="Title 3">
            <a:extLst>
              <a:ext uri="{FF2B5EF4-FFF2-40B4-BE49-F238E27FC236}">
                <a16:creationId xmlns:a16="http://schemas.microsoft.com/office/drawing/2014/main" id="{10E7E8D1-4DE7-49E9-A30D-B9CAC36938FA}"/>
              </a:ext>
            </a:extLst>
          </p:cNvPr>
          <p:cNvSpPr txBox="1">
            <a:spLocks/>
          </p:cNvSpPr>
          <p:nvPr/>
        </p:nvSpPr>
        <p:spPr>
          <a:xfrm>
            <a:off x="462934" y="1568953"/>
            <a:ext cx="3300984" cy="2286456"/>
          </a:xfrm>
          <a:prstGeom prst="rect">
            <a:avLst/>
          </a:prstGeom>
        </p:spPr>
        <p:txBody>
          <a:bodyPr vert="horz" lIns="0" tIns="0" rIns="0" bIns="0" rtlCol="0" anchor="t" anchorCtr="0">
            <a:noAutofit/>
          </a:bodyPr>
          <a:lstStyle>
            <a:lvl1pPr algn="l" defTabSz="914400" rtl="0" eaLnBrk="1" latinLnBrk="0" hangingPunct="1">
              <a:lnSpc>
                <a:spcPct val="8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4600" b="0" i="0" u="none" strike="noStrike" kern="1200" cap="none" spc="0" normalizeH="0" baseline="0" noProof="0" dirty="0">
                <a:ln>
                  <a:noFill/>
                </a:ln>
                <a:solidFill>
                  <a:srgbClr val="000000"/>
                </a:solidFill>
                <a:effectLst/>
                <a:uLnTx/>
                <a:uFillTx/>
                <a:latin typeface="Calibri Light" panose="020F0302020204030204"/>
                <a:ea typeface="+mj-ea"/>
                <a:cs typeface="+mj-cs"/>
              </a:rPr>
              <a:t>Industry </a:t>
            </a:r>
          </a:p>
          <a:p>
            <a:pPr marL="0" marR="0" lvl="0" indent="0" algn="l" defTabSz="914400" rtl="0" eaLnBrk="1" fontAlgn="auto" latinLnBrk="0" hangingPunct="1">
              <a:lnSpc>
                <a:spcPct val="80000"/>
              </a:lnSpc>
              <a:spcBef>
                <a:spcPct val="0"/>
              </a:spcBef>
              <a:spcAft>
                <a:spcPts val="0"/>
              </a:spcAft>
              <a:buClrTx/>
              <a:buSzTx/>
              <a:buFontTx/>
              <a:buNone/>
              <a:tabLst/>
              <a:defRPr/>
            </a:pPr>
            <a:r>
              <a:rPr lang="en-US" sz="4600" dirty="0">
                <a:solidFill>
                  <a:srgbClr val="000000"/>
                </a:solidFill>
                <a:latin typeface="Calibri Light" panose="020F0302020204030204"/>
              </a:rPr>
              <a:t>Offerings</a:t>
            </a:r>
            <a:endParaRPr kumimoji="0" lang="en-US" sz="4600" b="0" i="0" u="none" strike="noStrike" kern="1200" cap="none" spc="0" normalizeH="0" baseline="0" noProof="0" dirty="0">
              <a:ln>
                <a:noFill/>
              </a:ln>
              <a:solidFill>
                <a:srgbClr val="000000"/>
              </a:solidFill>
              <a:effectLst/>
              <a:uLnTx/>
              <a:uFillTx/>
              <a:latin typeface="Calibri Light" panose="020F0302020204030204"/>
              <a:ea typeface="+mj-ea"/>
              <a:cs typeface="+mj-cs"/>
            </a:endParaRPr>
          </a:p>
        </p:txBody>
      </p:sp>
      <p:sp>
        <p:nvSpPr>
          <p:cNvPr id="52" name="Rectangle 51"/>
          <p:cNvSpPr/>
          <p:nvPr/>
        </p:nvSpPr>
        <p:spPr>
          <a:xfrm rot="16200000">
            <a:off x="2736500" y="2070767"/>
            <a:ext cx="5309552" cy="2512312"/>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53" name="Rectangle 52"/>
          <p:cNvSpPr/>
          <p:nvPr/>
        </p:nvSpPr>
        <p:spPr>
          <a:xfrm rot="16200000">
            <a:off x="4555201" y="487901"/>
            <a:ext cx="1672154" cy="2512313"/>
          </a:xfrm>
          <a:prstGeom prst="rect">
            <a:avLst/>
          </a:prstGeom>
          <a:solidFill>
            <a:srgbClr val="666666"/>
          </a:solidFill>
          <a:ln w="12700" cap="flat" cmpd="sng" algn="ctr">
            <a:noFill/>
            <a:prstDash val="solid"/>
            <a:miter lim="800000"/>
          </a:ln>
          <a:effectLst/>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61" name="Round Same Side Corner Rectangle 60"/>
          <p:cNvSpPr/>
          <p:nvPr/>
        </p:nvSpPr>
        <p:spPr>
          <a:xfrm rot="5400000" flipH="1">
            <a:off x="5360398" y="2063049"/>
            <a:ext cx="5309551" cy="2512310"/>
          </a:xfrm>
          <a:prstGeom prst="round2SameRect">
            <a:avLst>
              <a:gd name="adj1" fmla="val 2589"/>
              <a:gd name="adj2" fmla="val 0"/>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62" name="Round Same Side Corner Rectangle 61"/>
          <p:cNvSpPr/>
          <p:nvPr/>
        </p:nvSpPr>
        <p:spPr>
          <a:xfrm rot="5400000" flipH="1">
            <a:off x="7168379" y="485930"/>
            <a:ext cx="1668207" cy="2512310"/>
          </a:xfrm>
          <a:prstGeom prst="round2SameRect">
            <a:avLst>
              <a:gd name="adj1" fmla="val 0"/>
              <a:gd name="adj2" fmla="val 0"/>
            </a:avLst>
          </a:prstGeom>
          <a:solidFill>
            <a:srgbClr val="666666"/>
          </a:solidFill>
          <a:ln w="12700" cap="flat" cmpd="sng" algn="ctr">
            <a:noFill/>
            <a:prstDash val="solid"/>
            <a:miter lim="800000"/>
          </a:ln>
          <a:effectLst/>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63" name="TextBox 62"/>
          <p:cNvSpPr txBox="1"/>
          <p:nvPr/>
        </p:nvSpPr>
        <p:spPr>
          <a:xfrm>
            <a:off x="5045286" y="1318717"/>
            <a:ext cx="691978" cy="246221"/>
          </a:xfrm>
          <a:prstGeom prst="rect">
            <a:avLst/>
          </a:prstGeom>
          <a:noFill/>
        </p:spPr>
        <p:txBody>
          <a:bodyPr wrap="square" lIns="0" tIns="0" rIns="0" bIns="0" rtlCol="0"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rPr>
              <a:t>INFINX</a:t>
            </a:r>
          </a:p>
        </p:txBody>
      </p:sp>
      <p:sp>
        <p:nvSpPr>
          <p:cNvPr id="64" name="TextBox 63"/>
          <p:cNvSpPr txBox="1"/>
          <p:nvPr/>
        </p:nvSpPr>
        <p:spPr>
          <a:xfrm>
            <a:off x="7555154" y="1308866"/>
            <a:ext cx="894656" cy="246221"/>
          </a:xfrm>
          <a:prstGeom prst="rect">
            <a:avLst/>
          </a:prstGeom>
          <a:noFill/>
        </p:spPr>
        <p:txBody>
          <a:bodyPr wrap="square" lIns="0" tIns="0" rIns="0" bIns="0" rtlCol="0"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rPr>
              <a:t>WAYSTAR</a:t>
            </a:r>
          </a:p>
        </p:txBody>
      </p:sp>
      <p:sp>
        <p:nvSpPr>
          <p:cNvPr id="81" name="Sev01"/>
          <p:cNvSpPr>
            <a:spLocks noChangeAspect="1"/>
          </p:cNvSpPr>
          <p:nvPr/>
        </p:nvSpPr>
        <p:spPr>
          <a:xfrm>
            <a:off x="4535795" y="1706626"/>
            <a:ext cx="1771339" cy="1712561"/>
          </a:xfrm>
          <a:prstGeom prst="ellipse">
            <a:avLst/>
          </a:prstGeom>
          <a:solidFill>
            <a:sysClr val="window" lastClr="FFFFFF"/>
          </a:solidFill>
          <a:ln w="57150" cap="flat" cmpd="sng" algn="ctr">
            <a:solidFill>
              <a:srgbClr val="A6A6A6"/>
            </a:solidFill>
            <a:prstDash val="solid"/>
            <a:miter lim="800000"/>
          </a:ln>
          <a:effectLst/>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4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82" name="Sev01"/>
          <p:cNvSpPr>
            <a:spLocks noChangeAspect="1"/>
          </p:cNvSpPr>
          <p:nvPr/>
        </p:nvSpPr>
        <p:spPr>
          <a:xfrm>
            <a:off x="7147003" y="1706626"/>
            <a:ext cx="1768215" cy="1712561"/>
          </a:xfrm>
          <a:prstGeom prst="ellipse">
            <a:avLst/>
          </a:prstGeom>
          <a:solidFill>
            <a:sysClr val="window" lastClr="FFFFFF"/>
          </a:solidFill>
          <a:ln w="57150" cap="flat" cmpd="sng" algn="ctr">
            <a:solidFill>
              <a:schemeClr val="bg1">
                <a:lumMod val="65000"/>
              </a:schemeClr>
            </a:solidFill>
            <a:prstDash val="solid"/>
            <a:miter lim="800000"/>
          </a:ln>
          <a:effectLst/>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4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89" name="Round Same Side Corner Rectangle 88"/>
          <p:cNvSpPr/>
          <p:nvPr/>
        </p:nvSpPr>
        <p:spPr>
          <a:xfrm rot="5400000" flipH="1">
            <a:off x="7959807" y="2066909"/>
            <a:ext cx="5301831" cy="2512311"/>
          </a:xfrm>
          <a:prstGeom prst="round2SameRect">
            <a:avLst>
              <a:gd name="adj1" fmla="val 2589"/>
              <a:gd name="adj2" fmla="val 0"/>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90" name="Round Same Side Corner Rectangle 89"/>
          <p:cNvSpPr/>
          <p:nvPr/>
        </p:nvSpPr>
        <p:spPr>
          <a:xfrm rot="5400000" flipH="1">
            <a:off x="9776620" y="485931"/>
            <a:ext cx="1668208" cy="2512311"/>
          </a:xfrm>
          <a:prstGeom prst="round2SameRect">
            <a:avLst>
              <a:gd name="adj1" fmla="val 0"/>
              <a:gd name="adj2" fmla="val 0"/>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91" name="TextBox 90"/>
          <p:cNvSpPr txBox="1"/>
          <p:nvPr/>
        </p:nvSpPr>
        <p:spPr>
          <a:xfrm>
            <a:off x="10192649" y="1315993"/>
            <a:ext cx="836145" cy="246221"/>
          </a:xfrm>
          <a:prstGeom prst="rect">
            <a:avLst/>
          </a:prstGeom>
          <a:noFill/>
        </p:spPr>
        <p:txBody>
          <a:bodyPr wrap="square" lIns="0" tIns="0" rIns="0" bIns="0" rtlCol="0"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rPr>
              <a:t>AVAILITY</a:t>
            </a:r>
          </a:p>
        </p:txBody>
      </p:sp>
      <p:sp>
        <p:nvSpPr>
          <p:cNvPr id="92" name="Sev01"/>
          <p:cNvSpPr>
            <a:spLocks noChangeAspect="1"/>
          </p:cNvSpPr>
          <p:nvPr/>
        </p:nvSpPr>
        <p:spPr>
          <a:xfrm>
            <a:off x="9755244" y="1650974"/>
            <a:ext cx="1768213" cy="1768213"/>
          </a:xfrm>
          <a:prstGeom prst="ellipse">
            <a:avLst/>
          </a:prstGeom>
          <a:solidFill>
            <a:sysClr val="window" lastClr="FFFFFF"/>
          </a:solidFill>
          <a:ln w="57150" cap="flat" cmpd="sng" algn="ctr">
            <a:solidFill>
              <a:srgbClr val="A6A6A6"/>
            </a:solidFill>
            <a:prstDash val="solid"/>
            <a:miter lim="800000"/>
          </a:ln>
          <a:effectLst/>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4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130" name="Rectangle 129"/>
          <p:cNvSpPr/>
          <p:nvPr/>
        </p:nvSpPr>
        <p:spPr>
          <a:xfrm>
            <a:off x="4135120" y="3474043"/>
            <a:ext cx="2512311" cy="2927874"/>
          </a:xfrm>
          <a:prstGeom prst="rect">
            <a:avLst/>
          </a:prstGeom>
          <a:noFill/>
          <a:ln>
            <a:noFill/>
          </a:ln>
        </p:spPr>
        <p:txBody>
          <a:bodyPr wrap="square" anchor="t" anchorCtr="1">
            <a:noAutofit/>
          </a:bodyPr>
          <a:lstStyle/>
          <a:p>
            <a:pPr>
              <a:lnSpc>
                <a:spcPct val="90000"/>
              </a:lnSpc>
              <a:spcBef>
                <a:spcPts val="500"/>
              </a:spcBef>
              <a:defRPr/>
            </a:pPr>
            <a:r>
              <a:rPr lang="en-US" sz="1100" dirty="0">
                <a:solidFill>
                  <a:prstClr val="black"/>
                </a:solidFill>
                <a:latin typeface="Calibri Light" panose="020F0302020204030204"/>
                <a:cs typeface="Calibri Light" panose="020F0302020204030204" pitchFamily="34" charset="0"/>
              </a:rPr>
              <a:t>Offerings: </a:t>
            </a:r>
          </a:p>
          <a:p>
            <a:pPr marL="171450" indent="-171450">
              <a:lnSpc>
                <a:spcPct val="90000"/>
              </a:lnSpc>
              <a:spcBef>
                <a:spcPts val="500"/>
              </a:spcBef>
              <a:buFont typeface="Arial" panose="020B0604020202020204" pitchFamily="34" charset="0"/>
              <a:buChar char="•"/>
              <a:defRPr/>
            </a:pPr>
            <a:r>
              <a:rPr lang="en-US" sz="1100" dirty="0">
                <a:solidFill>
                  <a:prstClr val="black"/>
                </a:solidFill>
                <a:latin typeface="Calibri Light" panose="020F0302020204030204"/>
                <a:cs typeface="Calibri Light" panose="020F0302020204030204" pitchFamily="34" charset="0"/>
              </a:rPr>
              <a:t>Automatically identifies the need of prior authorization and provides real time insights with reports.</a:t>
            </a:r>
          </a:p>
          <a:p>
            <a:pPr marL="171450" indent="-171450">
              <a:lnSpc>
                <a:spcPct val="90000"/>
              </a:lnSpc>
              <a:spcBef>
                <a:spcPts val="500"/>
              </a:spcBef>
              <a:buFont typeface="Arial" panose="020B0604020202020204" pitchFamily="34" charset="0"/>
              <a:buChar char="•"/>
              <a:defRPr/>
            </a:pPr>
            <a:r>
              <a:rPr lang="en-US" sz="1100" dirty="0">
                <a:solidFill>
                  <a:prstClr val="black"/>
                </a:solidFill>
                <a:latin typeface="Calibri Light" panose="020F0302020204030204"/>
                <a:cs typeface="Calibri Light" panose="020F0302020204030204" pitchFamily="34" charset="0"/>
              </a:rPr>
              <a:t>H</a:t>
            </a:r>
            <a:r>
              <a:rPr lang="en-US" sz="1100" dirty="0" err="1">
                <a:solidFill>
                  <a:prstClr val="black"/>
                </a:solidFill>
                <a:latin typeface="Calibri Light" panose="020F0302020204030204"/>
                <a:cs typeface="Calibri Light" panose="020F0302020204030204" pitchFamily="34" charset="0"/>
              </a:rPr>
              <a:t>ybrid</a:t>
            </a:r>
            <a:r>
              <a:rPr lang="en-US" sz="1100" dirty="0">
                <a:solidFill>
                  <a:prstClr val="black"/>
                </a:solidFill>
                <a:latin typeface="Calibri Light" panose="020F0302020204030204"/>
                <a:cs typeface="Calibri Light" panose="020F0302020204030204" pitchFamily="34" charset="0"/>
              </a:rPr>
              <a:t> approach of automation and human intervention for entities looking for flexibility.</a:t>
            </a:r>
          </a:p>
          <a:p>
            <a:pPr marL="171450" indent="-171450">
              <a:lnSpc>
                <a:spcPct val="90000"/>
              </a:lnSpc>
              <a:spcBef>
                <a:spcPts val="500"/>
              </a:spcBef>
              <a:buFont typeface="Arial" panose="020B0604020202020204" pitchFamily="34" charset="0"/>
              <a:buChar char="•"/>
              <a:defRPr/>
            </a:pPr>
            <a:r>
              <a:rPr lang="en-US" sz="1100" dirty="0">
                <a:solidFill>
                  <a:prstClr val="black"/>
                </a:solidFill>
                <a:latin typeface="Calibri Light" panose="020F0302020204030204"/>
                <a:cs typeface="Calibri Light" panose="020F0302020204030204" pitchFamily="34" charset="0"/>
              </a:rPr>
              <a:t>AI Agents to follow up with payers.</a:t>
            </a:r>
          </a:p>
          <a:p>
            <a:pPr>
              <a:lnSpc>
                <a:spcPct val="90000"/>
              </a:lnSpc>
              <a:spcBef>
                <a:spcPts val="500"/>
              </a:spcBef>
              <a:defRPr/>
            </a:pPr>
            <a:r>
              <a:rPr lang="en-US" sz="1100" dirty="0">
                <a:solidFill>
                  <a:srgbClr val="FF0000"/>
                </a:solidFill>
                <a:latin typeface="Calibri Light" panose="020F0302020204030204"/>
                <a:cs typeface="Calibri Light" panose="020F0302020204030204" pitchFamily="34" charset="0"/>
              </a:rPr>
              <a:t>Limitations:</a:t>
            </a:r>
          </a:p>
          <a:p>
            <a:pPr marL="171450" indent="-171450">
              <a:lnSpc>
                <a:spcPct val="90000"/>
              </a:lnSpc>
              <a:spcBef>
                <a:spcPts val="500"/>
              </a:spcBef>
              <a:buClr>
                <a:schemeClr val="tx1"/>
              </a:buClr>
              <a:buFont typeface="Arial" panose="020B0604020202020204" pitchFamily="34" charset="0"/>
              <a:buChar char="•"/>
              <a:defRPr/>
            </a:pPr>
            <a:r>
              <a:rPr lang="en-US" sz="1100" dirty="0">
                <a:solidFill>
                  <a:prstClr val="black"/>
                </a:solidFill>
                <a:latin typeface="Calibri Light" panose="020F0302020204030204"/>
                <a:cs typeface="Calibri Light" panose="020F0302020204030204" pitchFamily="34" charset="0"/>
              </a:rPr>
              <a:t>Requires manual clinical screening.</a:t>
            </a:r>
          </a:p>
          <a:p>
            <a:pPr marL="171450" indent="-171450">
              <a:lnSpc>
                <a:spcPct val="90000"/>
              </a:lnSpc>
              <a:spcBef>
                <a:spcPts val="500"/>
              </a:spcBef>
              <a:buClr>
                <a:schemeClr val="tx1"/>
              </a:buClr>
              <a:buFont typeface="Arial" panose="020B0604020202020204" pitchFamily="34" charset="0"/>
              <a:buChar char="•"/>
              <a:defRPr/>
            </a:pPr>
            <a:r>
              <a:rPr lang="en-US" sz="1100" dirty="0">
                <a:solidFill>
                  <a:prstClr val="black"/>
                </a:solidFill>
                <a:latin typeface="Calibri Light" panose="020F0302020204030204"/>
                <a:cs typeface="Calibri Light" panose="020F0302020204030204" pitchFamily="34" charset="0"/>
              </a:rPr>
              <a:t>No support for concurrent or retrospective reviews</a:t>
            </a:r>
            <a:r>
              <a:rPr lang="en-US" sz="1100" dirty="0">
                <a:solidFill>
                  <a:srgbClr val="FF0000"/>
                </a:solidFill>
                <a:latin typeface="Calibri Light" panose="020F0302020204030204"/>
                <a:cs typeface="Calibri Light" panose="020F0302020204030204" pitchFamily="34" charset="0"/>
              </a:rPr>
              <a:t>. </a:t>
            </a:r>
          </a:p>
        </p:txBody>
      </p:sp>
      <p:sp>
        <p:nvSpPr>
          <p:cNvPr id="177" name="Rectangle 176"/>
          <p:cNvSpPr/>
          <p:nvPr/>
        </p:nvSpPr>
        <p:spPr>
          <a:xfrm>
            <a:off x="6743361" y="3474044"/>
            <a:ext cx="2515278" cy="3012210"/>
          </a:xfrm>
          <a:prstGeom prst="rect">
            <a:avLst/>
          </a:prstGeom>
          <a:noFill/>
          <a:ln>
            <a:noFill/>
          </a:ln>
        </p:spPr>
        <p:txBody>
          <a:bodyPr wrap="square" anchor="t" anchorCtr="1">
            <a:noAutofit/>
          </a:bodyPr>
          <a:lstStyle/>
          <a:p>
            <a:pPr marL="0" marR="0" lvl="1" algn="l" defTabSz="457200" rtl="0" eaLnBrk="1" fontAlgn="auto" latinLnBrk="0" hangingPunct="1">
              <a:lnSpc>
                <a:spcPct val="120000"/>
              </a:lnSpc>
              <a:spcBef>
                <a:spcPts val="0"/>
              </a:spcBef>
              <a:spcAft>
                <a:spcPts val="400"/>
              </a:spcAft>
              <a:buClr>
                <a:srgbClr val="FB4E0B"/>
              </a:buClr>
              <a:buSzTx/>
              <a:tabLst/>
              <a:defRPr/>
            </a:pPr>
            <a:r>
              <a:rPr lang="en-US" sz="1100" dirty="0">
                <a:solidFill>
                  <a:prstClr val="black"/>
                </a:solidFill>
                <a:latin typeface="Calibri Light" panose="020F0302020204030204"/>
                <a:cs typeface="Calibri Light" panose="020F0302020204030204" pitchFamily="34" charset="0"/>
              </a:rPr>
              <a:t>Offerings: </a:t>
            </a:r>
          </a:p>
          <a:p>
            <a:pPr marL="171450" marR="0" lvl="1" indent="-171450" fontAlgn="auto">
              <a:lnSpc>
                <a:spcPct val="90000"/>
              </a:lnSpc>
              <a:spcBef>
                <a:spcPts val="500"/>
              </a:spcBef>
              <a:spcAft>
                <a:spcPts val="400"/>
              </a:spcAft>
              <a:buClr>
                <a:schemeClr val="tx2"/>
              </a:buClr>
              <a:buSzTx/>
              <a:buFont typeface="Arial" panose="020B0604020202020204" pitchFamily="34" charset="0"/>
              <a:buChar char="•"/>
              <a:tabLst/>
              <a:defRPr/>
            </a:pPr>
            <a:r>
              <a:rPr lang="en-US" sz="1100" dirty="0">
                <a:solidFill>
                  <a:prstClr val="black"/>
                </a:solidFill>
                <a:latin typeface="Calibri Light" panose="020F0302020204030204"/>
                <a:cs typeface="Calibri Light" panose="020F0302020204030204" pitchFamily="34" charset="0"/>
              </a:rPr>
              <a:t>Instantly analyzes requests for prior authorization.</a:t>
            </a:r>
          </a:p>
          <a:p>
            <a:pPr marL="171450" marR="0" lvl="1" indent="-171450" fontAlgn="auto">
              <a:lnSpc>
                <a:spcPct val="90000"/>
              </a:lnSpc>
              <a:spcBef>
                <a:spcPts val="500"/>
              </a:spcBef>
              <a:spcAft>
                <a:spcPts val="400"/>
              </a:spcAft>
              <a:buClr>
                <a:schemeClr val="tx2"/>
              </a:buClr>
              <a:buSzTx/>
              <a:buFont typeface="Arial" panose="020B0604020202020204" pitchFamily="34" charset="0"/>
              <a:buChar char="•"/>
              <a:tabLst/>
              <a:defRPr/>
            </a:pPr>
            <a:r>
              <a:rPr lang="en-US" sz="1100" dirty="0">
                <a:solidFill>
                  <a:prstClr val="black"/>
                </a:solidFill>
                <a:latin typeface="Calibri Light" panose="020F0302020204030204"/>
                <a:cs typeface="Calibri Light" panose="020F0302020204030204" pitchFamily="34" charset="0"/>
              </a:rPr>
              <a:t>Automates status update tracking and streamlines the workflow.</a:t>
            </a:r>
          </a:p>
          <a:p>
            <a:pPr marL="0" lvl="1" defTabSz="457200">
              <a:lnSpc>
                <a:spcPct val="120000"/>
              </a:lnSpc>
              <a:spcAft>
                <a:spcPts val="400"/>
              </a:spcAft>
              <a:buClr>
                <a:srgbClr val="FB4E0B"/>
              </a:buClr>
              <a:defRPr/>
            </a:pPr>
            <a:r>
              <a:rPr lang="en-US" sz="1100" dirty="0">
                <a:solidFill>
                  <a:srgbClr val="FF0000"/>
                </a:solidFill>
                <a:latin typeface="Calibri Light" panose="020F0302020204030204"/>
                <a:cs typeface="Calibri Light" panose="020F0302020204030204" pitchFamily="34" charset="0"/>
              </a:rPr>
              <a:t>Limitations:</a:t>
            </a:r>
          </a:p>
          <a:p>
            <a:pPr marL="171450" marR="0" lvl="1" indent="-171450" fontAlgn="auto">
              <a:lnSpc>
                <a:spcPct val="90000"/>
              </a:lnSpc>
              <a:spcBef>
                <a:spcPts val="500"/>
              </a:spcBef>
              <a:spcAft>
                <a:spcPts val="400"/>
              </a:spcAft>
              <a:buClr>
                <a:srgbClr val="FB4E0B"/>
              </a:buClr>
              <a:buSzTx/>
              <a:buFont typeface="Arial" panose="020B0604020202020204" pitchFamily="34" charset="0"/>
              <a:buChar char="•"/>
              <a:tabLst/>
              <a:defRPr/>
            </a:pPr>
            <a:r>
              <a:rPr lang="en-US" sz="1100" dirty="0">
                <a:solidFill>
                  <a:prstClr val="black"/>
                </a:solidFill>
                <a:latin typeface="Calibri Light" panose="020F0302020204030204"/>
                <a:cs typeface="Calibri Light" panose="020F0302020204030204" pitchFamily="34" charset="0"/>
              </a:rPr>
              <a:t>No real time insights into prior authorization trends.</a:t>
            </a:r>
          </a:p>
          <a:p>
            <a:pPr marL="171450" marR="0" lvl="1" indent="-171450" fontAlgn="auto">
              <a:lnSpc>
                <a:spcPct val="90000"/>
              </a:lnSpc>
              <a:spcBef>
                <a:spcPts val="500"/>
              </a:spcBef>
              <a:spcAft>
                <a:spcPts val="400"/>
              </a:spcAft>
              <a:buClr>
                <a:srgbClr val="FB4E0B"/>
              </a:buClr>
              <a:buSzTx/>
              <a:buFont typeface="Arial" panose="020B0604020202020204" pitchFamily="34" charset="0"/>
              <a:buChar char="•"/>
              <a:tabLst/>
              <a:defRPr/>
            </a:pPr>
            <a:r>
              <a:rPr lang="en-US" sz="1100" dirty="0">
                <a:solidFill>
                  <a:prstClr val="black"/>
                </a:solidFill>
                <a:latin typeface="Calibri Light" panose="020F0302020204030204"/>
                <a:cs typeface="Calibri Light" panose="020F0302020204030204" pitchFamily="34" charset="0"/>
              </a:rPr>
              <a:t>Requires manual clinical screening.</a:t>
            </a:r>
          </a:p>
          <a:p>
            <a:pPr marL="171450" marR="0" lvl="1" indent="-171450" fontAlgn="auto">
              <a:lnSpc>
                <a:spcPct val="90000"/>
              </a:lnSpc>
              <a:spcBef>
                <a:spcPts val="500"/>
              </a:spcBef>
              <a:spcAft>
                <a:spcPts val="400"/>
              </a:spcAft>
              <a:buClr>
                <a:srgbClr val="FB4E0B"/>
              </a:buClr>
              <a:buSzTx/>
              <a:buFont typeface="Arial" panose="020B0604020202020204" pitchFamily="34" charset="0"/>
              <a:buChar char="•"/>
              <a:tabLst/>
              <a:defRPr/>
            </a:pPr>
            <a:r>
              <a:rPr lang="en-US" sz="1100" dirty="0">
                <a:solidFill>
                  <a:prstClr val="black"/>
                </a:solidFill>
                <a:latin typeface="Calibri Light" panose="020F0302020204030204"/>
                <a:cs typeface="Calibri Light" panose="020F0302020204030204" pitchFamily="34" charset="0"/>
              </a:rPr>
              <a:t>No support for concurrent or retrospective reviews.</a:t>
            </a:r>
          </a:p>
        </p:txBody>
      </p:sp>
      <p:sp>
        <p:nvSpPr>
          <p:cNvPr id="178" name="Rectangle 177"/>
          <p:cNvSpPr/>
          <p:nvPr/>
        </p:nvSpPr>
        <p:spPr>
          <a:xfrm>
            <a:off x="9351601" y="3474043"/>
            <a:ext cx="2515278" cy="2711807"/>
          </a:xfrm>
          <a:prstGeom prst="rect">
            <a:avLst/>
          </a:prstGeom>
          <a:noFill/>
          <a:ln>
            <a:noFill/>
          </a:ln>
        </p:spPr>
        <p:txBody>
          <a:bodyPr wrap="square" anchor="t" anchorCtr="1">
            <a:noAutofit/>
          </a:bodyPr>
          <a:lstStyle/>
          <a:p>
            <a:pPr marL="0" lvl="1" defTabSz="457200">
              <a:lnSpc>
                <a:spcPct val="120000"/>
              </a:lnSpc>
              <a:spcAft>
                <a:spcPts val="400"/>
              </a:spcAft>
              <a:buClr>
                <a:srgbClr val="FB4E0B"/>
              </a:buClr>
              <a:defRPr/>
            </a:pPr>
            <a:r>
              <a:rPr lang="en-US" sz="1100" dirty="0">
                <a:solidFill>
                  <a:prstClr val="black"/>
                </a:solidFill>
                <a:latin typeface="Calibri Light" panose="020F0302020204030204"/>
                <a:cs typeface="Calibri Light" panose="020F0302020204030204" pitchFamily="34" charset="0"/>
              </a:rPr>
              <a:t>Offerings: </a:t>
            </a:r>
          </a:p>
          <a:p>
            <a:pPr marL="171450" lvl="1" indent="-171450">
              <a:lnSpc>
                <a:spcPct val="90000"/>
              </a:lnSpc>
              <a:spcBef>
                <a:spcPts val="500"/>
              </a:spcBef>
              <a:spcAft>
                <a:spcPts val="400"/>
              </a:spcAft>
              <a:buClr>
                <a:schemeClr val="tx2"/>
              </a:buClr>
              <a:buFont typeface="Arial" panose="020B0604020202020204" pitchFamily="34" charset="0"/>
              <a:buChar char="•"/>
              <a:defRPr/>
            </a:pPr>
            <a:r>
              <a:rPr lang="en-US" sz="1100" dirty="0">
                <a:solidFill>
                  <a:prstClr val="black"/>
                </a:solidFill>
                <a:latin typeface="Calibri Light" panose="020F0302020204030204"/>
                <a:cs typeface="Calibri Light" panose="020F0302020204030204" pitchFamily="34" charset="0"/>
              </a:rPr>
              <a:t>Streamlines authorization submissions </a:t>
            </a:r>
          </a:p>
          <a:p>
            <a:pPr marL="171450" lvl="1" indent="-171450">
              <a:lnSpc>
                <a:spcPct val="90000"/>
              </a:lnSpc>
              <a:spcBef>
                <a:spcPts val="500"/>
              </a:spcBef>
              <a:spcAft>
                <a:spcPts val="400"/>
              </a:spcAft>
              <a:buClr>
                <a:schemeClr val="tx2"/>
              </a:buClr>
              <a:buFont typeface="Arial" panose="020B0604020202020204" pitchFamily="34" charset="0"/>
              <a:buChar char="•"/>
              <a:defRPr/>
            </a:pPr>
            <a:r>
              <a:rPr lang="en-US" sz="1100" dirty="0">
                <a:solidFill>
                  <a:prstClr val="black"/>
                </a:solidFill>
                <a:latin typeface="Calibri Light" panose="020F0302020204030204"/>
                <a:cs typeface="Calibri Light" panose="020F0302020204030204" pitchFamily="34" charset="0"/>
              </a:rPr>
              <a:t>Caters to the needs of both payers and providers.</a:t>
            </a:r>
          </a:p>
          <a:p>
            <a:pPr marL="171450" lvl="1" indent="-171450">
              <a:lnSpc>
                <a:spcPct val="90000"/>
              </a:lnSpc>
              <a:spcBef>
                <a:spcPts val="500"/>
              </a:spcBef>
              <a:spcAft>
                <a:spcPts val="400"/>
              </a:spcAft>
              <a:buClr>
                <a:schemeClr val="tx2"/>
              </a:buClr>
              <a:buFont typeface="Arial" panose="020B0604020202020204" pitchFamily="34" charset="0"/>
              <a:buChar char="•"/>
              <a:defRPr/>
            </a:pPr>
            <a:r>
              <a:rPr lang="en-US" sz="1100" dirty="0">
                <a:solidFill>
                  <a:prstClr val="black"/>
                </a:solidFill>
                <a:latin typeface="Calibri Light" panose="020F0302020204030204"/>
                <a:cs typeface="Calibri Light" panose="020F0302020204030204" pitchFamily="34" charset="0"/>
              </a:rPr>
              <a:t>Provides end-to-end platform for prior authorization.</a:t>
            </a:r>
          </a:p>
          <a:p>
            <a:pPr marL="0" lvl="1" defTabSz="457200">
              <a:lnSpc>
                <a:spcPct val="120000"/>
              </a:lnSpc>
              <a:spcAft>
                <a:spcPts val="400"/>
              </a:spcAft>
              <a:buClr>
                <a:srgbClr val="FB4E0B"/>
              </a:buClr>
              <a:defRPr/>
            </a:pPr>
            <a:r>
              <a:rPr lang="en-US" sz="1100" dirty="0">
                <a:solidFill>
                  <a:srgbClr val="FF0000"/>
                </a:solidFill>
                <a:latin typeface="Calibri Light" panose="020F0302020204030204"/>
                <a:cs typeface="Calibri Light" panose="020F0302020204030204" pitchFamily="34" charset="0"/>
              </a:rPr>
              <a:t>Limitations:</a:t>
            </a:r>
          </a:p>
          <a:p>
            <a:pPr marL="171450" lvl="1" indent="-171450">
              <a:lnSpc>
                <a:spcPct val="90000"/>
              </a:lnSpc>
              <a:spcBef>
                <a:spcPts val="500"/>
              </a:spcBef>
              <a:spcAft>
                <a:spcPts val="400"/>
              </a:spcAft>
              <a:buClr>
                <a:srgbClr val="FB4E0B"/>
              </a:buClr>
              <a:buFont typeface="Arial" panose="020B0604020202020204" pitchFamily="34" charset="0"/>
              <a:buChar char="•"/>
              <a:defRPr/>
            </a:pPr>
            <a:r>
              <a:rPr lang="en-US" sz="1100" dirty="0">
                <a:solidFill>
                  <a:prstClr val="black"/>
                </a:solidFill>
                <a:latin typeface="Calibri Light" panose="020F0302020204030204"/>
                <a:cs typeface="Calibri Light" panose="020F0302020204030204" pitchFamily="34" charset="0"/>
              </a:rPr>
              <a:t>Requires manual clinical screening.</a:t>
            </a:r>
          </a:p>
          <a:p>
            <a:pPr marL="171450" lvl="1" indent="-171450">
              <a:lnSpc>
                <a:spcPct val="90000"/>
              </a:lnSpc>
              <a:spcBef>
                <a:spcPts val="500"/>
              </a:spcBef>
              <a:spcAft>
                <a:spcPts val="400"/>
              </a:spcAft>
              <a:buClr>
                <a:srgbClr val="FB4E0B"/>
              </a:buClr>
              <a:buFont typeface="Arial" panose="020B0604020202020204" pitchFamily="34" charset="0"/>
              <a:buChar char="•"/>
              <a:defRPr/>
            </a:pPr>
            <a:r>
              <a:rPr lang="en-US" sz="1100" dirty="0">
                <a:solidFill>
                  <a:prstClr val="black"/>
                </a:solidFill>
                <a:latin typeface="Calibri Light" panose="020F0302020204030204"/>
                <a:cs typeface="Calibri Light" panose="020F0302020204030204" pitchFamily="34" charset="0"/>
              </a:rPr>
              <a:t>No support for concurrent or retrospective reviews.</a:t>
            </a:r>
          </a:p>
          <a:p>
            <a:pPr marL="171450" marR="0" lvl="1" indent="-171450" algn="l" defTabSz="457200" rtl="0" eaLnBrk="1" fontAlgn="auto" latinLnBrk="0" hangingPunct="1">
              <a:lnSpc>
                <a:spcPct val="120000"/>
              </a:lnSpc>
              <a:spcBef>
                <a:spcPts val="0"/>
              </a:spcBef>
              <a:spcAft>
                <a:spcPts val="400"/>
              </a:spcAft>
              <a:buClr>
                <a:srgbClr val="FB4E0B"/>
              </a:buClr>
              <a:buSzTx/>
              <a:buFont typeface="Calibri" panose="020F0502020204030204" pitchFamily="34" charset="0"/>
              <a:buChar char="‒"/>
              <a:tabLst/>
              <a:defRPr/>
            </a:pPr>
            <a:endParaRPr lang="en-US" sz="1100" dirty="0">
              <a:solidFill>
                <a:prstClr val="black"/>
              </a:solidFill>
              <a:latin typeface="Calibri Light" panose="020F0302020204030204"/>
              <a:cs typeface="Calibri Light" panose="020F0302020204030204" pitchFamily="34" charset="0"/>
            </a:endParaRPr>
          </a:p>
          <a:p>
            <a:pPr marL="171450" marR="0" lvl="1" indent="-171450" algn="l" defTabSz="457200" rtl="0" eaLnBrk="1" fontAlgn="auto" latinLnBrk="0" hangingPunct="1">
              <a:lnSpc>
                <a:spcPct val="120000"/>
              </a:lnSpc>
              <a:spcBef>
                <a:spcPts val="0"/>
              </a:spcBef>
              <a:spcAft>
                <a:spcPts val="400"/>
              </a:spcAft>
              <a:buClr>
                <a:srgbClr val="FB4E0B"/>
              </a:buClr>
              <a:buSzTx/>
              <a:buFont typeface="Calibri" panose="020F050202020403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3" name="Picture 2"/>
          <p:cNvPicPr>
            <a:picLocks noChangeAspect="1"/>
          </p:cNvPicPr>
          <p:nvPr/>
        </p:nvPicPr>
        <p:blipFill rotWithShape="1">
          <a:blip r:embed="rId8">
            <a:extLst>
              <a:ext uri="{28A0092B-C50C-407E-A947-70E740481C1C}">
                <a14:useLocalDpi xmlns:a14="http://schemas.microsoft.com/office/drawing/2010/main" val="0"/>
              </a:ext>
            </a:extLst>
          </a:blip>
          <a:srcRect l="44694"/>
          <a:stretch/>
        </p:blipFill>
        <p:spPr>
          <a:xfrm>
            <a:off x="457200" y="3865907"/>
            <a:ext cx="3340757" cy="2108075"/>
          </a:xfrm>
          <a:prstGeom prst="rect">
            <a:avLst/>
          </a:prstGeom>
        </p:spPr>
      </p:pic>
      <p:pic>
        <p:nvPicPr>
          <p:cNvPr id="1030" name="Picture 6" descr="Patient Access &amp; Revenue Cycle Solutions | Infinx Healthcare">
            <a:extLst>
              <a:ext uri="{FF2B5EF4-FFF2-40B4-BE49-F238E27FC236}">
                <a16:creationId xmlns:a16="http://schemas.microsoft.com/office/drawing/2014/main" id="{1F572646-E146-1E20-FBC3-00EB97AA8DB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92019" y="1829840"/>
            <a:ext cx="1458890" cy="141048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he 7 Best Medical Billing Companies of 2021">
            <a:extLst>
              <a:ext uri="{FF2B5EF4-FFF2-40B4-BE49-F238E27FC236}">
                <a16:creationId xmlns:a16="http://schemas.microsoft.com/office/drawing/2014/main" id="{2C722580-CC4C-7DEF-34B0-B8BE968E6F9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06633" y="2401913"/>
            <a:ext cx="1617082" cy="26633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vaility's Line of Credit Round - CB Insights">
            <a:extLst>
              <a:ext uri="{FF2B5EF4-FFF2-40B4-BE49-F238E27FC236}">
                <a16:creationId xmlns:a16="http://schemas.microsoft.com/office/drawing/2014/main" id="{21DA1E3B-7395-07B5-55BA-EA949160D15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12681" r="-741" b="12576"/>
          <a:stretch/>
        </p:blipFill>
        <p:spPr bwMode="auto">
          <a:xfrm>
            <a:off x="9882002" y="2270008"/>
            <a:ext cx="1514695" cy="530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5580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63DB5E2-C650-F0E4-A386-2B8C7C86F076}"/>
              </a:ext>
            </a:extLst>
          </p:cNvPr>
          <p:cNvSpPr>
            <a:spLocks noGrp="1"/>
          </p:cNvSpPr>
          <p:nvPr>
            <p:ph type="ftr" sz="quarter" idx="1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©2021 Exl Service Holdings, Inc. All rights reserved.</a:t>
            </a: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7B5636FC-3FB0-592F-706D-FC573C3A915B}"/>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CA08CA8-4222-D24F-ACDB-33341C247B6F}" type="slidenum">
              <a:rPr kumimoji="0" lang="en-US" sz="8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aphicFrame>
        <p:nvGraphicFramePr>
          <p:cNvPr id="12" name="Table 11">
            <a:extLst>
              <a:ext uri="{FF2B5EF4-FFF2-40B4-BE49-F238E27FC236}">
                <a16:creationId xmlns:a16="http://schemas.microsoft.com/office/drawing/2014/main" id="{DC93C719-9CCE-18B7-B4C5-842C0551198A}"/>
              </a:ext>
            </a:extLst>
          </p:cNvPr>
          <p:cNvGraphicFramePr>
            <a:graphicFrameLocks noGrp="1"/>
          </p:cNvGraphicFramePr>
          <p:nvPr>
            <p:extLst>
              <p:ext uri="{D42A27DB-BD31-4B8C-83A1-F6EECF244321}">
                <p14:modId xmlns:p14="http://schemas.microsoft.com/office/powerpoint/2010/main" val="1964928934"/>
              </p:ext>
            </p:extLst>
          </p:nvPr>
        </p:nvGraphicFramePr>
        <p:xfrm>
          <a:off x="1364478" y="824396"/>
          <a:ext cx="8449056" cy="3130039"/>
        </p:xfrm>
        <a:graphic>
          <a:graphicData uri="http://schemas.openxmlformats.org/drawingml/2006/table">
            <a:tbl>
              <a:tblPr firstRow="1" bandRow="1">
                <a:tableStyleId>{5C22544A-7EE6-4342-B048-85BDC9FD1C3A}</a:tableStyleId>
              </a:tblPr>
              <a:tblGrid>
                <a:gridCol w="3712464">
                  <a:extLst>
                    <a:ext uri="{9D8B030D-6E8A-4147-A177-3AD203B41FA5}">
                      <a16:colId xmlns:a16="http://schemas.microsoft.com/office/drawing/2014/main" val="538977017"/>
                    </a:ext>
                  </a:extLst>
                </a:gridCol>
                <a:gridCol w="1207008">
                  <a:extLst>
                    <a:ext uri="{9D8B030D-6E8A-4147-A177-3AD203B41FA5}">
                      <a16:colId xmlns:a16="http://schemas.microsoft.com/office/drawing/2014/main" val="67485604"/>
                    </a:ext>
                  </a:extLst>
                </a:gridCol>
                <a:gridCol w="1170432">
                  <a:extLst>
                    <a:ext uri="{9D8B030D-6E8A-4147-A177-3AD203B41FA5}">
                      <a16:colId xmlns:a16="http://schemas.microsoft.com/office/drawing/2014/main" val="879161561"/>
                    </a:ext>
                  </a:extLst>
                </a:gridCol>
                <a:gridCol w="1097280">
                  <a:extLst>
                    <a:ext uri="{9D8B030D-6E8A-4147-A177-3AD203B41FA5}">
                      <a16:colId xmlns:a16="http://schemas.microsoft.com/office/drawing/2014/main" val="1425068673"/>
                    </a:ext>
                  </a:extLst>
                </a:gridCol>
                <a:gridCol w="1261872">
                  <a:extLst>
                    <a:ext uri="{9D8B030D-6E8A-4147-A177-3AD203B41FA5}">
                      <a16:colId xmlns:a16="http://schemas.microsoft.com/office/drawing/2014/main" val="2192607623"/>
                    </a:ext>
                  </a:extLst>
                </a:gridCol>
              </a:tblGrid>
              <a:tr h="6992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dirty="0">
                          <a:ln>
                            <a:noFill/>
                          </a:ln>
                          <a:solidFill>
                            <a:srgbClr val="FF0000"/>
                          </a:solidFill>
                          <a:effectLst/>
                          <a:uLnTx/>
                          <a:uFillTx/>
                          <a:latin typeface="Calibri Light" panose="020F0302020204030204"/>
                          <a:cs typeface="Calibri Light" panose="020F0302020204030204" pitchFamily="34" charset="0"/>
                        </a:rPr>
                        <a:t>Point of Evaluation</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dirty="0">
                          <a:ln>
                            <a:noFill/>
                          </a:ln>
                          <a:solidFill>
                            <a:srgbClr val="FF0000"/>
                          </a:solidFill>
                          <a:effectLst/>
                          <a:uLnTx/>
                          <a:uFillTx/>
                          <a:latin typeface="Calibri Light" panose="020F0302020204030204"/>
                          <a:ea typeface="+mn-ea"/>
                          <a:cs typeface="Calibri Light" panose="020F0302020204030204" pitchFamily="34" charset="0"/>
                        </a:rPr>
                        <a:t>INFINX</a:t>
                      </a:r>
                    </a:p>
                  </a:txBody>
                  <a:tcPr anchor="ctr">
                    <a:solidFill>
                      <a:srgbClr val="CDED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dirty="0">
                          <a:ln>
                            <a:noFill/>
                          </a:ln>
                          <a:solidFill>
                            <a:srgbClr val="FF0000"/>
                          </a:solidFill>
                          <a:effectLst/>
                          <a:uLnTx/>
                          <a:uFillTx/>
                          <a:latin typeface="Calibri Light" panose="020F0302020204030204"/>
                          <a:ea typeface="+mn-ea"/>
                          <a:cs typeface="Calibri Light" panose="020F0302020204030204" pitchFamily="34" charset="0"/>
                        </a:rPr>
                        <a:t>WAYSTAR</a:t>
                      </a:r>
                    </a:p>
                  </a:txBody>
                  <a:tcPr anchor="ctr">
                    <a:solidFill>
                      <a:srgbClr val="CDED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dirty="0">
                          <a:ln>
                            <a:noFill/>
                          </a:ln>
                          <a:solidFill>
                            <a:srgbClr val="FF0000"/>
                          </a:solidFill>
                          <a:effectLst/>
                          <a:uLnTx/>
                          <a:uFillTx/>
                          <a:latin typeface="Calibri Light" panose="020F0302020204030204"/>
                          <a:ea typeface="+mn-ea"/>
                          <a:cs typeface="Calibri Light" panose="020F0302020204030204" pitchFamily="34" charset="0"/>
                        </a:rPr>
                        <a:t>AVAILITY</a:t>
                      </a:r>
                    </a:p>
                  </a:txBody>
                  <a:tcPr anchor="ctr">
                    <a:solidFill>
                      <a:srgbClr val="CDED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dirty="0">
                          <a:ln>
                            <a:noFill/>
                          </a:ln>
                          <a:solidFill>
                            <a:srgbClr val="FF0000"/>
                          </a:solidFill>
                          <a:effectLst/>
                          <a:uLnTx/>
                          <a:uFillTx/>
                          <a:latin typeface="Calibri Light" panose="020F0302020204030204"/>
                          <a:ea typeface="+mn-ea"/>
                          <a:cs typeface="Calibri Light" panose="020F0302020204030204" pitchFamily="34" charset="0"/>
                        </a:rPr>
                        <a:t>CITIUS TECH</a:t>
                      </a:r>
                    </a:p>
                  </a:txBody>
                  <a:tcPr anchor="ctr">
                    <a:solidFill>
                      <a:srgbClr val="CDEDFF"/>
                    </a:solidFill>
                  </a:tcPr>
                </a:tc>
                <a:extLst>
                  <a:ext uri="{0D108BD9-81ED-4DB2-BD59-A6C34878D82A}">
                    <a16:rowId xmlns:a16="http://schemas.microsoft.com/office/drawing/2014/main" val="3445420941"/>
                  </a:ext>
                </a:extLst>
              </a:tr>
              <a:tr h="405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Integration with EHR platforms</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tx2"/>
                        </a:solidFill>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tx2"/>
                        </a:solidFill>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tx2"/>
                        </a:solidFill>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tx2"/>
                        </a:solidFill>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4241061684"/>
                  </a:ext>
                </a:extLst>
              </a:tr>
              <a:tr h="405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Automation Level</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High</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High</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High</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Nil</a:t>
                      </a:r>
                    </a:p>
                  </a:txBody>
                  <a:tcPr anchor="ctr">
                    <a:solidFill>
                      <a:schemeClr val="bg1">
                        <a:lumMod val="95000"/>
                      </a:schemeClr>
                    </a:solidFill>
                  </a:tcPr>
                </a:tc>
                <a:extLst>
                  <a:ext uri="{0D108BD9-81ED-4DB2-BD59-A6C34878D82A}">
                    <a16:rowId xmlns:a16="http://schemas.microsoft.com/office/drawing/2014/main" val="1859149670"/>
                  </a:ext>
                </a:extLst>
              </a:tr>
              <a:tr h="405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AI/ML Integration</a:t>
                      </a:r>
                    </a:p>
                  </a:txBody>
                  <a:tcPr anchor="c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High</a:t>
                      </a:r>
                    </a:p>
                  </a:txBody>
                  <a:tcPr anchor="c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Nil</a:t>
                      </a:r>
                    </a:p>
                  </a:txBody>
                  <a:tcPr anchor="c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Mid</a:t>
                      </a:r>
                    </a:p>
                  </a:txBody>
                  <a:tcPr anchor="c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Mid</a:t>
                      </a:r>
                    </a:p>
                  </a:txBody>
                  <a:tcPr anchor="ctr">
                    <a:solidFill>
                      <a:schemeClr val="bg2">
                        <a:lumMod val="95000"/>
                      </a:schemeClr>
                    </a:solidFill>
                  </a:tcPr>
                </a:tc>
                <a:extLst>
                  <a:ext uri="{0D108BD9-81ED-4DB2-BD59-A6C34878D82A}">
                    <a16:rowId xmlns:a16="http://schemas.microsoft.com/office/drawing/2014/main" val="1923217296"/>
                  </a:ext>
                </a:extLst>
              </a:tr>
              <a:tr h="405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Agentic AI Capabilities</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High</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Nil</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Nil</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Nil</a:t>
                      </a:r>
                    </a:p>
                  </a:txBody>
                  <a:tcPr anchor="ctr">
                    <a:solidFill>
                      <a:schemeClr val="bg1">
                        <a:lumMod val="95000"/>
                      </a:schemeClr>
                    </a:solidFill>
                  </a:tcPr>
                </a:tc>
                <a:extLst>
                  <a:ext uri="{0D108BD9-81ED-4DB2-BD59-A6C34878D82A}">
                    <a16:rowId xmlns:a16="http://schemas.microsoft.com/office/drawing/2014/main" val="2737959234"/>
                  </a:ext>
                </a:extLst>
              </a:tr>
              <a:tr h="405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Analytics Capabilities</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High</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High</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High</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High</a:t>
                      </a:r>
                    </a:p>
                  </a:txBody>
                  <a:tcPr anchor="ctr">
                    <a:solidFill>
                      <a:schemeClr val="bg1">
                        <a:lumMod val="95000"/>
                      </a:schemeClr>
                    </a:solidFill>
                  </a:tcPr>
                </a:tc>
                <a:extLst>
                  <a:ext uri="{0D108BD9-81ED-4DB2-BD59-A6C34878D82A}">
                    <a16:rowId xmlns:a16="http://schemas.microsoft.com/office/drawing/2014/main" val="949094102"/>
                  </a:ext>
                </a:extLst>
              </a:tr>
              <a:tr h="405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Whole UM process automation</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Nil</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Nil</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Nil</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Nil</a:t>
                      </a:r>
                    </a:p>
                  </a:txBody>
                  <a:tcPr anchor="ctr">
                    <a:solidFill>
                      <a:schemeClr val="bg1">
                        <a:lumMod val="95000"/>
                      </a:schemeClr>
                    </a:solidFill>
                  </a:tcPr>
                </a:tc>
                <a:extLst>
                  <a:ext uri="{0D108BD9-81ED-4DB2-BD59-A6C34878D82A}">
                    <a16:rowId xmlns:a16="http://schemas.microsoft.com/office/drawing/2014/main" val="2712906011"/>
                  </a:ext>
                </a:extLst>
              </a:tr>
            </a:tbl>
          </a:graphicData>
        </a:graphic>
      </p:graphicFrame>
      <p:sp>
        <p:nvSpPr>
          <p:cNvPr id="14" name="TextBox 13">
            <a:extLst>
              <a:ext uri="{FF2B5EF4-FFF2-40B4-BE49-F238E27FC236}">
                <a16:creationId xmlns:a16="http://schemas.microsoft.com/office/drawing/2014/main" id="{72BA5572-B40B-E953-2A64-EBF5B84E09EC}"/>
              </a:ext>
            </a:extLst>
          </p:cNvPr>
          <p:cNvSpPr txBox="1"/>
          <p:nvPr/>
        </p:nvSpPr>
        <p:spPr>
          <a:xfrm>
            <a:off x="459486" y="362373"/>
            <a:ext cx="6094476" cy="496161"/>
          </a:xfrm>
          <a:prstGeom prst="rect">
            <a:avLst/>
          </a:prstGeom>
          <a:noFill/>
        </p:spPr>
        <p:txBody>
          <a:bodyPr wrap="square">
            <a:spAutoFit/>
          </a:bodyPr>
          <a:lstStyle/>
          <a:p>
            <a:pPr marL="0" marR="0" lvl="0" indent="0" algn="l" defTabSz="914400" rtl="0" eaLnBrk="1" fontAlgn="auto" latinLnBrk="0" hangingPunct="1">
              <a:lnSpc>
                <a:spcPct val="80000"/>
              </a:lnSpc>
              <a:spcBef>
                <a:spcPct val="0"/>
              </a:spcBef>
              <a:spcAft>
                <a:spcPts val="0"/>
              </a:spcAft>
              <a:buClrTx/>
              <a:buSzTx/>
              <a:buFontTx/>
              <a:buNone/>
              <a:tabLst/>
              <a:defRPr/>
            </a:pPr>
            <a:r>
              <a:rPr lang="en-US" sz="3200" b="1" dirty="0">
                <a:solidFill>
                  <a:srgbClr val="FF4E0B"/>
                </a:solidFill>
                <a:latin typeface="+mj-lt"/>
                <a:ea typeface="+mj-ea"/>
                <a:cs typeface="+mj-cs"/>
              </a:rPr>
              <a:t>Industry Offerings Cont.</a:t>
            </a:r>
          </a:p>
        </p:txBody>
      </p:sp>
      <p:graphicFrame>
        <p:nvGraphicFramePr>
          <p:cNvPr id="2" name="Table 1">
            <a:extLst>
              <a:ext uri="{FF2B5EF4-FFF2-40B4-BE49-F238E27FC236}">
                <a16:creationId xmlns:a16="http://schemas.microsoft.com/office/drawing/2014/main" id="{69E3CBB3-0BA8-DF03-F585-776103E40EFE}"/>
              </a:ext>
            </a:extLst>
          </p:cNvPr>
          <p:cNvGraphicFramePr>
            <a:graphicFrameLocks noGrp="1"/>
          </p:cNvGraphicFramePr>
          <p:nvPr>
            <p:extLst>
              <p:ext uri="{D42A27DB-BD31-4B8C-83A1-F6EECF244321}">
                <p14:modId xmlns:p14="http://schemas.microsoft.com/office/powerpoint/2010/main" val="3462279326"/>
              </p:ext>
            </p:extLst>
          </p:nvPr>
        </p:nvGraphicFramePr>
        <p:xfrm>
          <a:off x="1364478" y="4152856"/>
          <a:ext cx="8449056" cy="1804445"/>
        </p:xfrm>
        <a:graphic>
          <a:graphicData uri="http://schemas.openxmlformats.org/drawingml/2006/table">
            <a:tbl>
              <a:tblPr firstRow="1" bandRow="1">
                <a:tableStyleId>{5C22544A-7EE6-4342-B048-85BDC9FD1C3A}</a:tableStyleId>
              </a:tblPr>
              <a:tblGrid>
                <a:gridCol w="3089827">
                  <a:extLst>
                    <a:ext uri="{9D8B030D-6E8A-4147-A177-3AD203B41FA5}">
                      <a16:colId xmlns:a16="http://schemas.microsoft.com/office/drawing/2014/main" val="538977017"/>
                    </a:ext>
                  </a:extLst>
                </a:gridCol>
                <a:gridCol w="5359229">
                  <a:extLst>
                    <a:ext uri="{9D8B030D-6E8A-4147-A177-3AD203B41FA5}">
                      <a16:colId xmlns:a16="http://schemas.microsoft.com/office/drawing/2014/main" val="67485604"/>
                    </a:ext>
                  </a:extLst>
                </a:gridCol>
              </a:tblGrid>
              <a:tr h="43808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dirty="0">
                          <a:ln>
                            <a:noFill/>
                          </a:ln>
                          <a:solidFill>
                            <a:srgbClr val="FF0000"/>
                          </a:solidFill>
                          <a:effectLst/>
                          <a:uLnTx/>
                          <a:uFillTx/>
                          <a:latin typeface="Calibri Light" panose="020F0302020204030204"/>
                          <a:ea typeface="+mn-ea"/>
                          <a:cs typeface="Calibri Light" panose="020F0302020204030204" pitchFamily="34" charset="0"/>
                        </a:rPr>
                        <a:t>Industry</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dirty="0">
                          <a:ln>
                            <a:noFill/>
                          </a:ln>
                          <a:solidFill>
                            <a:srgbClr val="FF0000"/>
                          </a:solidFill>
                          <a:effectLst/>
                          <a:uLnTx/>
                          <a:uFillTx/>
                          <a:latin typeface="Calibri Light" panose="020F0302020204030204"/>
                          <a:ea typeface="+mn-ea"/>
                          <a:cs typeface="Calibri Light" panose="020F0302020204030204" pitchFamily="34" charset="0"/>
                        </a:rPr>
                        <a:t>Reviews</a:t>
                      </a:r>
                    </a:p>
                  </a:txBody>
                  <a:tcPr anchor="ctr">
                    <a:solidFill>
                      <a:srgbClr val="CDEDFF"/>
                    </a:solidFill>
                  </a:tcPr>
                </a:tc>
                <a:extLst>
                  <a:ext uri="{0D108BD9-81ED-4DB2-BD59-A6C34878D82A}">
                    <a16:rowId xmlns:a16="http://schemas.microsoft.com/office/drawing/2014/main" val="3445420941"/>
                  </a:ext>
                </a:extLst>
              </a:tr>
              <a:tr h="3415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dirty="0">
                          <a:ln>
                            <a:noFill/>
                          </a:ln>
                          <a:solidFill>
                            <a:srgbClr val="FF0000"/>
                          </a:solidFill>
                          <a:effectLst/>
                          <a:uLnTx/>
                          <a:uFillTx/>
                          <a:latin typeface="Calibri Light" panose="020F0302020204030204"/>
                          <a:ea typeface="+mn-ea"/>
                          <a:cs typeface="Calibri Light" panose="020F0302020204030204" pitchFamily="34" charset="0"/>
                        </a:rPr>
                        <a:t>INFINX</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Best for AI and Predictive Analytics in Pre Auth</a:t>
                      </a:r>
                    </a:p>
                  </a:txBody>
                  <a:tcPr anchor="ctr">
                    <a:solidFill>
                      <a:schemeClr val="bg1">
                        <a:lumMod val="95000"/>
                      </a:schemeClr>
                    </a:solidFill>
                  </a:tcPr>
                </a:tc>
                <a:extLst>
                  <a:ext uri="{0D108BD9-81ED-4DB2-BD59-A6C34878D82A}">
                    <a16:rowId xmlns:a16="http://schemas.microsoft.com/office/drawing/2014/main" val="4241061684"/>
                  </a:ext>
                </a:extLst>
              </a:tr>
              <a:tr h="3415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dirty="0">
                          <a:ln>
                            <a:noFill/>
                          </a:ln>
                          <a:solidFill>
                            <a:srgbClr val="FF0000"/>
                          </a:solidFill>
                          <a:effectLst/>
                          <a:uLnTx/>
                          <a:uFillTx/>
                          <a:latin typeface="Calibri Light" panose="020F0302020204030204"/>
                          <a:ea typeface="+mn-ea"/>
                          <a:cs typeface="Calibri Light" panose="020F0302020204030204" pitchFamily="34" charset="0"/>
                        </a:rPr>
                        <a:t>WAYSTAR</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Best for maximizing collections and reducing workloads</a:t>
                      </a:r>
                    </a:p>
                  </a:txBody>
                  <a:tcPr anchor="ctr">
                    <a:solidFill>
                      <a:schemeClr val="bg1">
                        <a:lumMod val="95000"/>
                      </a:schemeClr>
                    </a:solidFill>
                  </a:tcPr>
                </a:tc>
                <a:extLst>
                  <a:ext uri="{0D108BD9-81ED-4DB2-BD59-A6C34878D82A}">
                    <a16:rowId xmlns:a16="http://schemas.microsoft.com/office/drawing/2014/main" val="1859149670"/>
                  </a:ext>
                </a:extLst>
              </a:tr>
              <a:tr h="3415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dirty="0">
                          <a:ln>
                            <a:noFill/>
                          </a:ln>
                          <a:solidFill>
                            <a:srgbClr val="FF0000"/>
                          </a:solidFill>
                          <a:effectLst/>
                          <a:uLnTx/>
                          <a:uFillTx/>
                          <a:latin typeface="Calibri Light" panose="020F0302020204030204"/>
                          <a:ea typeface="+mn-ea"/>
                          <a:cs typeface="Calibri Light" panose="020F0302020204030204" pitchFamily="34" charset="0"/>
                        </a:rPr>
                        <a:t>AVAILITY</a:t>
                      </a:r>
                    </a:p>
                  </a:txBody>
                  <a:tcPr anchor="c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Seamless integration with multiple platforms with help of APIs</a:t>
                      </a:r>
                    </a:p>
                  </a:txBody>
                  <a:tcPr anchor="ctr">
                    <a:solidFill>
                      <a:schemeClr val="bg2">
                        <a:lumMod val="95000"/>
                      </a:schemeClr>
                    </a:solidFill>
                  </a:tcPr>
                </a:tc>
                <a:extLst>
                  <a:ext uri="{0D108BD9-81ED-4DB2-BD59-A6C34878D82A}">
                    <a16:rowId xmlns:a16="http://schemas.microsoft.com/office/drawing/2014/main" val="1923217296"/>
                  </a:ext>
                </a:extLst>
              </a:tr>
              <a:tr h="3415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dirty="0">
                          <a:ln>
                            <a:noFill/>
                          </a:ln>
                          <a:solidFill>
                            <a:srgbClr val="FF0000"/>
                          </a:solidFill>
                          <a:effectLst/>
                          <a:uLnTx/>
                          <a:uFillTx/>
                          <a:latin typeface="Calibri Light" panose="020F0302020204030204"/>
                          <a:ea typeface="+mn-ea"/>
                          <a:cs typeface="Calibri Light" panose="020F0302020204030204" pitchFamily="34" charset="0"/>
                        </a:rPr>
                        <a:t>CITIUS TECH</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mn-cs"/>
                        </a:rPr>
                        <a:t>Not a AI enabled Agent but more like an assistant tool</a:t>
                      </a:r>
                    </a:p>
                  </a:txBody>
                  <a:tcPr anchor="ctr">
                    <a:solidFill>
                      <a:schemeClr val="bg1">
                        <a:lumMod val="95000"/>
                      </a:schemeClr>
                    </a:solidFill>
                  </a:tcPr>
                </a:tc>
                <a:extLst>
                  <a:ext uri="{0D108BD9-81ED-4DB2-BD59-A6C34878D82A}">
                    <a16:rowId xmlns:a16="http://schemas.microsoft.com/office/drawing/2014/main" val="2737959234"/>
                  </a:ext>
                </a:extLst>
              </a:tr>
            </a:tbl>
          </a:graphicData>
        </a:graphic>
      </p:graphicFrame>
      <p:sp>
        <p:nvSpPr>
          <p:cNvPr id="5" name="Star: 5 Points 4">
            <a:extLst>
              <a:ext uri="{FF2B5EF4-FFF2-40B4-BE49-F238E27FC236}">
                <a16:creationId xmlns:a16="http://schemas.microsoft.com/office/drawing/2014/main" id="{136BE17F-26E2-4C93-7601-2708FD29B474}"/>
              </a:ext>
            </a:extLst>
          </p:cNvPr>
          <p:cNvSpPr/>
          <p:nvPr/>
        </p:nvSpPr>
        <p:spPr>
          <a:xfrm>
            <a:off x="1946496" y="4626321"/>
            <a:ext cx="280657" cy="26255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tar: 5 Points 5">
            <a:extLst>
              <a:ext uri="{FF2B5EF4-FFF2-40B4-BE49-F238E27FC236}">
                <a16:creationId xmlns:a16="http://schemas.microsoft.com/office/drawing/2014/main" id="{166DB298-B71F-FEEF-1AE8-08944040EEE1}"/>
              </a:ext>
            </a:extLst>
          </p:cNvPr>
          <p:cNvSpPr/>
          <p:nvPr/>
        </p:nvSpPr>
        <p:spPr>
          <a:xfrm>
            <a:off x="1935934" y="5249500"/>
            <a:ext cx="280657" cy="26255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tar: 5 Points 6">
            <a:extLst>
              <a:ext uri="{FF2B5EF4-FFF2-40B4-BE49-F238E27FC236}">
                <a16:creationId xmlns:a16="http://schemas.microsoft.com/office/drawing/2014/main" id="{514D58DF-2E8E-4F0A-0772-D0617B7CE9DE}"/>
              </a:ext>
            </a:extLst>
          </p:cNvPr>
          <p:cNvSpPr/>
          <p:nvPr/>
        </p:nvSpPr>
        <p:spPr>
          <a:xfrm>
            <a:off x="790019" y="6019520"/>
            <a:ext cx="202193" cy="225302"/>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6FAD980-C2F4-268F-EF8C-5B3285271A4B}"/>
              </a:ext>
            </a:extLst>
          </p:cNvPr>
          <p:cNvSpPr txBox="1"/>
          <p:nvPr/>
        </p:nvSpPr>
        <p:spPr>
          <a:xfrm>
            <a:off x="992212" y="6019520"/>
            <a:ext cx="5685577" cy="276999"/>
          </a:xfrm>
          <a:prstGeom prst="rect">
            <a:avLst/>
          </a:prstGeom>
          <a:noFill/>
        </p:spPr>
        <p:txBody>
          <a:bodyPr wrap="square" rtlCol="0">
            <a:spAutoFit/>
          </a:bodyPr>
          <a:lstStyle/>
          <a:p>
            <a:r>
              <a:rPr lang="en-US" sz="1200" dirty="0"/>
              <a:t>Need to investigate it more closely</a:t>
            </a:r>
          </a:p>
        </p:txBody>
      </p:sp>
      <p:pic>
        <p:nvPicPr>
          <p:cNvPr id="10" name="Graphic 9" descr="Checkmark with solid fill">
            <a:extLst>
              <a:ext uri="{FF2B5EF4-FFF2-40B4-BE49-F238E27FC236}">
                <a16:creationId xmlns:a16="http://schemas.microsoft.com/office/drawing/2014/main" id="{010CE534-067B-C976-EBEB-9687F2E490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14212" y="1599066"/>
            <a:ext cx="273111" cy="273111"/>
          </a:xfrm>
          <a:prstGeom prst="rect">
            <a:avLst/>
          </a:prstGeom>
        </p:spPr>
      </p:pic>
      <p:pic>
        <p:nvPicPr>
          <p:cNvPr id="11" name="Graphic 10" descr="Checkmark with solid fill">
            <a:extLst>
              <a:ext uri="{FF2B5EF4-FFF2-40B4-BE49-F238E27FC236}">
                <a16:creationId xmlns:a16="http://schemas.microsoft.com/office/drawing/2014/main" id="{C9044D17-909E-614C-D0ED-21F1298D26D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98453" y="1599818"/>
            <a:ext cx="273111" cy="273111"/>
          </a:xfrm>
          <a:prstGeom prst="rect">
            <a:avLst/>
          </a:prstGeom>
        </p:spPr>
      </p:pic>
      <p:pic>
        <p:nvPicPr>
          <p:cNvPr id="9" name="Graphic 8" descr="Checkmark with solid fill">
            <a:extLst>
              <a:ext uri="{FF2B5EF4-FFF2-40B4-BE49-F238E27FC236}">
                <a16:creationId xmlns:a16="http://schemas.microsoft.com/office/drawing/2014/main" id="{9D6EF476-9ECB-47E3-8D24-48AB009B6FB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76556" y="1599065"/>
            <a:ext cx="273111" cy="273111"/>
          </a:xfrm>
          <a:prstGeom prst="rect">
            <a:avLst/>
          </a:prstGeom>
        </p:spPr>
      </p:pic>
    </p:spTree>
    <p:extLst>
      <p:ext uri="{BB962C8B-B14F-4D97-AF65-F5344CB8AC3E}">
        <p14:creationId xmlns:p14="http://schemas.microsoft.com/office/powerpoint/2010/main" val="364245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07DB6-A47A-9EA6-BE8D-E0156C8E9757}"/>
            </a:ext>
          </a:extLst>
        </p:cNvPr>
        <p:cNvGrpSpPr/>
        <p:nvPr/>
      </p:nvGrpSpPr>
      <p:grpSpPr>
        <a:xfrm>
          <a:off x="0" y="0"/>
          <a:ext cx="0" cy="0"/>
          <a:chOff x="0" y="0"/>
          <a:chExt cx="0" cy="0"/>
        </a:xfrm>
      </p:grpSpPr>
      <p:sp>
        <p:nvSpPr>
          <p:cNvPr id="1094" name="Rectangle 1093">
            <a:extLst>
              <a:ext uri="{FF2B5EF4-FFF2-40B4-BE49-F238E27FC236}">
                <a16:creationId xmlns:a16="http://schemas.microsoft.com/office/drawing/2014/main" id="{9DAEC1AD-A901-E6F7-F6CE-11E8497F751A}"/>
              </a:ext>
            </a:extLst>
          </p:cNvPr>
          <p:cNvSpPr/>
          <p:nvPr/>
        </p:nvSpPr>
        <p:spPr>
          <a:xfrm>
            <a:off x="177859" y="1353312"/>
            <a:ext cx="7318673" cy="5065776"/>
          </a:xfrm>
          <a:prstGeom prst="rect">
            <a:avLst/>
          </a:prstGeom>
          <a:solidFill>
            <a:srgbClr val="FEDBCE">
              <a:alpha val="23922"/>
            </a:srgbClr>
          </a:solidFill>
          <a:ln w="12700">
            <a:solidFill>
              <a:schemeClr val="tx2">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A2637E-6D0E-C84A-391A-0187C2172661}"/>
              </a:ext>
            </a:extLst>
          </p:cNvPr>
          <p:cNvSpPr>
            <a:spLocks noGrp="1"/>
          </p:cNvSpPr>
          <p:nvPr>
            <p:ph type="ctrTitle"/>
          </p:nvPr>
        </p:nvSpPr>
        <p:spPr>
          <a:xfrm>
            <a:off x="173736" y="269157"/>
            <a:ext cx="11277600" cy="672567"/>
          </a:xfrm>
        </p:spPr>
        <p:txBody>
          <a:bodyPr>
            <a:normAutofit/>
          </a:bodyPr>
          <a:lstStyle/>
          <a:p>
            <a:r>
              <a:rPr lang="en-US" sz="3200" dirty="0"/>
              <a:t>Current Process</a:t>
            </a:r>
          </a:p>
        </p:txBody>
      </p:sp>
      <p:grpSp>
        <p:nvGrpSpPr>
          <p:cNvPr id="52" name="Group 51">
            <a:extLst>
              <a:ext uri="{FF2B5EF4-FFF2-40B4-BE49-F238E27FC236}">
                <a16:creationId xmlns:a16="http://schemas.microsoft.com/office/drawing/2014/main" id="{807B9846-4B28-B09B-21FB-165C886D9451}"/>
              </a:ext>
            </a:extLst>
          </p:cNvPr>
          <p:cNvGrpSpPr/>
          <p:nvPr/>
        </p:nvGrpSpPr>
        <p:grpSpPr>
          <a:xfrm>
            <a:off x="829021" y="1795604"/>
            <a:ext cx="324498" cy="356670"/>
            <a:chOff x="2416409" y="2209579"/>
            <a:chExt cx="439601" cy="457200"/>
          </a:xfrm>
          <a:noFill/>
        </p:grpSpPr>
        <p:sp>
          <p:nvSpPr>
            <p:cNvPr id="53" name="Oval 52">
              <a:extLst>
                <a:ext uri="{FF2B5EF4-FFF2-40B4-BE49-F238E27FC236}">
                  <a16:creationId xmlns:a16="http://schemas.microsoft.com/office/drawing/2014/main" id="{D69D09F2-C9EB-051B-1D2F-2AF3A5D5F855}"/>
                </a:ext>
              </a:extLst>
            </p:cNvPr>
            <p:cNvSpPr/>
            <p:nvPr/>
          </p:nvSpPr>
          <p:spPr>
            <a:xfrm>
              <a:off x="2416409" y="2209579"/>
              <a:ext cx="439601" cy="457200"/>
            </a:xfrm>
            <a:prstGeom prst="ellipse">
              <a:avLst/>
            </a:prstGeom>
            <a:grpFill/>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B4D0A"/>
                </a:solidFill>
                <a:effectLst/>
                <a:uLnTx/>
                <a:uFillTx/>
                <a:latin typeface="Calibri Light" panose="020F0302020204030204"/>
                <a:ea typeface="+mn-ea"/>
                <a:cs typeface="+mn-cs"/>
              </a:endParaRPr>
            </a:p>
          </p:txBody>
        </p:sp>
        <p:pic>
          <p:nvPicPr>
            <p:cNvPr id="54" name="Picture 53">
              <a:extLst>
                <a:ext uri="{FF2B5EF4-FFF2-40B4-BE49-F238E27FC236}">
                  <a16:creationId xmlns:a16="http://schemas.microsoft.com/office/drawing/2014/main" id="{70565DB7-AEF0-42FC-7C6B-84E3C9AD8F44}"/>
                </a:ext>
              </a:extLst>
            </p:cNvPr>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2487134" y="2252445"/>
              <a:ext cx="308865" cy="317264"/>
            </a:xfrm>
            <a:prstGeom prst="rect">
              <a:avLst/>
            </a:prstGeom>
            <a:grpFill/>
          </p:spPr>
        </p:pic>
      </p:grpSp>
      <p:grpSp>
        <p:nvGrpSpPr>
          <p:cNvPr id="55" name="Group 54">
            <a:extLst>
              <a:ext uri="{FF2B5EF4-FFF2-40B4-BE49-F238E27FC236}">
                <a16:creationId xmlns:a16="http://schemas.microsoft.com/office/drawing/2014/main" id="{788389FD-C0FB-49B4-1A10-66B17DF334D2}"/>
              </a:ext>
            </a:extLst>
          </p:cNvPr>
          <p:cNvGrpSpPr/>
          <p:nvPr/>
        </p:nvGrpSpPr>
        <p:grpSpPr>
          <a:xfrm>
            <a:off x="8088337" y="1825261"/>
            <a:ext cx="354108" cy="339296"/>
            <a:chOff x="7234524" y="2218501"/>
            <a:chExt cx="439601" cy="457200"/>
          </a:xfrm>
        </p:grpSpPr>
        <p:sp>
          <p:nvSpPr>
            <p:cNvPr id="56" name="Oval 55">
              <a:extLst>
                <a:ext uri="{FF2B5EF4-FFF2-40B4-BE49-F238E27FC236}">
                  <a16:creationId xmlns:a16="http://schemas.microsoft.com/office/drawing/2014/main" id="{1812A3FD-1C53-16E1-1E8F-8DE0B38468E1}"/>
                </a:ext>
              </a:extLst>
            </p:cNvPr>
            <p:cNvSpPr/>
            <p:nvPr/>
          </p:nvSpPr>
          <p:spPr>
            <a:xfrm>
              <a:off x="7234524" y="2218501"/>
              <a:ext cx="439601" cy="45720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B4D0A"/>
                </a:solidFill>
                <a:effectLst/>
                <a:uLnTx/>
                <a:uFillTx/>
                <a:latin typeface="Calibri Light" panose="020F0302020204030204"/>
                <a:ea typeface="+mn-ea"/>
                <a:cs typeface="+mn-cs"/>
              </a:endParaRPr>
            </a:p>
          </p:txBody>
        </p:sp>
        <p:pic>
          <p:nvPicPr>
            <p:cNvPr id="57" name="Picture 56">
              <a:extLst>
                <a:ext uri="{FF2B5EF4-FFF2-40B4-BE49-F238E27FC236}">
                  <a16:creationId xmlns:a16="http://schemas.microsoft.com/office/drawing/2014/main" id="{2F69754A-D167-0CE4-57F3-938865BE6789}"/>
                </a:ext>
              </a:extLst>
            </p:cNvPr>
            <p:cNvPicPr>
              <a:picLocks noChangeAspect="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7316947" y="2304155"/>
              <a:ext cx="274754" cy="282925"/>
            </a:xfrm>
            <a:prstGeom prst="rect">
              <a:avLst/>
            </a:prstGeom>
          </p:spPr>
        </p:pic>
      </p:grpSp>
      <p:pic>
        <p:nvPicPr>
          <p:cNvPr id="58" name="Picture 57">
            <a:extLst>
              <a:ext uri="{FF2B5EF4-FFF2-40B4-BE49-F238E27FC236}">
                <a16:creationId xmlns:a16="http://schemas.microsoft.com/office/drawing/2014/main" id="{1F4A734C-1415-13A4-3AB8-E585ED666BA2}"/>
              </a:ext>
            </a:extLst>
          </p:cNvPr>
          <p:cNvPicPr>
            <a:picLocks noChangeAspect="1"/>
          </p:cNvPicPr>
          <p:nvPr/>
        </p:nvPicPr>
        <p:blipFill>
          <a:blip r:embed="rId4">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9640757" y="1798486"/>
            <a:ext cx="294624" cy="368280"/>
          </a:xfrm>
          <a:prstGeom prst="rect">
            <a:avLst/>
          </a:prstGeom>
        </p:spPr>
      </p:pic>
      <p:pic>
        <p:nvPicPr>
          <p:cNvPr id="62" name="Picture 61">
            <a:extLst>
              <a:ext uri="{FF2B5EF4-FFF2-40B4-BE49-F238E27FC236}">
                <a16:creationId xmlns:a16="http://schemas.microsoft.com/office/drawing/2014/main" id="{D1BE199D-B166-4A8D-06EF-1EB84F831183}"/>
              </a:ext>
            </a:extLst>
          </p:cNvPr>
          <p:cNvPicPr>
            <a:picLocks noChangeAspect="1"/>
          </p:cNvPicPr>
          <p:nvPr/>
        </p:nvPicPr>
        <p:blipFill>
          <a:blip r:embed="rId5">
            <a:duotone>
              <a:schemeClr val="accent3">
                <a:shade val="45000"/>
                <a:satMod val="135000"/>
              </a:schemeClr>
              <a:prstClr val="white"/>
            </a:duotone>
          </a:blip>
          <a:stretch>
            <a:fillRect/>
          </a:stretch>
        </p:blipFill>
        <p:spPr>
          <a:xfrm>
            <a:off x="2328614" y="1825261"/>
            <a:ext cx="324498" cy="295514"/>
          </a:xfrm>
          <a:prstGeom prst="rect">
            <a:avLst/>
          </a:prstGeom>
        </p:spPr>
      </p:pic>
      <p:pic>
        <p:nvPicPr>
          <p:cNvPr id="63" name="Graphic 62" descr="Programmer female outline">
            <a:extLst>
              <a:ext uri="{FF2B5EF4-FFF2-40B4-BE49-F238E27FC236}">
                <a16:creationId xmlns:a16="http://schemas.microsoft.com/office/drawing/2014/main" id="{9A177EB8-E9EF-3A70-01A5-18B4CB1706E8}"/>
              </a:ext>
            </a:extLst>
          </p:cNvPr>
          <p:cNvPicPr>
            <a:picLocks noChangeAspect="1"/>
          </p:cNvPicPr>
          <p:nvPr/>
        </p:nvPicPr>
        <p:blipFill>
          <a:blip r:embed="rId6">
            <a:duotone>
              <a:schemeClr val="accent3">
                <a:shade val="45000"/>
                <a:satMod val="135000"/>
              </a:schemeClr>
              <a:prstClr val="white"/>
            </a:duotone>
            <a:extLst>
              <a:ext uri="{96DAC541-7B7A-43D3-8B79-37D633B846F1}">
                <asvg:svgBlip xmlns:asvg="http://schemas.microsoft.com/office/drawing/2016/SVG/main" r:embed="rId7"/>
              </a:ext>
            </a:extLst>
          </a:blip>
          <a:stretch>
            <a:fillRect/>
          </a:stretch>
        </p:blipFill>
        <p:spPr>
          <a:xfrm>
            <a:off x="3738975" y="1766329"/>
            <a:ext cx="410712" cy="403112"/>
          </a:xfrm>
          <a:prstGeom prst="rect">
            <a:avLst/>
          </a:prstGeom>
        </p:spPr>
      </p:pic>
      <p:pic>
        <p:nvPicPr>
          <p:cNvPr id="1024" name="Picture 1023">
            <a:extLst>
              <a:ext uri="{FF2B5EF4-FFF2-40B4-BE49-F238E27FC236}">
                <a16:creationId xmlns:a16="http://schemas.microsoft.com/office/drawing/2014/main" id="{2B03A93A-E114-D8EC-AAD5-A524ED60CA0A}"/>
              </a:ext>
            </a:extLst>
          </p:cNvPr>
          <p:cNvPicPr>
            <a:picLocks noChangeAspect="1"/>
          </p:cNvPicPr>
          <p:nvPr/>
        </p:nvPicPr>
        <p:blipFill>
          <a:blip r:embed="rId8">
            <a:duotone>
              <a:schemeClr val="accent3">
                <a:shade val="45000"/>
                <a:satMod val="135000"/>
              </a:schemeClr>
              <a:prstClr val="white"/>
            </a:duotone>
          </a:blip>
          <a:stretch>
            <a:fillRect/>
          </a:stretch>
        </p:blipFill>
        <p:spPr>
          <a:xfrm>
            <a:off x="6842070" y="1855841"/>
            <a:ext cx="354108" cy="242253"/>
          </a:xfrm>
          <a:prstGeom prst="rect">
            <a:avLst/>
          </a:prstGeom>
        </p:spPr>
      </p:pic>
      <p:pic>
        <p:nvPicPr>
          <p:cNvPr id="1025" name="Graphic 1024" descr="Doctor female outline">
            <a:extLst>
              <a:ext uri="{FF2B5EF4-FFF2-40B4-BE49-F238E27FC236}">
                <a16:creationId xmlns:a16="http://schemas.microsoft.com/office/drawing/2014/main" id="{21853D9A-2269-4AD0-4802-50BDDF2E0BB4}"/>
              </a:ext>
            </a:extLst>
          </p:cNvPr>
          <p:cNvPicPr>
            <a:picLocks noChangeAspect="1"/>
          </p:cNvPicPr>
          <p:nvPr/>
        </p:nvPicPr>
        <p:blipFill>
          <a:blip r:embed="rId9">
            <a:duotone>
              <a:schemeClr val="accent3">
                <a:shade val="45000"/>
                <a:satMod val="135000"/>
              </a:schemeClr>
              <a:prstClr val="white"/>
            </a:duotone>
            <a:extLst>
              <a:ext uri="{96DAC541-7B7A-43D3-8B79-37D633B846F1}">
                <asvg:svgBlip xmlns:asvg="http://schemas.microsoft.com/office/drawing/2016/SVG/main" r:embed="rId10"/>
              </a:ext>
            </a:extLst>
          </a:blip>
          <a:stretch>
            <a:fillRect/>
          </a:stretch>
        </p:blipFill>
        <p:spPr>
          <a:xfrm>
            <a:off x="5291290" y="1812978"/>
            <a:ext cx="375685" cy="382758"/>
          </a:xfrm>
          <a:prstGeom prst="rect">
            <a:avLst/>
          </a:prstGeom>
        </p:spPr>
      </p:pic>
      <p:grpSp>
        <p:nvGrpSpPr>
          <p:cNvPr id="1031" name="Graphic 11" descr="Clipboard Mixed outline">
            <a:extLst>
              <a:ext uri="{FF2B5EF4-FFF2-40B4-BE49-F238E27FC236}">
                <a16:creationId xmlns:a16="http://schemas.microsoft.com/office/drawing/2014/main" id="{C4D17520-A3ED-7305-766C-84A2F11006E9}"/>
              </a:ext>
            </a:extLst>
          </p:cNvPr>
          <p:cNvGrpSpPr/>
          <p:nvPr/>
        </p:nvGrpSpPr>
        <p:grpSpPr>
          <a:xfrm>
            <a:off x="11115874" y="1812978"/>
            <a:ext cx="225734" cy="339296"/>
            <a:chOff x="11724338" y="2596738"/>
            <a:chExt cx="278050" cy="406758"/>
          </a:xfrm>
          <a:solidFill>
            <a:schemeClr val="accent2">
              <a:lumMod val="50000"/>
            </a:schemeClr>
          </a:solidFill>
        </p:grpSpPr>
        <p:sp>
          <p:nvSpPr>
            <p:cNvPr id="1032" name="Freeform: Shape 1031">
              <a:extLst>
                <a:ext uri="{FF2B5EF4-FFF2-40B4-BE49-F238E27FC236}">
                  <a16:creationId xmlns:a16="http://schemas.microsoft.com/office/drawing/2014/main" id="{0298CD5C-FE26-8339-8108-1923E232EB20}"/>
                </a:ext>
              </a:extLst>
            </p:cNvPr>
            <p:cNvSpPr/>
            <p:nvPr/>
          </p:nvSpPr>
          <p:spPr>
            <a:xfrm>
              <a:off x="11847142" y="2622260"/>
              <a:ext cx="32440" cy="35582"/>
            </a:xfrm>
            <a:custGeom>
              <a:avLst/>
              <a:gdLst>
                <a:gd name="connsiteX0" fmla="*/ 16221 w 32440"/>
                <a:gd name="connsiteY0" fmla="*/ 35582 h 35582"/>
                <a:gd name="connsiteX1" fmla="*/ 32440 w 32440"/>
                <a:gd name="connsiteY1" fmla="*/ 17791 h 35582"/>
                <a:gd name="connsiteX2" fmla="*/ 16221 w 32440"/>
                <a:gd name="connsiteY2" fmla="*/ 0 h 35582"/>
                <a:gd name="connsiteX3" fmla="*/ 15757 w 32440"/>
                <a:gd name="connsiteY3" fmla="*/ 0 h 35582"/>
                <a:gd name="connsiteX4" fmla="*/ 1 w 32440"/>
                <a:gd name="connsiteY4" fmla="*/ 17791 h 35582"/>
                <a:gd name="connsiteX5" fmla="*/ 16221 w 32440"/>
                <a:gd name="connsiteY5" fmla="*/ 35582 h 35582"/>
                <a:gd name="connsiteX6" fmla="*/ 15915 w 32440"/>
                <a:gd name="connsiteY6" fmla="*/ 10166 h 35582"/>
                <a:gd name="connsiteX7" fmla="*/ 16221 w 32440"/>
                <a:gd name="connsiteY7" fmla="*/ 10166 h 35582"/>
                <a:gd name="connsiteX8" fmla="*/ 23171 w 32440"/>
                <a:gd name="connsiteY8" fmla="*/ 17792 h 35582"/>
                <a:gd name="connsiteX9" fmla="*/ 16220 w 32440"/>
                <a:gd name="connsiteY9" fmla="*/ 25416 h 35582"/>
                <a:gd name="connsiteX10" fmla="*/ 9269 w 32440"/>
                <a:gd name="connsiteY10" fmla="*/ 17791 h 35582"/>
                <a:gd name="connsiteX11" fmla="*/ 9269 w 32440"/>
                <a:gd name="connsiteY11" fmla="*/ 17720 h 35582"/>
                <a:gd name="connsiteX12" fmla="*/ 15915 w 32440"/>
                <a:gd name="connsiteY12" fmla="*/ 10166 h 3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440" h="35582">
                  <a:moveTo>
                    <a:pt x="16221" y="35582"/>
                  </a:moveTo>
                  <a:cubicBezTo>
                    <a:pt x="25178" y="35582"/>
                    <a:pt x="32440" y="27617"/>
                    <a:pt x="32440" y="17791"/>
                  </a:cubicBezTo>
                  <a:cubicBezTo>
                    <a:pt x="32440" y="7965"/>
                    <a:pt x="25178" y="0"/>
                    <a:pt x="16221" y="0"/>
                  </a:cubicBezTo>
                  <a:lnTo>
                    <a:pt x="15757" y="0"/>
                  </a:lnTo>
                  <a:cubicBezTo>
                    <a:pt x="6940" y="173"/>
                    <a:pt x="-97" y="8119"/>
                    <a:pt x="1" y="17791"/>
                  </a:cubicBezTo>
                  <a:cubicBezTo>
                    <a:pt x="16" y="27610"/>
                    <a:pt x="7269" y="35565"/>
                    <a:pt x="16221" y="35582"/>
                  </a:cubicBezTo>
                  <a:close/>
                  <a:moveTo>
                    <a:pt x="15915" y="10166"/>
                  </a:moveTo>
                  <a:lnTo>
                    <a:pt x="16221" y="10166"/>
                  </a:lnTo>
                  <a:cubicBezTo>
                    <a:pt x="20060" y="10166"/>
                    <a:pt x="23172" y="13580"/>
                    <a:pt x="23171" y="17792"/>
                  </a:cubicBezTo>
                  <a:cubicBezTo>
                    <a:pt x="23171" y="22002"/>
                    <a:pt x="20059" y="25416"/>
                    <a:pt x="16220" y="25416"/>
                  </a:cubicBezTo>
                  <a:cubicBezTo>
                    <a:pt x="12381" y="25416"/>
                    <a:pt x="9269" y="22002"/>
                    <a:pt x="9269" y="17791"/>
                  </a:cubicBezTo>
                  <a:cubicBezTo>
                    <a:pt x="9269" y="17767"/>
                    <a:pt x="9269" y="17743"/>
                    <a:pt x="9269" y="17720"/>
                  </a:cubicBezTo>
                  <a:cubicBezTo>
                    <a:pt x="9210" y="13624"/>
                    <a:pt x="12181" y="10247"/>
                    <a:pt x="15915" y="10166"/>
                  </a:cubicBezTo>
                  <a:close/>
                </a:path>
              </a:pathLst>
            </a:custGeom>
            <a:solidFill>
              <a:schemeClr val="accent2">
                <a:lumMod val="50000"/>
              </a:schemeClr>
            </a:solidFill>
            <a:ln w="45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1033" name="Freeform: Shape 1032">
              <a:extLst>
                <a:ext uri="{FF2B5EF4-FFF2-40B4-BE49-F238E27FC236}">
                  <a16:creationId xmlns:a16="http://schemas.microsoft.com/office/drawing/2014/main" id="{CFCC8B05-7714-A888-D295-5736186A341C}"/>
                </a:ext>
              </a:extLst>
            </p:cNvPr>
            <p:cNvSpPr/>
            <p:nvPr/>
          </p:nvSpPr>
          <p:spPr>
            <a:xfrm>
              <a:off x="11770883" y="2725403"/>
              <a:ext cx="62162" cy="51446"/>
            </a:xfrm>
            <a:custGeom>
              <a:avLst/>
              <a:gdLst>
                <a:gd name="connsiteX0" fmla="*/ 21813 w 62162"/>
                <a:gd name="connsiteY0" fmla="*/ 37066 h 51446"/>
                <a:gd name="connsiteX1" fmla="*/ 6553 w 62162"/>
                <a:gd name="connsiteY1" fmla="*/ 20333 h 51446"/>
                <a:gd name="connsiteX2" fmla="*/ 0 w 62162"/>
                <a:gd name="connsiteY2" fmla="*/ 27520 h 51446"/>
                <a:gd name="connsiteX3" fmla="*/ 21813 w 62162"/>
                <a:gd name="connsiteY3" fmla="*/ 51447 h 51446"/>
                <a:gd name="connsiteX4" fmla="*/ 62163 w 62162"/>
                <a:gd name="connsiteY4" fmla="*/ 7188 h 51446"/>
                <a:gd name="connsiteX5" fmla="*/ 55610 w 62162"/>
                <a:gd name="connsiteY5" fmla="*/ 0 h 51446"/>
                <a:gd name="connsiteX6" fmla="*/ 21813 w 62162"/>
                <a:gd name="connsiteY6" fmla="*/ 37066 h 51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162" h="51446">
                  <a:moveTo>
                    <a:pt x="21813" y="37066"/>
                  </a:moveTo>
                  <a:lnTo>
                    <a:pt x="6553" y="20333"/>
                  </a:lnTo>
                  <a:lnTo>
                    <a:pt x="0" y="27520"/>
                  </a:lnTo>
                  <a:lnTo>
                    <a:pt x="21813" y="51447"/>
                  </a:lnTo>
                  <a:lnTo>
                    <a:pt x="62163" y="7188"/>
                  </a:lnTo>
                  <a:lnTo>
                    <a:pt x="55610" y="0"/>
                  </a:lnTo>
                  <a:lnTo>
                    <a:pt x="21813" y="37066"/>
                  </a:lnTo>
                  <a:close/>
                </a:path>
              </a:pathLst>
            </a:custGeom>
            <a:solidFill>
              <a:schemeClr val="accent2">
                <a:lumMod val="50000"/>
              </a:schemeClr>
            </a:solidFill>
            <a:ln w="45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1034" name="Freeform: Shape 1033">
              <a:extLst>
                <a:ext uri="{FF2B5EF4-FFF2-40B4-BE49-F238E27FC236}">
                  <a16:creationId xmlns:a16="http://schemas.microsoft.com/office/drawing/2014/main" id="{7FC2155F-A8AA-DAAD-D269-FE16A01A47AC}"/>
                </a:ext>
              </a:extLst>
            </p:cNvPr>
            <p:cNvSpPr/>
            <p:nvPr/>
          </p:nvSpPr>
          <p:spPr>
            <a:xfrm>
              <a:off x="11858733" y="2744246"/>
              <a:ext cx="97317" cy="10166"/>
            </a:xfrm>
            <a:custGeom>
              <a:avLst/>
              <a:gdLst>
                <a:gd name="connsiteX0" fmla="*/ 0 w 97317"/>
                <a:gd name="connsiteY0" fmla="*/ 0 h 10166"/>
                <a:gd name="connsiteX1" fmla="*/ 97318 w 97317"/>
                <a:gd name="connsiteY1" fmla="*/ 0 h 10166"/>
                <a:gd name="connsiteX2" fmla="*/ 97318 w 97317"/>
                <a:gd name="connsiteY2" fmla="*/ 10166 h 10166"/>
                <a:gd name="connsiteX3" fmla="*/ 0 w 97317"/>
                <a:gd name="connsiteY3" fmla="*/ 10166 h 10166"/>
              </a:gdLst>
              <a:ahLst/>
              <a:cxnLst>
                <a:cxn ang="0">
                  <a:pos x="connsiteX0" y="connsiteY0"/>
                </a:cxn>
                <a:cxn ang="0">
                  <a:pos x="connsiteX1" y="connsiteY1"/>
                </a:cxn>
                <a:cxn ang="0">
                  <a:pos x="connsiteX2" y="connsiteY2"/>
                </a:cxn>
                <a:cxn ang="0">
                  <a:pos x="connsiteX3" y="connsiteY3"/>
                </a:cxn>
              </a:cxnLst>
              <a:rect l="l" t="t" r="r" b="b"/>
              <a:pathLst>
                <a:path w="97317" h="10166">
                  <a:moveTo>
                    <a:pt x="0" y="0"/>
                  </a:moveTo>
                  <a:lnTo>
                    <a:pt x="97318" y="0"/>
                  </a:lnTo>
                  <a:lnTo>
                    <a:pt x="97318" y="10166"/>
                  </a:lnTo>
                  <a:lnTo>
                    <a:pt x="0" y="10166"/>
                  </a:lnTo>
                  <a:close/>
                </a:path>
              </a:pathLst>
            </a:custGeom>
            <a:solidFill>
              <a:schemeClr val="accent2">
                <a:lumMod val="50000"/>
              </a:schemeClr>
            </a:solidFill>
            <a:ln w="45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1035" name="Freeform: Shape 1034">
              <a:extLst>
                <a:ext uri="{FF2B5EF4-FFF2-40B4-BE49-F238E27FC236}">
                  <a16:creationId xmlns:a16="http://schemas.microsoft.com/office/drawing/2014/main" id="{A6DF7946-E304-6AD2-164E-276DABE00242}"/>
                </a:ext>
              </a:extLst>
            </p:cNvPr>
            <p:cNvSpPr/>
            <p:nvPr/>
          </p:nvSpPr>
          <p:spPr>
            <a:xfrm>
              <a:off x="11770883" y="2786400"/>
              <a:ext cx="58687" cy="48904"/>
            </a:xfrm>
            <a:custGeom>
              <a:avLst/>
              <a:gdLst>
                <a:gd name="connsiteX0" fmla="*/ 20654 w 58687"/>
                <a:gd name="connsiteY0" fmla="*/ 34525 h 48904"/>
                <a:gd name="connsiteX1" fmla="*/ 6553 w 58687"/>
                <a:gd name="connsiteY1" fmla="*/ 19062 h 48904"/>
                <a:gd name="connsiteX2" fmla="*/ 0 w 58687"/>
                <a:gd name="connsiteY2" fmla="*/ 26249 h 48904"/>
                <a:gd name="connsiteX3" fmla="*/ 20654 w 58687"/>
                <a:gd name="connsiteY3" fmla="*/ 48905 h 48904"/>
                <a:gd name="connsiteX4" fmla="*/ 58687 w 58687"/>
                <a:gd name="connsiteY4" fmla="*/ 7188 h 48904"/>
                <a:gd name="connsiteX5" fmla="*/ 52134 w 58687"/>
                <a:gd name="connsiteY5" fmla="*/ 0 h 48904"/>
                <a:gd name="connsiteX6" fmla="*/ 20654 w 58687"/>
                <a:gd name="connsiteY6" fmla="*/ 34525 h 48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87" h="48904">
                  <a:moveTo>
                    <a:pt x="20654" y="34525"/>
                  </a:moveTo>
                  <a:lnTo>
                    <a:pt x="6553" y="19062"/>
                  </a:lnTo>
                  <a:lnTo>
                    <a:pt x="0" y="26249"/>
                  </a:lnTo>
                  <a:lnTo>
                    <a:pt x="20654" y="48905"/>
                  </a:lnTo>
                  <a:lnTo>
                    <a:pt x="58687" y="7188"/>
                  </a:lnTo>
                  <a:lnTo>
                    <a:pt x="52134" y="0"/>
                  </a:lnTo>
                  <a:lnTo>
                    <a:pt x="20654" y="34525"/>
                  </a:lnTo>
                  <a:close/>
                </a:path>
              </a:pathLst>
            </a:custGeom>
            <a:solidFill>
              <a:schemeClr val="accent2">
                <a:lumMod val="50000"/>
              </a:schemeClr>
            </a:solidFill>
            <a:ln w="45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1036" name="Freeform: Shape 1035">
              <a:extLst>
                <a:ext uri="{FF2B5EF4-FFF2-40B4-BE49-F238E27FC236}">
                  <a16:creationId xmlns:a16="http://schemas.microsoft.com/office/drawing/2014/main" id="{B23BA40F-3D42-5AC0-6B63-2DA53C2ADE08}"/>
                </a:ext>
              </a:extLst>
            </p:cNvPr>
            <p:cNvSpPr/>
            <p:nvPr/>
          </p:nvSpPr>
          <p:spPr>
            <a:xfrm>
              <a:off x="11858733" y="2805243"/>
              <a:ext cx="97317" cy="10166"/>
            </a:xfrm>
            <a:custGeom>
              <a:avLst/>
              <a:gdLst>
                <a:gd name="connsiteX0" fmla="*/ 0 w 97317"/>
                <a:gd name="connsiteY0" fmla="*/ 0 h 10166"/>
                <a:gd name="connsiteX1" fmla="*/ 97318 w 97317"/>
                <a:gd name="connsiteY1" fmla="*/ 0 h 10166"/>
                <a:gd name="connsiteX2" fmla="*/ 97318 w 97317"/>
                <a:gd name="connsiteY2" fmla="*/ 10166 h 10166"/>
                <a:gd name="connsiteX3" fmla="*/ 0 w 97317"/>
                <a:gd name="connsiteY3" fmla="*/ 10166 h 10166"/>
              </a:gdLst>
              <a:ahLst/>
              <a:cxnLst>
                <a:cxn ang="0">
                  <a:pos x="connsiteX0" y="connsiteY0"/>
                </a:cxn>
                <a:cxn ang="0">
                  <a:pos x="connsiteX1" y="connsiteY1"/>
                </a:cxn>
                <a:cxn ang="0">
                  <a:pos x="connsiteX2" y="connsiteY2"/>
                </a:cxn>
                <a:cxn ang="0">
                  <a:pos x="connsiteX3" y="connsiteY3"/>
                </a:cxn>
              </a:cxnLst>
              <a:rect l="l" t="t" r="r" b="b"/>
              <a:pathLst>
                <a:path w="97317" h="10166">
                  <a:moveTo>
                    <a:pt x="0" y="0"/>
                  </a:moveTo>
                  <a:lnTo>
                    <a:pt x="97318" y="0"/>
                  </a:lnTo>
                  <a:lnTo>
                    <a:pt x="97318" y="10166"/>
                  </a:lnTo>
                  <a:lnTo>
                    <a:pt x="0" y="10166"/>
                  </a:lnTo>
                  <a:close/>
                </a:path>
              </a:pathLst>
            </a:custGeom>
            <a:solidFill>
              <a:schemeClr val="accent2">
                <a:lumMod val="50000"/>
              </a:schemeClr>
            </a:solidFill>
            <a:ln w="45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1037" name="Freeform: Shape 1036">
              <a:extLst>
                <a:ext uri="{FF2B5EF4-FFF2-40B4-BE49-F238E27FC236}">
                  <a16:creationId xmlns:a16="http://schemas.microsoft.com/office/drawing/2014/main" id="{035A46D8-185D-399F-FFD1-4D2C19FD460C}"/>
                </a:ext>
              </a:extLst>
            </p:cNvPr>
            <p:cNvSpPr/>
            <p:nvPr/>
          </p:nvSpPr>
          <p:spPr>
            <a:xfrm>
              <a:off x="11858733" y="2866241"/>
              <a:ext cx="97317" cy="10166"/>
            </a:xfrm>
            <a:custGeom>
              <a:avLst/>
              <a:gdLst>
                <a:gd name="connsiteX0" fmla="*/ 0 w 97317"/>
                <a:gd name="connsiteY0" fmla="*/ 0 h 10166"/>
                <a:gd name="connsiteX1" fmla="*/ 97318 w 97317"/>
                <a:gd name="connsiteY1" fmla="*/ 0 h 10166"/>
                <a:gd name="connsiteX2" fmla="*/ 97318 w 97317"/>
                <a:gd name="connsiteY2" fmla="*/ 10166 h 10166"/>
                <a:gd name="connsiteX3" fmla="*/ 0 w 97317"/>
                <a:gd name="connsiteY3" fmla="*/ 10166 h 10166"/>
              </a:gdLst>
              <a:ahLst/>
              <a:cxnLst>
                <a:cxn ang="0">
                  <a:pos x="connsiteX0" y="connsiteY0"/>
                </a:cxn>
                <a:cxn ang="0">
                  <a:pos x="connsiteX1" y="connsiteY1"/>
                </a:cxn>
                <a:cxn ang="0">
                  <a:pos x="connsiteX2" y="connsiteY2"/>
                </a:cxn>
                <a:cxn ang="0">
                  <a:pos x="connsiteX3" y="connsiteY3"/>
                </a:cxn>
              </a:cxnLst>
              <a:rect l="l" t="t" r="r" b="b"/>
              <a:pathLst>
                <a:path w="97317" h="10166">
                  <a:moveTo>
                    <a:pt x="0" y="0"/>
                  </a:moveTo>
                  <a:lnTo>
                    <a:pt x="97318" y="0"/>
                  </a:lnTo>
                  <a:lnTo>
                    <a:pt x="97318" y="10166"/>
                  </a:lnTo>
                  <a:lnTo>
                    <a:pt x="0" y="10166"/>
                  </a:lnTo>
                  <a:close/>
                </a:path>
              </a:pathLst>
            </a:custGeom>
            <a:solidFill>
              <a:schemeClr val="accent2">
                <a:lumMod val="50000"/>
              </a:schemeClr>
            </a:solidFill>
            <a:ln w="45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1038" name="Freeform: Shape 1037">
              <a:extLst>
                <a:ext uri="{FF2B5EF4-FFF2-40B4-BE49-F238E27FC236}">
                  <a16:creationId xmlns:a16="http://schemas.microsoft.com/office/drawing/2014/main" id="{20832B1A-7C1F-1382-A702-703D4C28E53E}"/>
                </a:ext>
              </a:extLst>
            </p:cNvPr>
            <p:cNvSpPr/>
            <p:nvPr/>
          </p:nvSpPr>
          <p:spPr>
            <a:xfrm>
              <a:off x="11858733" y="2927239"/>
              <a:ext cx="97317" cy="10166"/>
            </a:xfrm>
            <a:custGeom>
              <a:avLst/>
              <a:gdLst>
                <a:gd name="connsiteX0" fmla="*/ 0 w 97317"/>
                <a:gd name="connsiteY0" fmla="*/ 0 h 10166"/>
                <a:gd name="connsiteX1" fmla="*/ 97318 w 97317"/>
                <a:gd name="connsiteY1" fmla="*/ 0 h 10166"/>
                <a:gd name="connsiteX2" fmla="*/ 97318 w 97317"/>
                <a:gd name="connsiteY2" fmla="*/ 10166 h 10166"/>
                <a:gd name="connsiteX3" fmla="*/ 0 w 97317"/>
                <a:gd name="connsiteY3" fmla="*/ 10166 h 10166"/>
              </a:gdLst>
              <a:ahLst/>
              <a:cxnLst>
                <a:cxn ang="0">
                  <a:pos x="connsiteX0" y="connsiteY0"/>
                </a:cxn>
                <a:cxn ang="0">
                  <a:pos x="connsiteX1" y="connsiteY1"/>
                </a:cxn>
                <a:cxn ang="0">
                  <a:pos x="connsiteX2" y="connsiteY2"/>
                </a:cxn>
                <a:cxn ang="0">
                  <a:pos x="connsiteX3" y="connsiteY3"/>
                </a:cxn>
              </a:cxnLst>
              <a:rect l="l" t="t" r="r" b="b"/>
              <a:pathLst>
                <a:path w="97317" h="10166">
                  <a:moveTo>
                    <a:pt x="0" y="0"/>
                  </a:moveTo>
                  <a:lnTo>
                    <a:pt x="97318" y="0"/>
                  </a:lnTo>
                  <a:lnTo>
                    <a:pt x="97318" y="10166"/>
                  </a:lnTo>
                  <a:lnTo>
                    <a:pt x="0" y="10166"/>
                  </a:lnTo>
                  <a:close/>
                </a:path>
              </a:pathLst>
            </a:custGeom>
            <a:solidFill>
              <a:schemeClr val="accent2">
                <a:lumMod val="50000"/>
              </a:schemeClr>
            </a:solidFill>
            <a:ln w="45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1039" name="Freeform: Shape 1038">
              <a:extLst>
                <a:ext uri="{FF2B5EF4-FFF2-40B4-BE49-F238E27FC236}">
                  <a16:creationId xmlns:a16="http://schemas.microsoft.com/office/drawing/2014/main" id="{72DF5A2E-DEA9-71E5-B7C0-4E8F6979E40B}"/>
                </a:ext>
              </a:extLst>
            </p:cNvPr>
            <p:cNvSpPr/>
            <p:nvPr/>
          </p:nvSpPr>
          <p:spPr>
            <a:xfrm>
              <a:off x="11774359" y="2847398"/>
              <a:ext cx="43626" cy="47852"/>
            </a:xfrm>
            <a:custGeom>
              <a:avLst/>
              <a:gdLst>
                <a:gd name="connsiteX0" fmla="*/ 37073 w 43626"/>
                <a:gd name="connsiteY0" fmla="*/ 0 h 47852"/>
                <a:gd name="connsiteX1" fmla="*/ 21813 w 43626"/>
                <a:gd name="connsiteY1" fmla="*/ 16734 h 47852"/>
                <a:gd name="connsiteX2" fmla="*/ 6553 w 43626"/>
                <a:gd name="connsiteY2" fmla="*/ 0 h 47852"/>
                <a:gd name="connsiteX3" fmla="*/ 0 w 43626"/>
                <a:gd name="connsiteY3" fmla="*/ 7188 h 47852"/>
                <a:gd name="connsiteX4" fmla="*/ 15260 w 43626"/>
                <a:gd name="connsiteY4" fmla="*/ 23926 h 47852"/>
                <a:gd name="connsiteX5" fmla="*/ 0 w 43626"/>
                <a:gd name="connsiteY5" fmla="*/ 40665 h 47852"/>
                <a:gd name="connsiteX6" fmla="*/ 6553 w 43626"/>
                <a:gd name="connsiteY6" fmla="*/ 47853 h 47852"/>
                <a:gd name="connsiteX7" fmla="*/ 21813 w 43626"/>
                <a:gd name="connsiteY7" fmla="*/ 31114 h 47852"/>
                <a:gd name="connsiteX8" fmla="*/ 37073 w 43626"/>
                <a:gd name="connsiteY8" fmla="*/ 47853 h 47852"/>
                <a:gd name="connsiteX9" fmla="*/ 43626 w 43626"/>
                <a:gd name="connsiteY9" fmla="*/ 40665 h 47852"/>
                <a:gd name="connsiteX10" fmla="*/ 28366 w 43626"/>
                <a:gd name="connsiteY10" fmla="*/ 23926 h 47852"/>
                <a:gd name="connsiteX11" fmla="*/ 43626 w 43626"/>
                <a:gd name="connsiteY11" fmla="*/ 7188 h 47852"/>
                <a:gd name="connsiteX12" fmla="*/ 37073 w 43626"/>
                <a:gd name="connsiteY12" fmla="*/ 0 h 47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626" h="47852">
                  <a:moveTo>
                    <a:pt x="37073" y="0"/>
                  </a:moveTo>
                  <a:lnTo>
                    <a:pt x="21813" y="16734"/>
                  </a:lnTo>
                  <a:lnTo>
                    <a:pt x="6553" y="0"/>
                  </a:lnTo>
                  <a:lnTo>
                    <a:pt x="0" y="7188"/>
                  </a:lnTo>
                  <a:lnTo>
                    <a:pt x="15260" y="23926"/>
                  </a:lnTo>
                  <a:lnTo>
                    <a:pt x="0" y="40665"/>
                  </a:lnTo>
                  <a:lnTo>
                    <a:pt x="6553" y="47853"/>
                  </a:lnTo>
                  <a:lnTo>
                    <a:pt x="21813" y="31114"/>
                  </a:lnTo>
                  <a:lnTo>
                    <a:pt x="37073" y="47853"/>
                  </a:lnTo>
                  <a:lnTo>
                    <a:pt x="43626" y="40665"/>
                  </a:lnTo>
                  <a:lnTo>
                    <a:pt x="28366" y="23926"/>
                  </a:lnTo>
                  <a:lnTo>
                    <a:pt x="43626" y="7188"/>
                  </a:lnTo>
                  <a:lnTo>
                    <a:pt x="37073" y="0"/>
                  </a:lnTo>
                  <a:close/>
                </a:path>
              </a:pathLst>
            </a:custGeom>
            <a:solidFill>
              <a:schemeClr val="accent2">
                <a:lumMod val="50000"/>
              </a:schemeClr>
            </a:solidFill>
            <a:ln w="45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1040" name="Freeform: Shape 1039">
              <a:extLst>
                <a:ext uri="{FF2B5EF4-FFF2-40B4-BE49-F238E27FC236}">
                  <a16:creationId xmlns:a16="http://schemas.microsoft.com/office/drawing/2014/main" id="{52F58982-019B-E35D-A761-EF6DC37F6703}"/>
                </a:ext>
              </a:extLst>
            </p:cNvPr>
            <p:cNvSpPr/>
            <p:nvPr/>
          </p:nvSpPr>
          <p:spPr>
            <a:xfrm>
              <a:off x="11774359" y="2908396"/>
              <a:ext cx="43626" cy="47852"/>
            </a:xfrm>
            <a:custGeom>
              <a:avLst/>
              <a:gdLst>
                <a:gd name="connsiteX0" fmla="*/ 37073 w 43626"/>
                <a:gd name="connsiteY0" fmla="*/ 0 h 47852"/>
                <a:gd name="connsiteX1" fmla="*/ 21813 w 43626"/>
                <a:gd name="connsiteY1" fmla="*/ 16734 h 47852"/>
                <a:gd name="connsiteX2" fmla="*/ 6553 w 43626"/>
                <a:gd name="connsiteY2" fmla="*/ 0 h 47852"/>
                <a:gd name="connsiteX3" fmla="*/ 0 w 43626"/>
                <a:gd name="connsiteY3" fmla="*/ 7188 h 47852"/>
                <a:gd name="connsiteX4" fmla="*/ 15260 w 43626"/>
                <a:gd name="connsiteY4" fmla="*/ 23926 h 47852"/>
                <a:gd name="connsiteX5" fmla="*/ 0 w 43626"/>
                <a:gd name="connsiteY5" fmla="*/ 40665 h 47852"/>
                <a:gd name="connsiteX6" fmla="*/ 6553 w 43626"/>
                <a:gd name="connsiteY6" fmla="*/ 47853 h 47852"/>
                <a:gd name="connsiteX7" fmla="*/ 21813 w 43626"/>
                <a:gd name="connsiteY7" fmla="*/ 31114 h 47852"/>
                <a:gd name="connsiteX8" fmla="*/ 37073 w 43626"/>
                <a:gd name="connsiteY8" fmla="*/ 47853 h 47852"/>
                <a:gd name="connsiteX9" fmla="*/ 43626 w 43626"/>
                <a:gd name="connsiteY9" fmla="*/ 40665 h 47852"/>
                <a:gd name="connsiteX10" fmla="*/ 28366 w 43626"/>
                <a:gd name="connsiteY10" fmla="*/ 23926 h 47852"/>
                <a:gd name="connsiteX11" fmla="*/ 43626 w 43626"/>
                <a:gd name="connsiteY11" fmla="*/ 7188 h 47852"/>
                <a:gd name="connsiteX12" fmla="*/ 37073 w 43626"/>
                <a:gd name="connsiteY12" fmla="*/ 0 h 47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626" h="47852">
                  <a:moveTo>
                    <a:pt x="37073" y="0"/>
                  </a:moveTo>
                  <a:lnTo>
                    <a:pt x="21813" y="16734"/>
                  </a:lnTo>
                  <a:lnTo>
                    <a:pt x="6553" y="0"/>
                  </a:lnTo>
                  <a:lnTo>
                    <a:pt x="0" y="7188"/>
                  </a:lnTo>
                  <a:lnTo>
                    <a:pt x="15260" y="23926"/>
                  </a:lnTo>
                  <a:lnTo>
                    <a:pt x="0" y="40665"/>
                  </a:lnTo>
                  <a:lnTo>
                    <a:pt x="6553" y="47853"/>
                  </a:lnTo>
                  <a:lnTo>
                    <a:pt x="21813" y="31114"/>
                  </a:lnTo>
                  <a:lnTo>
                    <a:pt x="37073" y="47853"/>
                  </a:lnTo>
                  <a:lnTo>
                    <a:pt x="43626" y="40665"/>
                  </a:lnTo>
                  <a:lnTo>
                    <a:pt x="28366" y="23926"/>
                  </a:lnTo>
                  <a:lnTo>
                    <a:pt x="43626" y="7188"/>
                  </a:lnTo>
                  <a:lnTo>
                    <a:pt x="37073" y="0"/>
                  </a:lnTo>
                  <a:close/>
                </a:path>
              </a:pathLst>
            </a:custGeom>
            <a:solidFill>
              <a:schemeClr val="accent2">
                <a:lumMod val="50000"/>
              </a:schemeClr>
            </a:solidFill>
            <a:ln w="45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B4D0A"/>
                </a:solidFill>
                <a:effectLst/>
                <a:uLnTx/>
                <a:uFillTx/>
                <a:latin typeface="Calibri" panose="020F0502020204030204"/>
                <a:ea typeface="+mn-ea"/>
                <a:cs typeface="+mn-cs"/>
              </a:endParaRPr>
            </a:p>
          </p:txBody>
        </p:sp>
        <p:sp>
          <p:nvSpPr>
            <p:cNvPr id="1041" name="Freeform: Shape 1040">
              <a:extLst>
                <a:ext uri="{FF2B5EF4-FFF2-40B4-BE49-F238E27FC236}">
                  <a16:creationId xmlns:a16="http://schemas.microsoft.com/office/drawing/2014/main" id="{8FBE7851-50FE-A3F6-CC79-35F91F1D4059}"/>
                </a:ext>
              </a:extLst>
            </p:cNvPr>
            <p:cNvSpPr/>
            <p:nvPr/>
          </p:nvSpPr>
          <p:spPr>
            <a:xfrm>
              <a:off x="11724338" y="2596738"/>
              <a:ext cx="278050" cy="406758"/>
            </a:xfrm>
            <a:custGeom>
              <a:avLst/>
              <a:gdLst>
                <a:gd name="connsiteX0" fmla="*/ 278050 w 278050"/>
                <a:gd name="connsiteY0" fmla="*/ 55915 h 406758"/>
                <a:gd name="connsiteX1" fmla="*/ 259513 w 278050"/>
                <a:gd name="connsiteY1" fmla="*/ 35582 h 406758"/>
                <a:gd name="connsiteX2" fmla="*/ 190001 w 278050"/>
                <a:gd name="connsiteY2" fmla="*/ 35582 h 406758"/>
                <a:gd name="connsiteX3" fmla="*/ 190001 w 278050"/>
                <a:gd name="connsiteY3" fmla="*/ 25416 h 406758"/>
                <a:gd name="connsiteX4" fmla="*/ 166830 w 278050"/>
                <a:gd name="connsiteY4" fmla="*/ 0 h 406758"/>
                <a:gd name="connsiteX5" fmla="*/ 111220 w 278050"/>
                <a:gd name="connsiteY5" fmla="*/ 0 h 406758"/>
                <a:gd name="connsiteX6" fmla="*/ 88049 w 278050"/>
                <a:gd name="connsiteY6" fmla="*/ 25416 h 406758"/>
                <a:gd name="connsiteX7" fmla="*/ 88049 w 278050"/>
                <a:gd name="connsiteY7" fmla="*/ 35582 h 406758"/>
                <a:gd name="connsiteX8" fmla="*/ 18537 w 278050"/>
                <a:gd name="connsiteY8" fmla="*/ 35582 h 406758"/>
                <a:gd name="connsiteX9" fmla="*/ 0 w 278050"/>
                <a:gd name="connsiteY9" fmla="*/ 55915 h 406758"/>
                <a:gd name="connsiteX10" fmla="*/ 0 w 278050"/>
                <a:gd name="connsiteY10" fmla="*/ 386426 h 406758"/>
                <a:gd name="connsiteX11" fmla="*/ 18537 w 278050"/>
                <a:gd name="connsiteY11" fmla="*/ 406758 h 406758"/>
                <a:gd name="connsiteX12" fmla="*/ 259513 w 278050"/>
                <a:gd name="connsiteY12" fmla="*/ 406758 h 406758"/>
                <a:gd name="connsiteX13" fmla="*/ 278050 w 278050"/>
                <a:gd name="connsiteY13" fmla="*/ 386426 h 406758"/>
                <a:gd name="connsiteX14" fmla="*/ 78781 w 278050"/>
                <a:gd name="connsiteY14" fmla="*/ 45748 h 406758"/>
                <a:gd name="connsiteX15" fmla="*/ 97318 w 278050"/>
                <a:gd name="connsiteY15" fmla="*/ 45748 h 406758"/>
                <a:gd name="connsiteX16" fmla="*/ 97318 w 278050"/>
                <a:gd name="connsiteY16" fmla="*/ 25416 h 406758"/>
                <a:gd name="connsiteX17" fmla="*/ 111220 w 278050"/>
                <a:gd name="connsiteY17" fmla="*/ 10166 h 406758"/>
                <a:gd name="connsiteX18" fmla="*/ 166830 w 278050"/>
                <a:gd name="connsiteY18" fmla="*/ 10166 h 406758"/>
                <a:gd name="connsiteX19" fmla="*/ 180733 w 278050"/>
                <a:gd name="connsiteY19" fmla="*/ 25416 h 406758"/>
                <a:gd name="connsiteX20" fmla="*/ 180733 w 278050"/>
                <a:gd name="connsiteY20" fmla="*/ 45748 h 406758"/>
                <a:gd name="connsiteX21" fmla="*/ 199269 w 278050"/>
                <a:gd name="connsiteY21" fmla="*/ 45748 h 406758"/>
                <a:gd name="connsiteX22" fmla="*/ 199269 w 278050"/>
                <a:gd name="connsiteY22" fmla="*/ 86520 h 406758"/>
                <a:gd name="connsiteX23" fmla="*/ 78781 w 278050"/>
                <a:gd name="connsiteY23" fmla="*/ 86520 h 406758"/>
                <a:gd name="connsiteX24" fmla="*/ 259513 w 278050"/>
                <a:gd name="connsiteY24" fmla="*/ 396592 h 406758"/>
                <a:gd name="connsiteX25" fmla="*/ 18537 w 278050"/>
                <a:gd name="connsiteY25" fmla="*/ 396592 h 406758"/>
                <a:gd name="connsiteX26" fmla="*/ 9268 w 278050"/>
                <a:gd name="connsiteY26" fmla="*/ 386426 h 406758"/>
                <a:gd name="connsiteX27" fmla="*/ 9268 w 278050"/>
                <a:gd name="connsiteY27" fmla="*/ 55915 h 406758"/>
                <a:gd name="connsiteX28" fmla="*/ 18537 w 278050"/>
                <a:gd name="connsiteY28" fmla="*/ 45748 h 406758"/>
                <a:gd name="connsiteX29" fmla="*/ 69513 w 278050"/>
                <a:gd name="connsiteY29" fmla="*/ 45748 h 406758"/>
                <a:gd name="connsiteX30" fmla="*/ 69513 w 278050"/>
                <a:gd name="connsiteY30" fmla="*/ 96687 h 406758"/>
                <a:gd name="connsiteX31" fmla="*/ 208538 w 278050"/>
                <a:gd name="connsiteY31" fmla="*/ 96687 h 406758"/>
                <a:gd name="connsiteX32" fmla="*/ 208538 w 278050"/>
                <a:gd name="connsiteY32" fmla="*/ 45748 h 406758"/>
                <a:gd name="connsiteX33" fmla="*/ 259513 w 278050"/>
                <a:gd name="connsiteY33" fmla="*/ 45748 h 406758"/>
                <a:gd name="connsiteX34" fmla="*/ 268782 w 278050"/>
                <a:gd name="connsiteY34" fmla="*/ 55915 h 406758"/>
                <a:gd name="connsiteX35" fmla="*/ 268782 w 278050"/>
                <a:gd name="connsiteY35" fmla="*/ 386426 h 406758"/>
                <a:gd name="connsiteX36" fmla="*/ 259513 w 278050"/>
                <a:gd name="connsiteY36" fmla="*/ 396592 h 406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8050" h="406758">
                  <a:moveTo>
                    <a:pt x="278050" y="55915"/>
                  </a:moveTo>
                  <a:cubicBezTo>
                    <a:pt x="278050" y="44685"/>
                    <a:pt x="269751" y="35582"/>
                    <a:pt x="259513" y="35582"/>
                  </a:cubicBezTo>
                  <a:lnTo>
                    <a:pt x="190001" y="35582"/>
                  </a:lnTo>
                  <a:lnTo>
                    <a:pt x="190001" y="25416"/>
                  </a:lnTo>
                  <a:cubicBezTo>
                    <a:pt x="189983" y="11387"/>
                    <a:pt x="179619" y="20"/>
                    <a:pt x="166830" y="0"/>
                  </a:cubicBezTo>
                  <a:lnTo>
                    <a:pt x="111220" y="0"/>
                  </a:lnTo>
                  <a:cubicBezTo>
                    <a:pt x="98429" y="17"/>
                    <a:pt x="88064" y="11386"/>
                    <a:pt x="88049" y="25416"/>
                  </a:cubicBezTo>
                  <a:lnTo>
                    <a:pt x="88049" y="35582"/>
                  </a:lnTo>
                  <a:lnTo>
                    <a:pt x="18537" y="35582"/>
                  </a:lnTo>
                  <a:cubicBezTo>
                    <a:pt x="8304" y="35596"/>
                    <a:pt x="13" y="44691"/>
                    <a:pt x="0" y="55915"/>
                  </a:cubicBezTo>
                  <a:lnTo>
                    <a:pt x="0" y="386426"/>
                  </a:lnTo>
                  <a:cubicBezTo>
                    <a:pt x="0" y="397655"/>
                    <a:pt x="8299" y="406758"/>
                    <a:pt x="18537" y="406758"/>
                  </a:cubicBezTo>
                  <a:lnTo>
                    <a:pt x="259513" y="406758"/>
                  </a:lnTo>
                  <a:cubicBezTo>
                    <a:pt x="269751" y="406758"/>
                    <a:pt x="278050" y="397655"/>
                    <a:pt x="278050" y="386426"/>
                  </a:cubicBezTo>
                  <a:close/>
                  <a:moveTo>
                    <a:pt x="78781" y="45748"/>
                  </a:moveTo>
                  <a:lnTo>
                    <a:pt x="97318" y="45748"/>
                  </a:lnTo>
                  <a:lnTo>
                    <a:pt x="97318" y="25416"/>
                  </a:lnTo>
                  <a:cubicBezTo>
                    <a:pt x="97318" y="16993"/>
                    <a:pt x="103542" y="10166"/>
                    <a:pt x="111220" y="10166"/>
                  </a:cubicBezTo>
                  <a:lnTo>
                    <a:pt x="166830" y="10166"/>
                  </a:lnTo>
                  <a:cubicBezTo>
                    <a:pt x="174508" y="10166"/>
                    <a:pt x="180733" y="16993"/>
                    <a:pt x="180733" y="25416"/>
                  </a:cubicBezTo>
                  <a:lnTo>
                    <a:pt x="180733" y="45748"/>
                  </a:lnTo>
                  <a:lnTo>
                    <a:pt x="199269" y="45748"/>
                  </a:lnTo>
                  <a:lnTo>
                    <a:pt x="199269" y="86520"/>
                  </a:lnTo>
                  <a:lnTo>
                    <a:pt x="78781" y="86520"/>
                  </a:lnTo>
                  <a:close/>
                  <a:moveTo>
                    <a:pt x="259513" y="396592"/>
                  </a:moveTo>
                  <a:lnTo>
                    <a:pt x="18537" y="396592"/>
                  </a:lnTo>
                  <a:cubicBezTo>
                    <a:pt x="13418" y="396592"/>
                    <a:pt x="9268" y="392041"/>
                    <a:pt x="9268" y="386426"/>
                  </a:cubicBezTo>
                  <a:lnTo>
                    <a:pt x="9268" y="55915"/>
                  </a:lnTo>
                  <a:cubicBezTo>
                    <a:pt x="9268" y="50300"/>
                    <a:pt x="13418" y="45748"/>
                    <a:pt x="18537" y="45748"/>
                  </a:cubicBezTo>
                  <a:lnTo>
                    <a:pt x="69513" y="45748"/>
                  </a:lnTo>
                  <a:lnTo>
                    <a:pt x="69513" y="96687"/>
                  </a:lnTo>
                  <a:lnTo>
                    <a:pt x="208538" y="96687"/>
                  </a:lnTo>
                  <a:lnTo>
                    <a:pt x="208538" y="45748"/>
                  </a:lnTo>
                  <a:lnTo>
                    <a:pt x="259513" y="45748"/>
                  </a:lnTo>
                  <a:cubicBezTo>
                    <a:pt x="264632" y="45748"/>
                    <a:pt x="268782" y="50300"/>
                    <a:pt x="268782" y="55915"/>
                  </a:cubicBezTo>
                  <a:lnTo>
                    <a:pt x="268782" y="386426"/>
                  </a:lnTo>
                  <a:cubicBezTo>
                    <a:pt x="268782" y="392041"/>
                    <a:pt x="264632" y="396592"/>
                    <a:pt x="259513" y="396592"/>
                  </a:cubicBezTo>
                  <a:close/>
                </a:path>
              </a:pathLst>
            </a:custGeom>
            <a:solidFill>
              <a:schemeClr val="accent2">
                <a:lumMod val="50000"/>
              </a:schemeClr>
            </a:solidFill>
            <a:ln w="45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B4D0A"/>
                </a:solidFill>
                <a:effectLst/>
                <a:uLnTx/>
                <a:uFillTx/>
                <a:latin typeface="Calibri" panose="020F0502020204030204"/>
                <a:ea typeface="+mn-ea"/>
                <a:cs typeface="+mn-cs"/>
              </a:endParaRPr>
            </a:p>
          </p:txBody>
        </p:sp>
      </p:grpSp>
      <p:grpSp>
        <p:nvGrpSpPr>
          <p:cNvPr id="9" name="Group 8">
            <a:extLst>
              <a:ext uri="{FF2B5EF4-FFF2-40B4-BE49-F238E27FC236}">
                <a16:creationId xmlns:a16="http://schemas.microsoft.com/office/drawing/2014/main" id="{22B82F80-0D8E-E889-DDCA-1C4B02118974}"/>
              </a:ext>
            </a:extLst>
          </p:cNvPr>
          <p:cNvGrpSpPr/>
          <p:nvPr/>
        </p:nvGrpSpPr>
        <p:grpSpPr>
          <a:xfrm>
            <a:off x="264057" y="2267795"/>
            <a:ext cx="11818215" cy="609601"/>
            <a:chOff x="68495" y="988294"/>
            <a:chExt cx="12105053" cy="609601"/>
          </a:xfrm>
          <a:solidFill>
            <a:schemeClr val="accent4"/>
          </a:solidFill>
        </p:grpSpPr>
        <p:sp>
          <p:nvSpPr>
            <p:cNvPr id="10" name="Arrow: Pentagon 9">
              <a:extLst>
                <a:ext uri="{FF2B5EF4-FFF2-40B4-BE49-F238E27FC236}">
                  <a16:creationId xmlns:a16="http://schemas.microsoft.com/office/drawing/2014/main" id="{753042D8-DCE4-1885-BD9F-59E0B274AAC9}"/>
                </a:ext>
              </a:extLst>
            </p:cNvPr>
            <p:cNvSpPr/>
            <p:nvPr/>
          </p:nvSpPr>
          <p:spPr>
            <a:xfrm>
              <a:off x="68495" y="988294"/>
              <a:ext cx="1699474" cy="609601"/>
            </a:xfrm>
            <a:prstGeom prst="homePlate">
              <a:avLst/>
            </a:prstGeom>
            <a:grpFill/>
            <a:ln>
              <a:noFill/>
            </a:ln>
          </p:spPr>
          <p:style>
            <a:lnRef idx="2">
              <a:schemeClr val="accent2"/>
            </a:lnRef>
            <a:fillRef idx="1">
              <a:schemeClr val="lt1"/>
            </a:fillRef>
            <a:effectRef idx="0">
              <a:schemeClr val="accent2"/>
            </a:effectRef>
            <a:fontRef idx="minor">
              <a:schemeClr val="dk1">
                <a:hueOff val="0"/>
                <a:satOff val="0"/>
                <a:lumOff val="0"/>
                <a:alphaOff val="0"/>
              </a:schemeClr>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uLnTx/>
                  <a:uFillTx/>
                  <a:latin typeface="Calibri Light" panose="020F0302020204030204"/>
                  <a:ea typeface="+mn-ea"/>
                  <a:cs typeface="+mn-cs"/>
                </a:rPr>
                <a:t>Intake</a:t>
              </a:r>
            </a:p>
          </p:txBody>
        </p:sp>
        <p:sp>
          <p:nvSpPr>
            <p:cNvPr id="11" name="Arrow: Chevron 10">
              <a:extLst>
                <a:ext uri="{FF2B5EF4-FFF2-40B4-BE49-F238E27FC236}">
                  <a16:creationId xmlns:a16="http://schemas.microsoft.com/office/drawing/2014/main" id="{9DF64399-9799-B4B9-2E17-411D38287CEA}"/>
                </a:ext>
              </a:extLst>
            </p:cNvPr>
            <p:cNvSpPr/>
            <p:nvPr/>
          </p:nvSpPr>
          <p:spPr>
            <a:xfrm>
              <a:off x="1600383" y="988294"/>
              <a:ext cx="1652038" cy="609601"/>
            </a:xfrm>
            <a:prstGeom prst="chevron">
              <a:avLst/>
            </a:prstGeom>
            <a:grpFill/>
            <a:ln>
              <a:noFill/>
            </a:ln>
          </p:spPr>
          <p:style>
            <a:lnRef idx="2">
              <a:schemeClr val="accent2"/>
            </a:lnRef>
            <a:fillRef idx="1">
              <a:schemeClr val="lt1"/>
            </a:fillRef>
            <a:effectRef idx="0">
              <a:schemeClr val="accent2"/>
            </a:effectRef>
            <a:fontRef idx="minor">
              <a:schemeClr val="dk1">
                <a:hueOff val="0"/>
                <a:satOff val="0"/>
                <a:lumOff val="0"/>
                <a:alphaOff val="0"/>
              </a:schemeClr>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uLnTx/>
                  <a:uFillTx/>
                  <a:latin typeface="Calibri Light" panose="020F0302020204030204"/>
                  <a:ea typeface="+mn-ea"/>
                  <a:cs typeface="+mn-cs"/>
                </a:rPr>
                <a:t>Case Prep</a:t>
              </a:r>
            </a:p>
          </p:txBody>
        </p:sp>
        <p:sp>
          <p:nvSpPr>
            <p:cNvPr id="12" name="Arrow: Chevron 11">
              <a:extLst>
                <a:ext uri="{FF2B5EF4-FFF2-40B4-BE49-F238E27FC236}">
                  <a16:creationId xmlns:a16="http://schemas.microsoft.com/office/drawing/2014/main" id="{F4BE321B-D182-3C2C-B101-3E11F995D302}"/>
                </a:ext>
              </a:extLst>
            </p:cNvPr>
            <p:cNvSpPr/>
            <p:nvPr/>
          </p:nvSpPr>
          <p:spPr>
            <a:xfrm>
              <a:off x="3096475" y="988294"/>
              <a:ext cx="1652038" cy="609601"/>
            </a:xfrm>
            <a:prstGeom prst="chevron">
              <a:avLst/>
            </a:prstGeom>
            <a:grpFill/>
            <a:ln>
              <a:noFill/>
            </a:ln>
          </p:spPr>
          <p:style>
            <a:lnRef idx="2">
              <a:schemeClr val="accent2"/>
            </a:lnRef>
            <a:fillRef idx="1">
              <a:schemeClr val="lt1"/>
            </a:fillRef>
            <a:effectRef idx="0">
              <a:schemeClr val="accent2"/>
            </a:effectRef>
            <a:fontRef idx="minor">
              <a:schemeClr val="dk1">
                <a:hueOff val="0"/>
                <a:satOff val="0"/>
                <a:lumOff val="0"/>
                <a:alphaOff val="0"/>
              </a:schemeClr>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uLnTx/>
                  <a:uFillTx/>
                  <a:latin typeface="Calibri Light" panose="020F0302020204030204"/>
                  <a:ea typeface="+mn-ea"/>
                  <a:cs typeface="+mn-cs"/>
                </a:rPr>
                <a:t>Prior Authorization</a:t>
              </a:r>
            </a:p>
          </p:txBody>
        </p:sp>
        <p:sp>
          <p:nvSpPr>
            <p:cNvPr id="13" name="Arrow: Chevron 12">
              <a:extLst>
                <a:ext uri="{FF2B5EF4-FFF2-40B4-BE49-F238E27FC236}">
                  <a16:creationId xmlns:a16="http://schemas.microsoft.com/office/drawing/2014/main" id="{9BB0C779-3C91-54A7-3A28-80C1CA51A117}"/>
                </a:ext>
              </a:extLst>
            </p:cNvPr>
            <p:cNvSpPr/>
            <p:nvPr/>
          </p:nvSpPr>
          <p:spPr>
            <a:xfrm>
              <a:off x="4574091" y="988294"/>
              <a:ext cx="1652038" cy="609601"/>
            </a:xfrm>
            <a:prstGeom prst="chevron">
              <a:avLst/>
            </a:prstGeom>
            <a:grpFill/>
            <a:ln>
              <a:noFill/>
            </a:ln>
          </p:spPr>
          <p:style>
            <a:lnRef idx="2">
              <a:schemeClr val="accent2"/>
            </a:lnRef>
            <a:fillRef idx="1">
              <a:schemeClr val="lt1"/>
            </a:fillRef>
            <a:effectRef idx="0">
              <a:schemeClr val="accent2"/>
            </a:effectRef>
            <a:fontRef idx="minor">
              <a:schemeClr val="dk1">
                <a:hueOff val="0"/>
                <a:satOff val="0"/>
                <a:lumOff val="0"/>
                <a:alphaOff val="0"/>
              </a:schemeClr>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uLnTx/>
                  <a:uFillTx/>
                  <a:latin typeface="Calibri Light" panose="020F0302020204030204"/>
                  <a:ea typeface="+mn-ea"/>
                  <a:cs typeface="+mn-cs"/>
                </a:rPr>
                <a:t>Concurrent Review</a:t>
              </a:r>
            </a:p>
          </p:txBody>
        </p:sp>
        <p:sp>
          <p:nvSpPr>
            <p:cNvPr id="14" name="Arrow: Chevron 13">
              <a:extLst>
                <a:ext uri="{FF2B5EF4-FFF2-40B4-BE49-F238E27FC236}">
                  <a16:creationId xmlns:a16="http://schemas.microsoft.com/office/drawing/2014/main" id="{EB87DB66-B41B-268F-BB64-F1D06B6E25E8}"/>
                </a:ext>
              </a:extLst>
            </p:cNvPr>
            <p:cNvSpPr/>
            <p:nvPr/>
          </p:nvSpPr>
          <p:spPr>
            <a:xfrm>
              <a:off x="6070182" y="988294"/>
              <a:ext cx="1652038" cy="609601"/>
            </a:xfrm>
            <a:prstGeom prst="chevron">
              <a:avLst/>
            </a:prstGeom>
            <a:grpFill/>
            <a:ln>
              <a:noFill/>
            </a:ln>
          </p:spPr>
          <p:style>
            <a:lnRef idx="2">
              <a:schemeClr val="accent2"/>
            </a:lnRef>
            <a:fillRef idx="1">
              <a:schemeClr val="lt1"/>
            </a:fillRef>
            <a:effectRef idx="0">
              <a:schemeClr val="accent2"/>
            </a:effectRef>
            <a:fontRef idx="minor">
              <a:schemeClr val="dk1">
                <a:hueOff val="0"/>
                <a:satOff val="0"/>
                <a:lumOff val="0"/>
                <a:alphaOff val="0"/>
              </a:schemeClr>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uLnTx/>
                  <a:uFillTx/>
                  <a:latin typeface="Calibri Light" panose="020F0302020204030204"/>
                  <a:ea typeface="+mn-ea"/>
                  <a:cs typeface="+mn-cs"/>
                </a:rPr>
                <a:t>Retrospective Review</a:t>
              </a:r>
            </a:p>
          </p:txBody>
        </p:sp>
        <p:sp>
          <p:nvSpPr>
            <p:cNvPr id="15" name="Arrow: Chevron 14">
              <a:extLst>
                <a:ext uri="{FF2B5EF4-FFF2-40B4-BE49-F238E27FC236}">
                  <a16:creationId xmlns:a16="http://schemas.microsoft.com/office/drawing/2014/main" id="{6F7EA8EC-9175-3B77-CEB1-6305FC9A0BC8}"/>
                </a:ext>
              </a:extLst>
            </p:cNvPr>
            <p:cNvSpPr/>
            <p:nvPr/>
          </p:nvSpPr>
          <p:spPr>
            <a:xfrm>
              <a:off x="7547797" y="988294"/>
              <a:ext cx="1652039" cy="609601"/>
            </a:xfrm>
            <a:prstGeom prst="chevron">
              <a:avLst/>
            </a:prstGeom>
            <a:solidFill>
              <a:schemeClr val="accent4"/>
            </a:solidFill>
            <a:ln>
              <a:noFill/>
            </a:ln>
          </p:spPr>
          <p:style>
            <a:lnRef idx="2">
              <a:schemeClr val="accent2"/>
            </a:lnRef>
            <a:fillRef idx="1">
              <a:schemeClr val="lt1"/>
            </a:fillRef>
            <a:effectRef idx="0">
              <a:schemeClr val="accent2"/>
            </a:effectRef>
            <a:fontRef idx="minor">
              <a:schemeClr val="dk1">
                <a:hueOff val="0"/>
                <a:satOff val="0"/>
                <a:lumOff val="0"/>
                <a:alphaOff val="0"/>
              </a:schemeClr>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uLnTx/>
                  <a:uFillTx/>
                  <a:latin typeface="Calibri Light" panose="020F0302020204030204"/>
                  <a:ea typeface="+mn-ea"/>
                  <a:cs typeface="+mn-cs"/>
                </a:rPr>
                <a:t>Claims Payment and </a:t>
              </a:r>
              <a:r>
                <a:rPr kumimoji="0" lang="en-US" sz="1000" b="1" i="0" u="none" strike="noStrike" kern="1200" cap="none" spc="0" normalizeH="0" baseline="0" noProof="0" dirty="0">
                  <a:ln>
                    <a:noFill/>
                  </a:ln>
                  <a:solidFill>
                    <a:srgbClr val="FFFFFF"/>
                  </a:solidFill>
                  <a:uLnTx/>
                  <a:uFillTx/>
                  <a:latin typeface="Calibri Light" panose="020F0302020204030204"/>
                  <a:ea typeface="+mn-ea"/>
                  <a:cs typeface="+mn-cs"/>
                </a:rPr>
                <a:t>Reimbursement</a:t>
              </a:r>
              <a:endParaRPr kumimoji="0" lang="en-US" sz="1050" b="1" i="0" u="none" strike="noStrike" kern="1200" cap="none" spc="0" normalizeH="0" baseline="0" noProof="0" dirty="0">
                <a:ln>
                  <a:noFill/>
                </a:ln>
                <a:solidFill>
                  <a:srgbClr val="FFFFFF"/>
                </a:solidFill>
                <a:uLnTx/>
                <a:uFillTx/>
                <a:latin typeface="Calibri Light" panose="020F0302020204030204"/>
                <a:ea typeface="+mn-ea"/>
                <a:cs typeface="+mn-cs"/>
              </a:endParaRPr>
            </a:p>
          </p:txBody>
        </p:sp>
        <p:sp>
          <p:nvSpPr>
            <p:cNvPr id="16" name="Arrow: Chevron 15">
              <a:extLst>
                <a:ext uri="{FF2B5EF4-FFF2-40B4-BE49-F238E27FC236}">
                  <a16:creationId xmlns:a16="http://schemas.microsoft.com/office/drawing/2014/main" id="{B2891A02-7BF2-8C4D-8B8F-518821012C77}"/>
                </a:ext>
              </a:extLst>
            </p:cNvPr>
            <p:cNvSpPr/>
            <p:nvPr/>
          </p:nvSpPr>
          <p:spPr>
            <a:xfrm>
              <a:off x="9043890" y="988294"/>
              <a:ext cx="1652038" cy="609601"/>
            </a:xfrm>
            <a:prstGeom prst="chevron">
              <a:avLst/>
            </a:prstGeom>
            <a:solidFill>
              <a:schemeClr val="accent4"/>
            </a:solidFill>
            <a:ln>
              <a:noFill/>
            </a:ln>
          </p:spPr>
          <p:style>
            <a:lnRef idx="2">
              <a:schemeClr val="accent2"/>
            </a:lnRef>
            <a:fillRef idx="1">
              <a:schemeClr val="lt1"/>
            </a:fillRef>
            <a:effectRef idx="0">
              <a:schemeClr val="accent2"/>
            </a:effectRef>
            <a:fontRef idx="minor">
              <a:schemeClr val="dk1">
                <a:hueOff val="0"/>
                <a:satOff val="0"/>
                <a:lumOff val="0"/>
                <a:alphaOff val="0"/>
              </a:schemeClr>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uLnTx/>
                  <a:uFillTx/>
                  <a:latin typeface="Calibri Light" panose="020F0302020204030204"/>
                  <a:ea typeface="+mn-ea"/>
                  <a:cs typeface="+mn-cs"/>
                </a:rPr>
                <a:t>Clinical Quality Audit</a:t>
              </a:r>
            </a:p>
          </p:txBody>
        </p:sp>
        <p:sp>
          <p:nvSpPr>
            <p:cNvPr id="17" name="Arrow: Chevron 16">
              <a:extLst>
                <a:ext uri="{FF2B5EF4-FFF2-40B4-BE49-F238E27FC236}">
                  <a16:creationId xmlns:a16="http://schemas.microsoft.com/office/drawing/2014/main" id="{135BF76E-BF97-E331-C6CB-B902A95CBF4F}"/>
                </a:ext>
              </a:extLst>
            </p:cNvPr>
            <p:cNvSpPr/>
            <p:nvPr/>
          </p:nvSpPr>
          <p:spPr>
            <a:xfrm>
              <a:off x="10521510" y="988294"/>
              <a:ext cx="1652038" cy="609601"/>
            </a:xfrm>
            <a:prstGeom prst="chevron">
              <a:avLst/>
            </a:prstGeom>
            <a:solidFill>
              <a:schemeClr val="accent4"/>
            </a:solidFill>
            <a:ln>
              <a:noFill/>
            </a:ln>
          </p:spPr>
          <p:style>
            <a:lnRef idx="2">
              <a:schemeClr val="accent2"/>
            </a:lnRef>
            <a:fillRef idx="1">
              <a:schemeClr val="lt1"/>
            </a:fillRef>
            <a:effectRef idx="0">
              <a:schemeClr val="accent2"/>
            </a:effectRef>
            <a:fontRef idx="minor">
              <a:schemeClr val="dk1">
                <a:hueOff val="0"/>
                <a:satOff val="0"/>
                <a:lumOff val="0"/>
                <a:alphaOff val="0"/>
              </a:schemeClr>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uLnTx/>
                  <a:uFillTx/>
                  <a:latin typeface="Calibri Light" panose="020F0302020204030204"/>
                  <a:ea typeface="+mn-ea"/>
                  <a:cs typeface="+mn-cs"/>
                </a:rPr>
                <a:t>Complaints, Grievances &amp; Appeals</a:t>
              </a:r>
            </a:p>
          </p:txBody>
        </p:sp>
      </p:grpSp>
      <p:sp>
        <p:nvSpPr>
          <p:cNvPr id="4" name="Rectangle 3">
            <a:extLst>
              <a:ext uri="{FF2B5EF4-FFF2-40B4-BE49-F238E27FC236}">
                <a16:creationId xmlns:a16="http://schemas.microsoft.com/office/drawing/2014/main" id="{86D59057-AB67-E062-CCAD-39CD113A9D0F}"/>
              </a:ext>
            </a:extLst>
          </p:cNvPr>
          <p:cNvSpPr/>
          <p:nvPr/>
        </p:nvSpPr>
        <p:spPr>
          <a:xfrm>
            <a:off x="277325" y="3194551"/>
            <a:ext cx="1322875" cy="702192"/>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900" dirty="0">
                <a:solidFill>
                  <a:schemeClr val="tx2"/>
                </a:solidFill>
              </a:rPr>
              <a:t>Case creation via telephonic, fax or portal</a:t>
            </a:r>
          </a:p>
        </p:txBody>
      </p:sp>
      <p:sp>
        <p:nvSpPr>
          <p:cNvPr id="5" name="Rectangle 4">
            <a:extLst>
              <a:ext uri="{FF2B5EF4-FFF2-40B4-BE49-F238E27FC236}">
                <a16:creationId xmlns:a16="http://schemas.microsoft.com/office/drawing/2014/main" id="{4750E001-24AC-0E3B-C118-4B1801ACBF87}"/>
              </a:ext>
            </a:extLst>
          </p:cNvPr>
          <p:cNvSpPr/>
          <p:nvPr/>
        </p:nvSpPr>
        <p:spPr>
          <a:xfrm>
            <a:off x="277324" y="4290432"/>
            <a:ext cx="1322875" cy="702192"/>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900" dirty="0">
                <a:solidFill>
                  <a:schemeClr val="tx2"/>
                </a:solidFill>
              </a:rPr>
              <a:t>Case verification</a:t>
            </a:r>
          </a:p>
        </p:txBody>
      </p:sp>
      <p:sp>
        <p:nvSpPr>
          <p:cNvPr id="21" name="Rectangle 20">
            <a:extLst>
              <a:ext uri="{FF2B5EF4-FFF2-40B4-BE49-F238E27FC236}">
                <a16:creationId xmlns:a16="http://schemas.microsoft.com/office/drawing/2014/main" id="{5C28E614-5DF4-45BA-AEC4-AFB3A032DBE2}"/>
              </a:ext>
            </a:extLst>
          </p:cNvPr>
          <p:cNvSpPr/>
          <p:nvPr/>
        </p:nvSpPr>
        <p:spPr>
          <a:xfrm>
            <a:off x="1753864" y="3194551"/>
            <a:ext cx="1322875" cy="702192"/>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900" dirty="0">
                <a:solidFill>
                  <a:schemeClr val="tx2"/>
                </a:solidFill>
              </a:rPr>
              <a:t>Checking of benefits and eligibility</a:t>
            </a:r>
          </a:p>
        </p:txBody>
      </p:sp>
      <p:sp>
        <p:nvSpPr>
          <p:cNvPr id="22" name="Rectangle 21">
            <a:extLst>
              <a:ext uri="{FF2B5EF4-FFF2-40B4-BE49-F238E27FC236}">
                <a16:creationId xmlns:a16="http://schemas.microsoft.com/office/drawing/2014/main" id="{A06A46B3-58B6-E754-B37F-6F29A947296C}"/>
              </a:ext>
            </a:extLst>
          </p:cNvPr>
          <p:cNvSpPr/>
          <p:nvPr/>
        </p:nvSpPr>
        <p:spPr>
          <a:xfrm>
            <a:off x="1753863" y="4290432"/>
            <a:ext cx="1322875" cy="702192"/>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900" dirty="0">
                <a:solidFill>
                  <a:schemeClr val="tx2"/>
                </a:solidFill>
              </a:rPr>
              <a:t>Allocation and tasking per skill and priority</a:t>
            </a:r>
          </a:p>
        </p:txBody>
      </p:sp>
      <p:sp>
        <p:nvSpPr>
          <p:cNvPr id="27" name="Rectangle 26">
            <a:extLst>
              <a:ext uri="{FF2B5EF4-FFF2-40B4-BE49-F238E27FC236}">
                <a16:creationId xmlns:a16="http://schemas.microsoft.com/office/drawing/2014/main" id="{1BF9D8CD-6274-2AE0-DA40-1E0133B6BC6D}"/>
              </a:ext>
            </a:extLst>
          </p:cNvPr>
          <p:cNvSpPr/>
          <p:nvPr/>
        </p:nvSpPr>
        <p:spPr>
          <a:xfrm>
            <a:off x="3237927" y="3194551"/>
            <a:ext cx="4155230" cy="293209"/>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900" dirty="0">
                <a:solidFill>
                  <a:schemeClr val="tx2"/>
                </a:solidFill>
              </a:rPr>
              <a:t>Review of clinical records</a:t>
            </a:r>
          </a:p>
        </p:txBody>
      </p:sp>
      <p:sp>
        <p:nvSpPr>
          <p:cNvPr id="31" name="Rectangle 30">
            <a:extLst>
              <a:ext uri="{FF2B5EF4-FFF2-40B4-BE49-F238E27FC236}">
                <a16:creationId xmlns:a16="http://schemas.microsoft.com/office/drawing/2014/main" id="{134433A4-C09C-4312-14D5-9A1FF1764F96}"/>
              </a:ext>
            </a:extLst>
          </p:cNvPr>
          <p:cNvSpPr/>
          <p:nvPr/>
        </p:nvSpPr>
        <p:spPr>
          <a:xfrm>
            <a:off x="3237926" y="3695113"/>
            <a:ext cx="4155230" cy="293209"/>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900" dirty="0">
                <a:solidFill>
                  <a:schemeClr val="tx2"/>
                </a:solidFill>
              </a:rPr>
              <a:t>Creation of clinical summary</a:t>
            </a:r>
          </a:p>
        </p:txBody>
      </p:sp>
      <p:sp>
        <p:nvSpPr>
          <p:cNvPr id="34" name="Rectangle 33">
            <a:extLst>
              <a:ext uri="{FF2B5EF4-FFF2-40B4-BE49-F238E27FC236}">
                <a16:creationId xmlns:a16="http://schemas.microsoft.com/office/drawing/2014/main" id="{A507601A-7129-AABB-583E-9256424A455A}"/>
              </a:ext>
            </a:extLst>
          </p:cNvPr>
          <p:cNvSpPr/>
          <p:nvPr/>
        </p:nvSpPr>
        <p:spPr>
          <a:xfrm>
            <a:off x="3242267" y="4195675"/>
            <a:ext cx="4155230" cy="293209"/>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900" dirty="0">
                <a:solidFill>
                  <a:schemeClr val="tx2"/>
                </a:solidFill>
              </a:rPr>
              <a:t>Selection of appropriate criteria or  guidelines</a:t>
            </a:r>
          </a:p>
        </p:txBody>
      </p:sp>
      <p:sp>
        <p:nvSpPr>
          <p:cNvPr id="37" name="Rectangle 36">
            <a:extLst>
              <a:ext uri="{FF2B5EF4-FFF2-40B4-BE49-F238E27FC236}">
                <a16:creationId xmlns:a16="http://schemas.microsoft.com/office/drawing/2014/main" id="{B2413652-2336-175D-BFFC-4B4525AD36D1}"/>
              </a:ext>
            </a:extLst>
          </p:cNvPr>
          <p:cNvSpPr/>
          <p:nvPr/>
        </p:nvSpPr>
        <p:spPr>
          <a:xfrm>
            <a:off x="3242266" y="4696238"/>
            <a:ext cx="4155230" cy="293209"/>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900" dirty="0">
                <a:solidFill>
                  <a:schemeClr val="tx2"/>
                </a:solidFill>
              </a:rPr>
              <a:t>Clinical review and determination</a:t>
            </a:r>
          </a:p>
        </p:txBody>
      </p:sp>
      <p:sp>
        <p:nvSpPr>
          <p:cNvPr id="41" name="Rectangle 40">
            <a:extLst>
              <a:ext uri="{FF2B5EF4-FFF2-40B4-BE49-F238E27FC236}">
                <a16:creationId xmlns:a16="http://schemas.microsoft.com/office/drawing/2014/main" id="{52C9F6D0-7787-2125-CA44-42FCC7939FF9}"/>
              </a:ext>
            </a:extLst>
          </p:cNvPr>
          <p:cNvSpPr/>
          <p:nvPr/>
        </p:nvSpPr>
        <p:spPr>
          <a:xfrm>
            <a:off x="7562928" y="3179864"/>
            <a:ext cx="1322875" cy="702192"/>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900" dirty="0">
                <a:solidFill>
                  <a:schemeClr val="tx2"/>
                </a:solidFill>
              </a:rPr>
              <a:t>Examination of billed codes and medical records </a:t>
            </a:r>
          </a:p>
        </p:txBody>
      </p:sp>
      <p:sp>
        <p:nvSpPr>
          <p:cNvPr id="46" name="Rectangle 45">
            <a:extLst>
              <a:ext uri="{FF2B5EF4-FFF2-40B4-BE49-F238E27FC236}">
                <a16:creationId xmlns:a16="http://schemas.microsoft.com/office/drawing/2014/main" id="{56BD2635-8188-DF4B-12D2-210A3F0F4C07}"/>
              </a:ext>
            </a:extLst>
          </p:cNvPr>
          <p:cNvSpPr/>
          <p:nvPr/>
        </p:nvSpPr>
        <p:spPr>
          <a:xfrm>
            <a:off x="7562927" y="4275745"/>
            <a:ext cx="1322875" cy="702192"/>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900" dirty="0">
                <a:solidFill>
                  <a:schemeClr val="tx2"/>
                </a:solidFill>
              </a:rPr>
              <a:t>Determination if edit was appropriately applied to the claim suspected of Fraud, Waste and Abuse  </a:t>
            </a:r>
          </a:p>
        </p:txBody>
      </p:sp>
      <p:sp>
        <p:nvSpPr>
          <p:cNvPr id="50" name="Rectangle 49">
            <a:extLst>
              <a:ext uri="{FF2B5EF4-FFF2-40B4-BE49-F238E27FC236}">
                <a16:creationId xmlns:a16="http://schemas.microsoft.com/office/drawing/2014/main" id="{BD5CB218-4B39-B7BF-7C23-3B31162777AD}"/>
              </a:ext>
            </a:extLst>
          </p:cNvPr>
          <p:cNvSpPr/>
          <p:nvPr/>
        </p:nvSpPr>
        <p:spPr>
          <a:xfrm>
            <a:off x="9031085" y="3179864"/>
            <a:ext cx="1322875" cy="702192"/>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900" dirty="0">
                <a:solidFill>
                  <a:schemeClr val="tx2"/>
                </a:solidFill>
              </a:rPr>
              <a:t>Transaction monitoring, reporting, QA huddles </a:t>
            </a:r>
          </a:p>
        </p:txBody>
      </p:sp>
      <p:sp>
        <p:nvSpPr>
          <p:cNvPr id="1026" name="Rectangle 1025">
            <a:extLst>
              <a:ext uri="{FF2B5EF4-FFF2-40B4-BE49-F238E27FC236}">
                <a16:creationId xmlns:a16="http://schemas.microsoft.com/office/drawing/2014/main" id="{6514F30A-8273-1DEA-589E-3E20B0993FDF}"/>
              </a:ext>
            </a:extLst>
          </p:cNvPr>
          <p:cNvSpPr/>
          <p:nvPr/>
        </p:nvSpPr>
        <p:spPr>
          <a:xfrm>
            <a:off x="9031084" y="4275745"/>
            <a:ext cx="1322875" cy="702192"/>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900" dirty="0">
                <a:solidFill>
                  <a:schemeClr val="tx2"/>
                </a:solidFill>
              </a:rPr>
              <a:t>Feedback sessions</a:t>
            </a:r>
          </a:p>
        </p:txBody>
      </p:sp>
      <p:sp>
        <p:nvSpPr>
          <p:cNvPr id="1027" name="Rectangle 1026">
            <a:extLst>
              <a:ext uri="{FF2B5EF4-FFF2-40B4-BE49-F238E27FC236}">
                <a16:creationId xmlns:a16="http://schemas.microsoft.com/office/drawing/2014/main" id="{0A8F66FD-1FD5-6885-1464-578E9302E07C}"/>
              </a:ext>
            </a:extLst>
          </p:cNvPr>
          <p:cNvSpPr/>
          <p:nvPr/>
        </p:nvSpPr>
        <p:spPr>
          <a:xfrm>
            <a:off x="10471809" y="3179864"/>
            <a:ext cx="1322875" cy="702192"/>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900" dirty="0">
                <a:solidFill>
                  <a:schemeClr val="tx2"/>
                </a:solidFill>
              </a:rPr>
              <a:t>Triage &amp; review appeals and complaints for denied/under paid claims</a:t>
            </a:r>
          </a:p>
        </p:txBody>
      </p:sp>
      <p:sp>
        <p:nvSpPr>
          <p:cNvPr id="1028" name="Rectangle 1027">
            <a:extLst>
              <a:ext uri="{FF2B5EF4-FFF2-40B4-BE49-F238E27FC236}">
                <a16:creationId xmlns:a16="http://schemas.microsoft.com/office/drawing/2014/main" id="{7EC7F1AC-66A4-D0FA-A373-1CAB901FA05B}"/>
              </a:ext>
            </a:extLst>
          </p:cNvPr>
          <p:cNvSpPr/>
          <p:nvPr/>
        </p:nvSpPr>
        <p:spPr>
          <a:xfrm>
            <a:off x="10471808" y="4275745"/>
            <a:ext cx="1322875" cy="702192"/>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900" dirty="0">
                <a:solidFill>
                  <a:schemeClr val="tx2"/>
                </a:solidFill>
              </a:rPr>
              <a:t>Clinical appeals review and Provider Notification</a:t>
            </a:r>
          </a:p>
        </p:txBody>
      </p:sp>
      <p:cxnSp>
        <p:nvCxnSpPr>
          <p:cNvPr id="1030" name="Straight Arrow Connector 1029">
            <a:extLst>
              <a:ext uri="{FF2B5EF4-FFF2-40B4-BE49-F238E27FC236}">
                <a16:creationId xmlns:a16="http://schemas.microsoft.com/office/drawing/2014/main" id="{5E187844-125E-FDF3-B47D-26A85E554495}"/>
              </a:ext>
            </a:extLst>
          </p:cNvPr>
          <p:cNvCxnSpPr>
            <a:cxnSpLocks/>
            <a:stCxn id="10" idx="2"/>
            <a:endCxn id="4" idx="0"/>
          </p:cNvCxnSpPr>
          <p:nvPr/>
        </p:nvCxnSpPr>
        <p:spPr>
          <a:xfrm flipH="1">
            <a:off x="938763" y="2877396"/>
            <a:ext cx="2496" cy="3171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5" name="Straight Arrow Connector 1044">
            <a:extLst>
              <a:ext uri="{FF2B5EF4-FFF2-40B4-BE49-F238E27FC236}">
                <a16:creationId xmlns:a16="http://schemas.microsoft.com/office/drawing/2014/main" id="{71A52743-5D81-7FF7-6AF9-07CE666B1A94}"/>
              </a:ext>
            </a:extLst>
          </p:cNvPr>
          <p:cNvCxnSpPr>
            <a:cxnSpLocks/>
            <a:stCxn id="11" idx="2"/>
            <a:endCxn id="21" idx="0"/>
          </p:cNvCxnSpPr>
          <p:nvPr/>
        </p:nvCxnSpPr>
        <p:spPr>
          <a:xfrm>
            <a:off x="2413692" y="2877396"/>
            <a:ext cx="1610" cy="3171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8" name="Straight Arrow Connector 1047">
            <a:extLst>
              <a:ext uri="{FF2B5EF4-FFF2-40B4-BE49-F238E27FC236}">
                <a16:creationId xmlns:a16="http://schemas.microsoft.com/office/drawing/2014/main" id="{334C1DA0-A116-FE93-82CC-E236C0B22ABB}"/>
              </a:ext>
            </a:extLst>
          </p:cNvPr>
          <p:cNvCxnSpPr>
            <a:cxnSpLocks/>
            <a:stCxn id="4" idx="2"/>
            <a:endCxn id="5" idx="0"/>
          </p:cNvCxnSpPr>
          <p:nvPr/>
        </p:nvCxnSpPr>
        <p:spPr>
          <a:xfrm flipH="1">
            <a:off x="938762" y="3896743"/>
            <a:ext cx="1" cy="393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1" name="Straight Arrow Connector 1050">
            <a:extLst>
              <a:ext uri="{FF2B5EF4-FFF2-40B4-BE49-F238E27FC236}">
                <a16:creationId xmlns:a16="http://schemas.microsoft.com/office/drawing/2014/main" id="{51B8178B-9229-124A-7140-645C87E8E09A}"/>
              </a:ext>
            </a:extLst>
          </p:cNvPr>
          <p:cNvCxnSpPr>
            <a:cxnSpLocks/>
            <a:stCxn id="21" idx="2"/>
            <a:endCxn id="22" idx="0"/>
          </p:cNvCxnSpPr>
          <p:nvPr/>
        </p:nvCxnSpPr>
        <p:spPr>
          <a:xfrm flipH="1">
            <a:off x="2415301" y="3896743"/>
            <a:ext cx="1" cy="393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4" name="Straight Arrow Connector 1053">
            <a:extLst>
              <a:ext uri="{FF2B5EF4-FFF2-40B4-BE49-F238E27FC236}">
                <a16:creationId xmlns:a16="http://schemas.microsoft.com/office/drawing/2014/main" id="{E82D037E-EE39-837D-8CF0-AC1AF0080B11}"/>
              </a:ext>
            </a:extLst>
          </p:cNvPr>
          <p:cNvCxnSpPr>
            <a:cxnSpLocks/>
            <a:stCxn id="15" idx="2"/>
            <a:endCxn id="41" idx="0"/>
          </p:cNvCxnSpPr>
          <p:nvPr/>
        </p:nvCxnSpPr>
        <p:spPr>
          <a:xfrm>
            <a:off x="8220178" y="2877396"/>
            <a:ext cx="4188" cy="302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0" name="Straight Arrow Connector 1059">
            <a:extLst>
              <a:ext uri="{FF2B5EF4-FFF2-40B4-BE49-F238E27FC236}">
                <a16:creationId xmlns:a16="http://schemas.microsoft.com/office/drawing/2014/main" id="{3A2E087E-2D80-5F39-7A5F-79EC5D865720}"/>
              </a:ext>
            </a:extLst>
          </p:cNvPr>
          <p:cNvCxnSpPr>
            <a:cxnSpLocks/>
            <a:stCxn id="16" idx="2"/>
            <a:endCxn id="50" idx="0"/>
          </p:cNvCxnSpPr>
          <p:nvPr/>
        </p:nvCxnSpPr>
        <p:spPr>
          <a:xfrm>
            <a:off x="9680820" y="2877396"/>
            <a:ext cx="11703" cy="302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3" name="Straight Arrow Connector 1062">
            <a:extLst>
              <a:ext uri="{FF2B5EF4-FFF2-40B4-BE49-F238E27FC236}">
                <a16:creationId xmlns:a16="http://schemas.microsoft.com/office/drawing/2014/main" id="{66BD4FE5-E5F7-3496-95C2-4C9780CA9AEC}"/>
              </a:ext>
            </a:extLst>
          </p:cNvPr>
          <p:cNvCxnSpPr>
            <a:cxnSpLocks/>
            <a:stCxn id="17" idx="2"/>
            <a:endCxn id="1027" idx="0"/>
          </p:cNvCxnSpPr>
          <p:nvPr/>
        </p:nvCxnSpPr>
        <p:spPr>
          <a:xfrm>
            <a:off x="11123426" y="2877396"/>
            <a:ext cx="9821" cy="302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6" name="Straight Arrow Connector 1065">
            <a:extLst>
              <a:ext uri="{FF2B5EF4-FFF2-40B4-BE49-F238E27FC236}">
                <a16:creationId xmlns:a16="http://schemas.microsoft.com/office/drawing/2014/main" id="{951BB93F-3C98-89FB-AAEF-2A9376918148}"/>
              </a:ext>
            </a:extLst>
          </p:cNvPr>
          <p:cNvCxnSpPr>
            <a:cxnSpLocks/>
            <a:stCxn id="41" idx="2"/>
            <a:endCxn id="46" idx="0"/>
          </p:cNvCxnSpPr>
          <p:nvPr/>
        </p:nvCxnSpPr>
        <p:spPr>
          <a:xfrm flipH="1">
            <a:off x="8224365" y="3882056"/>
            <a:ext cx="1" cy="393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9" name="Straight Arrow Connector 1068">
            <a:extLst>
              <a:ext uri="{FF2B5EF4-FFF2-40B4-BE49-F238E27FC236}">
                <a16:creationId xmlns:a16="http://schemas.microsoft.com/office/drawing/2014/main" id="{9BC0470C-7012-B5A9-CD5B-E7CE36D76AA9}"/>
              </a:ext>
            </a:extLst>
          </p:cNvPr>
          <p:cNvCxnSpPr>
            <a:cxnSpLocks/>
            <a:stCxn id="50" idx="2"/>
            <a:endCxn id="1026" idx="0"/>
          </p:cNvCxnSpPr>
          <p:nvPr/>
        </p:nvCxnSpPr>
        <p:spPr>
          <a:xfrm flipH="1">
            <a:off x="9692522" y="3882056"/>
            <a:ext cx="1" cy="393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3" name="Straight Arrow Connector 1072">
            <a:extLst>
              <a:ext uri="{FF2B5EF4-FFF2-40B4-BE49-F238E27FC236}">
                <a16:creationId xmlns:a16="http://schemas.microsoft.com/office/drawing/2014/main" id="{6DA514ED-A71D-CA83-CD7A-6D8BD60AE5AB}"/>
              </a:ext>
            </a:extLst>
          </p:cNvPr>
          <p:cNvCxnSpPr>
            <a:cxnSpLocks/>
            <a:stCxn id="1027" idx="2"/>
            <a:endCxn id="1028" idx="0"/>
          </p:cNvCxnSpPr>
          <p:nvPr/>
        </p:nvCxnSpPr>
        <p:spPr>
          <a:xfrm flipH="1">
            <a:off x="11133246" y="3882056"/>
            <a:ext cx="1" cy="393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7" name="Connector: Elbow 1076">
            <a:extLst>
              <a:ext uri="{FF2B5EF4-FFF2-40B4-BE49-F238E27FC236}">
                <a16:creationId xmlns:a16="http://schemas.microsoft.com/office/drawing/2014/main" id="{2BAC16DD-A912-A964-55F0-A54871F4B50C}"/>
              </a:ext>
            </a:extLst>
          </p:cNvPr>
          <p:cNvCxnSpPr>
            <a:cxnSpLocks/>
            <a:stCxn id="12" idx="2"/>
            <a:endCxn id="27" idx="0"/>
          </p:cNvCxnSpPr>
          <p:nvPr/>
        </p:nvCxnSpPr>
        <p:spPr>
          <a:xfrm rot="16200000" flipH="1">
            <a:off x="4436360" y="2315368"/>
            <a:ext cx="317155" cy="14412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9" name="Connector: Elbow 1078">
            <a:extLst>
              <a:ext uri="{FF2B5EF4-FFF2-40B4-BE49-F238E27FC236}">
                <a16:creationId xmlns:a16="http://schemas.microsoft.com/office/drawing/2014/main" id="{78D949DF-52B9-0FBB-3DE8-65D3CD1FA068}"/>
              </a:ext>
            </a:extLst>
          </p:cNvPr>
          <p:cNvCxnSpPr>
            <a:cxnSpLocks/>
            <a:stCxn id="14" idx="2"/>
            <a:endCxn id="27" idx="0"/>
          </p:cNvCxnSpPr>
          <p:nvPr/>
        </p:nvCxnSpPr>
        <p:spPr>
          <a:xfrm rot="5400000">
            <a:off x="5887982" y="2304956"/>
            <a:ext cx="317155" cy="146203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2" name="Straight Arrow Connector 1081">
            <a:extLst>
              <a:ext uri="{FF2B5EF4-FFF2-40B4-BE49-F238E27FC236}">
                <a16:creationId xmlns:a16="http://schemas.microsoft.com/office/drawing/2014/main" id="{EC67016F-959D-7AF4-4D46-6B22C0421118}"/>
              </a:ext>
            </a:extLst>
          </p:cNvPr>
          <p:cNvCxnSpPr>
            <a:cxnSpLocks/>
            <a:stCxn id="13" idx="2"/>
            <a:endCxn id="27" idx="0"/>
          </p:cNvCxnSpPr>
          <p:nvPr/>
        </p:nvCxnSpPr>
        <p:spPr>
          <a:xfrm flipH="1">
            <a:off x="5315542" y="2877396"/>
            <a:ext cx="1394" cy="3171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5" name="Straight Arrow Connector 1084">
            <a:extLst>
              <a:ext uri="{FF2B5EF4-FFF2-40B4-BE49-F238E27FC236}">
                <a16:creationId xmlns:a16="http://schemas.microsoft.com/office/drawing/2014/main" id="{9BCCDE3C-F108-017E-16AA-6F114D8944BD}"/>
              </a:ext>
            </a:extLst>
          </p:cNvPr>
          <p:cNvCxnSpPr>
            <a:cxnSpLocks/>
            <a:stCxn id="27" idx="2"/>
            <a:endCxn id="31" idx="0"/>
          </p:cNvCxnSpPr>
          <p:nvPr/>
        </p:nvCxnSpPr>
        <p:spPr>
          <a:xfrm flipH="1">
            <a:off x="5315541" y="3487760"/>
            <a:ext cx="1" cy="2073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8" name="Straight Arrow Connector 1087">
            <a:extLst>
              <a:ext uri="{FF2B5EF4-FFF2-40B4-BE49-F238E27FC236}">
                <a16:creationId xmlns:a16="http://schemas.microsoft.com/office/drawing/2014/main" id="{D3C4AF4B-A4A2-E089-2FE7-6AFE611BA9CD}"/>
              </a:ext>
            </a:extLst>
          </p:cNvPr>
          <p:cNvCxnSpPr>
            <a:cxnSpLocks/>
            <a:stCxn id="31" idx="2"/>
            <a:endCxn id="34" idx="0"/>
          </p:cNvCxnSpPr>
          <p:nvPr/>
        </p:nvCxnSpPr>
        <p:spPr>
          <a:xfrm>
            <a:off x="5315541" y="3988322"/>
            <a:ext cx="4341" cy="2073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1" name="Straight Arrow Connector 1090">
            <a:extLst>
              <a:ext uri="{FF2B5EF4-FFF2-40B4-BE49-F238E27FC236}">
                <a16:creationId xmlns:a16="http://schemas.microsoft.com/office/drawing/2014/main" id="{610AD593-4C17-8D5D-A1E3-9AA6D76F95F0}"/>
              </a:ext>
            </a:extLst>
          </p:cNvPr>
          <p:cNvCxnSpPr>
            <a:cxnSpLocks/>
            <a:stCxn id="34" idx="2"/>
            <a:endCxn id="37" idx="0"/>
          </p:cNvCxnSpPr>
          <p:nvPr/>
        </p:nvCxnSpPr>
        <p:spPr>
          <a:xfrm flipH="1">
            <a:off x="5319881" y="4488884"/>
            <a:ext cx="1" cy="207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95" name="TextBox 1094">
            <a:extLst>
              <a:ext uri="{FF2B5EF4-FFF2-40B4-BE49-F238E27FC236}">
                <a16:creationId xmlns:a16="http://schemas.microsoft.com/office/drawing/2014/main" id="{0FDF53DB-DE5C-105F-51BE-9F97670DBC39}"/>
              </a:ext>
            </a:extLst>
          </p:cNvPr>
          <p:cNvSpPr txBox="1"/>
          <p:nvPr/>
        </p:nvSpPr>
        <p:spPr>
          <a:xfrm>
            <a:off x="2827507" y="1424536"/>
            <a:ext cx="1966372" cy="276999"/>
          </a:xfrm>
          <a:prstGeom prst="rect">
            <a:avLst/>
          </a:prstGeom>
          <a:noFill/>
        </p:spPr>
        <p:txBody>
          <a:bodyPr wrap="none" rtlCol="0">
            <a:spAutoFit/>
          </a:bodyPr>
          <a:lstStyle/>
          <a:p>
            <a:r>
              <a:rPr lang="en-US" sz="1200" b="1" dirty="0">
                <a:solidFill>
                  <a:schemeClr val="accent3"/>
                </a:solidFill>
              </a:rPr>
              <a:t>Potential Scope for Solution</a:t>
            </a:r>
          </a:p>
        </p:txBody>
      </p:sp>
      <p:sp>
        <p:nvSpPr>
          <p:cNvPr id="1096" name="Rectangle 1095">
            <a:extLst>
              <a:ext uri="{FF2B5EF4-FFF2-40B4-BE49-F238E27FC236}">
                <a16:creationId xmlns:a16="http://schemas.microsoft.com/office/drawing/2014/main" id="{14E58C11-CD10-AA76-7E96-C9BCDD6C95DB}"/>
              </a:ext>
            </a:extLst>
          </p:cNvPr>
          <p:cNvSpPr/>
          <p:nvPr/>
        </p:nvSpPr>
        <p:spPr>
          <a:xfrm>
            <a:off x="277324" y="5365148"/>
            <a:ext cx="2799414" cy="835705"/>
          </a:xfrm>
          <a:prstGeom prst="rect">
            <a:avLst/>
          </a:prstGeom>
          <a:solidFill>
            <a:schemeClr val="bg1">
              <a:lumMod val="9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SNF, LTACH, REHAB, ER, MATERNITY, NICU, DIRECT ADMISSION, Scheduled surgery (IP/OP), Office visit</a:t>
            </a:r>
          </a:p>
        </p:txBody>
      </p:sp>
      <p:sp>
        <p:nvSpPr>
          <p:cNvPr id="1098" name="Rectangle 1097">
            <a:extLst>
              <a:ext uri="{FF2B5EF4-FFF2-40B4-BE49-F238E27FC236}">
                <a16:creationId xmlns:a16="http://schemas.microsoft.com/office/drawing/2014/main" id="{FBE86536-2F4C-7E58-B612-4A5B56F28867}"/>
              </a:ext>
            </a:extLst>
          </p:cNvPr>
          <p:cNvSpPr/>
          <p:nvPr/>
        </p:nvSpPr>
        <p:spPr>
          <a:xfrm>
            <a:off x="3242266" y="5358290"/>
            <a:ext cx="4155230" cy="850392"/>
          </a:xfrm>
          <a:prstGeom prst="rect">
            <a:avLst/>
          </a:prstGeom>
          <a:solidFill>
            <a:schemeClr val="bg1">
              <a:lumMod val="9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High to Low Complexity (PA): Complex Spine, PWC/LLP, Simple Spine (Laminectomy) Hip and Knee, Cardiology (LAAC, ILR, EP), Bariatric Surgery, Abdominoplasty/Panniculectomy,  Breast surgery, Eyelid Surgery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High to Low Complexity (Conc/Retro): Inpatient, Home Health, Rehabilitative Therapy,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DME rental services, Medication Treatment, &amp; Outpatient (Diagnostic and Surgery)</a:t>
            </a:r>
          </a:p>
        </p:txBody>
      </p:sp>
      <p:sp>
        <p:nvSpPr>
          <p:cNvPr id="1099" name="Rectangle 1098">
            <a:extLst>
              <a:ext uri="{FF2B5EF4-FFF2-40B4-BE49-F238E27FC236}">
                <a16:creationId xmlns:a16="http://schemas.microsoft.com/office/drawing/2014/main" id="{4CD27333-936D-2802-CDE0-6AC5693DE8BA}"/>
              </a:ext>
            </a:extLst>
          </p:cNvPr>
          <p:cNvSpPr/>
          <p:nvPr/>
        </p:nvSpPr>
        <p:spPr>
          <a:xfrm>
            <a:off x="7562927" y="5350461"/>
            <a:ext cx="1322875" cy="850392"/>
          </a:xfrm>
          <a:prstGeom prst="rect">
            <a:avLst/>
          </a:prstGeom>
          <a:solidFill>
            <a:schemeClr val="bg1">
              <a:lumMod val="9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Calibri" panose="020F0502020204030204"/>
                <a:ea typeface="+mn-ea"/>
                <a:cs typeface="+mn-cs"/>
              </a:rPr>
              <a:t>Urine Drug Testing, Genetics, Infectious Agent, Cardiovascular Disease Risk, Laboratory Testing, Facility ER Auditing, Radiology, Digestive, Integumentary, Anesthesia, Physical Medicine, Infusion</a:t>
            </a:r>
          </a:p>
        </p:txBody>
      </p:sp>
      <p:sp>
        <p:nvSpPr>
          <p:cNvPr id="1100" name="Rectangle 1099">
            <a:extLst>
              <a:ext uri="{FF2B5EF4-FFF2-40B4-BE49-F238E27FC236}">
                <a16:creationId xmlns:a16="http://schemas.microsoft.com/office/drawing/2014/main" id="{CF19304E-FF4B-1087-399C-398A0D737819}"/>
              </a:ext>
            </a:extLst>
          </p:cNvPr>
          <p:cNvSpPr/>
          <p:nvPr/>
        </p:nvSpPr>
        <p:spPr>
          <a:xfrm>
            <a:off x="9031084" y="5350461"/>
            <a:ext cx="1322875" cy="850392"/>
          </a:xfrm>
          <a:prstGeom prst="rect">
            <a:avLst/>
          </a:prstGeom>
          <a:solidFill>
            <a:schemeClr val="bg1">
              <a:lumMod val="9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ea typeface="+mn-ea"/>
                <a:cs typeface="+mn-cs"/>
              </a:rPr>
              <a:t>Assess the process performance, review key </a:t>
            </a:r>
            <a:r>
              <a:rPr kumimoji="0" lang="en-US" sz="800" b="0" i="0" u="none" strike="noStrike" kern="1200" cap="none" spc="0" normalizeH="0" baseline="0" noProof="0">
                <a:ln>
                  <a:noFill/>
                </a:ln>
                <a:solidFill>
                  <a:srgbClr val="000000"/>
                </a:solidFill>
                <a:effectLst/>
                <a:uLnTx/>
                <a:uFillTx/>
                <a:ea typeface="+mn-ea"/>
                <a:cs typeface="+mn-cs"/>
              </a:rPr>
              <a:t>inputs.</a:t>
            </a:r>
            <a:endParaRPr kumimoji="0" lang="en-US" sz="800" b="0" i="0" u="none" strike="noStrike" kern="1200" cap="none" spc="0" normalizeH="0" baseline="0" noProof="0" dirty="0">
              <a:ln>
                <a:noFill/>
              </a:ln>
              <a:solidFill>
                <a:srgbClr val="000000"/>
              </a:solidFill>
              <a:effectLst/>
              <a:uLnTx/>
              <a:uFillTx/>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ea typeface="+mn-ea"/>
                <a:cs typeface="+mn-cs"/>
              </a:rPr>
              <a:t>Identifying and driving process improvements through data analysis</a:t>
            </a:r>
          </a:p>
        </p:txBody>
      </p:sp>
      <p:sp>
        <p:nvSpPr>
          <p:cNvPr id="1101" name="Rectangle 1100">
            <a:extLst>
              <a:ext uri="{FF2B5EF4-FFF2-40B4-BE49-F238E27FC236}">
                <a16:creationId xmlns:a16="http://schemas.microsoft.com/office/drawing/2014/main" id="{DD07B623-D557-55DC-FA29-3EA3B0B30374}"/>
              </a:ext>
            </a:extLst>
          </p:cNvPr>
          <p:cNvSpPr/>
          <p:nvPr/>
        </p:nvSpPr>
        <p:spPr>
          <a:xfrm>
            <a:off x="10471808" y="5350461"/>
            <a:ext cx="1322875" cy="850392"/>
          </a:xfrm>
          <a:prstGeom prst="rect">
            <a:avLst/>
          </a:prstGeom>
          <a:solidFill>
            <a:schemeClr val="bg1">
              <a:lumMod val="9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ea typeface="Aptos" panose="020B0004020202020204" pitchFamily="34" charset="0"/>
                <a:cs typeface="Aptos" panose="020B0004020202020204" pitchFamily="34" charset="0"/>
              </a:rPr>
              <a:t>Experimental &amp; Investigational</a:t>
            </a:r>
            <a:endParaRPr kumimoji="0" lang="en-US" sz="800" b="0" i="0" u="none" strike="noStrike" kern="1200" cap="none" spc="0" normalizeH="0" baseline="0" noProof="0" dirty="0">
              <a:ln>
                <a:noFill/>
              </a:ln>
              <a:solidFill>
                <a:srgbClr val="FB4D0A"/>
              </a:solidFill>
              <a:effectLst/>
              <a:uLnTx/>
              <a:uFillTx/>
              <a:ea typeface="Aptos" panose="020B0004020202020204" pitchFamily="34" charset="0"/>
              <a:cs typeface="Aptos" panose="020B0004020202020204"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ea typeface="Aptos" panose="020B0004020202020204" pitchFamily="34" charset="0"/>
                <a:cs typeface="Aptos" panose="020B0004020202020204" pitchFamily="34" charset="0"/>
              </a:rPr>
              <a:t>Medical Necessity</a:t>
            </a:r>
            <a:endParaRPr kumimoji="0" lang="en-US" sz="800" b="0" i="0" u="none" strike="noStrike" kern="1200" cap="none" spc="0" normalizeH="0" baseline="0" noProof="0" dirty="0">
              <a:ln>
                <a:noFill/>
              </a:ln>
              <a:solidFill>
                <a:srgbClr val="FB4D0A"/>
              </a:solidFill>
              <a:effectLst/>
              <a:uLnTx/>
              <a:uFillTx/>
              <a:ea typeface="Aptos" panose="020B0004020202020204" pitchFamily="34" charset="0"/>
              <a:cs typeface="Aptos" panose="020B0004020202020204"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ea typeface="Aptos" panose="020B0004020202020204" pitchFamily="34" charset="0"/>
                <a:cs typeface="Aptos" panose="020B0004020202020204" pitchFamily="34" charset="0"/>
              </a:rPr>
              <a:t>Cosmetic</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ea typeface="Aptos" panose="020B0004020202020204" pitchFamily="34" charset="0"/>
                <a:cs typeface="Aptos" panose="020B0004020202020204" pitchFamily="34" charset="0"/>
              </a:rPr>
              <a:t>Assistant surgeon</a:t>
            </a:r>
            <a:endParaRPr kumimoji="0" lang="en-US" sz="800" b="0" i="0" u="none" strike="noStrike" kern="1200" cap="none" spc="0" normalizeH="0" baseline="0" noProof="0" dirty="0">
              <a:ln>
                <a:noFill/>
              </a:ln>
              <a:solidFill>
                <a:srgbClr val="FB4D0A"/>
              </a:solidFill>
              <a:effectLst/>
              <a:uLnTx/>
              <a:uFillTx/>
              <a:ea typeface="Aptos" panose="020B0004020202020204" pitchFamily="34" charset="0"/>
              <a:cs typeface="Aptos" panose="020B0004020202020204"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ea typeface="Aptos" panose="020B0004020202020204" pitchFamily="34" charset="0"/>
                <a:cs typeface="Aptos" panose="020B0004020202020204" pitchFamily="34" charset="0"/>
              </a:rPr>
              <a:t>Administration Denial</a:t>
            </a:r>
            <a:endParaRPr kumimoji="0" lang="en-US" sz="800" b="0" i="0" u="none" strike="noStrike" kern="1200" cap="none" spc="0" normalizeH="0" baseline="0" noProof="0" dirty="0">
              <a:ln>
                <a:noFill/>
              </a:ln>
              <a:solidFill>
                <a:srgbClr val="FB4D0A"/>
              </a:solidFill>
              <a:effectLst/>
              <a:uLnTx/>
              <a:uFillTx/>
              <a:ea typeface="Aptos" panose="020B0004020202020204" pitchFamily="34" charset="0"/>
              <a:cs typeface="Aptos" panose="020B0004020202020204"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ea typeface="Aptos" panose="020B0004020202020204" pitchFamily="34" charset="0"/>
                <a:cs typeface="Aptos" panose="020B0004020202020204" pitchFamily="34" charset="0"/>
              </a:rPr>
              <a:t>Non- Efficacious</a:t>
            </a:r>
            <a:endParaRPr kumimoji="0" lang="en-US" sz="800" b="0" i="0" u="none" strike="noStrike" kern="1200" cap="none" spc="0" normalizeH="0" baseline="0" noProof="0" dirty="0">
              <a:ln>
                <a:noFill/>
              </a:ln>
              <a:solidFill>
                <a:srgbClr val="FB4D0A"/>
              </a:solidFill>
              <a:effectLst/>
              <a:uLnTx/>
              <a:uFillTx/>
              <a:ea typeface="Aptos" panose="020B0004020202020204" pitchFamily="34" charset="0"/>
              <a:cs typeface="Aptos" panose="020B0004020202020204" pitchFamily="34" charset="0"/>
            </a:endParaRPr>
          </a:p>
        </p:txBody>
      </p:sp>
      <p:sp>
        <p:nvSpPr>
          <p:cNvPr id="1111" name="Rectangle 1110">
            <a:extLst>
              <a:ext uri="{FF2B5EF4-FFF2-40B4-BE49-F238E27FC236}">
                <a16:creationId xmlns:a16="http://schemas.microsoft.com/office/drawing/2014/main" id="{2B74A973-108F-FD84-50A3-861CD8996401}"/>
              </a:ext>
            </a:extLst>
          </p:cNvPr>
          <p:cNvSpPr/>
          <p:nvPr/>
        </p:nvSpPr>
        <p:spPr>
          <a:xfrm>
            <a:off x="9332934" y="155990"/>
            <a:ext cx="1322875" cy="260510"/>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900" dirty="0">
                <a:solidFill>
                  <a:schemeClr val="tx2"/>
                </a:solidFill>
              </a:rPr>
              <a:t>Process Steps</a:t>
            </a:r>
          </a:p>
        </p:txBody>
      </p:sp>
      <p:sp>
        <p:nvSpPr>
          <p:cNvPr id="1112" name="Rectangle 1111">
            <a:extLst>
              <a:ext uri="{FF2B5EF4-FFF2-40B4-BE49-F238E27FC236}">
                <a16:creationId xmlns:a16="http://schemas.microsoft.com/office/drawing/2014/main" id="{EFAD3DAC-E614-FBD7-F4ED-C07FFA106B30}"/>
              </a:ext>
            </a:extLst>
          </p:cNvPr>
          <p:cNvSpPr/>
          <p:nvPr/>
        </p:nvSpPr>
        <p:spPr>
          <a:xfrm>
            <a:off x="10759397" y="155990"/>
            <a:ext cx="1322875" cy="260510"/>
          </a:xfrm>
          <a:prstGeom prst="rect">
            <a:avLst/>
          </a:prstGeom>
          <a:solidFill>
            <a:schemeClr val="bg1">
              <a:lumMod val="9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defTabSz="457200"/>
            <a:r>
              <a:rPr lang="en-US" sz="900" dirty="0">
                <a:solidFill>
                  <a:srgbClr val="000000"/>
                </a:solidFill>
                <a:latin typeface="Calibri" panose="020F0502020204030204"/>
              </a:rPr>
              <a:t>Services</a:t>
            </a:r>
          </a:p>
        </p:txBody>
      </p:sp>
      <p:sp>
        <p:nvSpPr>
          <p:cNvPr id="1113" name="TextBox 1112">
            <a:extLst>
              <a:ext uri="{FF2B5EF4-FFF2-40B4-BE49-F238E27FC236}">
                <a16:creationId xmlns:a16="http://schemas.microsoft.com/office/drawing/2014/main" id="{C481F896-F27F-AA68-1206-9FC71E3F82B7}"/>
              </a:ext>
            </a:extLst>
          </p:cNvPr>
          <p:cNvSpPr txBox="1"/>
          <p:nvPr/>
        </p:nvSpPr>
        <p:spPr>
          <a:xfrm>
            <a:off x="173736" y="796122"/>
            <a:ext cx="760849" cy="369332"/>
          </a:xfrm>
          <a:prstGeom prst="rect">
            <a:avLst/>
          </a:prstGeom>
          <a:noFill/>
        </p:spPr>
        <p:txBody>
          <a:bodyPr wrap="none" rtlCol="0">
            <a:spAutoFit/>
          </a:bodyPr>
          <a:lstStyle/>
          <a:p>
            <a:r>
              <a:rPr lang="en-US" dirty="0"/>
              <a:t>Note: </a:t>
            </a:r>
          </a:p>
        </p:txBody>
      </p:sp>
    </p:spTree>
    <p:extLst>
      <p:ext uri="{BB962C8B-B14F-4D97-AF65-F5344CB8AC3E}">
        <p14:creationId xmlns:p14="http://schemas.microsoft.com/office/powerpoint/2010/main" val="2549765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D77C8-80B1-325B-58FB-854F9A958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8955AD-C58D-AA34-01F6-BE4360389BDB}"/>
              </a:ext>
            </a:extLst>
          </p:cNvPr>
          <p:cNvSpPr>
            <a:spLocks noGrp="1"/>
          </p:cNvSpPr>
          <p:nvPr>
            <p:ph type="ctrTitle"/>
          </p:nvPr>
        </p:nvSpPr>
        <p:spPr/>
        <p:txBody>
          <a:bodyPr/>
          <a:lstStyle/>
          <a:p>
            <a:r>
              <a:rPr lang="en-US" dirty="0"/>
              <a:t>Future State</a:t>
            </a:r>
          </a:p>
        </p:txBody>
      </p:sp>
      <p:sp>
        <p:nvSpPr>
          <p:cNvPr id="4" name="Text Placeholder 2">
            <a:extLst>
              <a:ext uri="{FF2B5EF4-FFF2-40B4-BE49-F238E27FC236}">
                <a16:creationId xmlns:a16="http://schemas.microsoft.com/office/drawing/2014/main" id="{88EDEAE7-0725-5A6F-54BA-FE5917F16EB4}"/>
              </a:ext>
            </a:extLst>
          </p:cNvPr>
          <p:cNvSpPr txBox="1">
            <a:spLocks/>
          </p:cNvSpPr>
          <p:nvPr/>
        </p:nvSpPr>
        <p:spPr>
          <a:xfrm>
            <a:off x="8778240" y="207207"/>
            <a:ext cx="3675888" cy="672567"/>
          </a:xfrm>
          <a:prstGeom prst="rect">
            <a:avLst/>
          </a:prstGeom>
        </p:spPr>
        <p:txBody>
          <a:bodyPr vert="horz" lIns="0" tIns="0" rIns="0" bIns="0" rtlCol="0">
            <a:noAutofit/>
          </a:bodyPr>
          <a:lstStyle>
            <a:lvl1pPr marL="0" indent="0" algn="l" defTabSz="914400" rtl="0" eaLnBrk="1" latinLnBrk="0" hangingPunct="1">
              <a:lnSpc>
                <a:spcPct val="100000"/>
              </a:lnSpc>
              <a:spcBef>
                <a:spcPts val="600"/>
              </a:spcBef>
              <a:spcAft>
                <a:spcPts val="600"/>
              </a:spcAft>
              <a:buClr>
                <a:schemeClr val="tx2"/>
              </a:buClr>
              <a:buFontTx/>
              <a:buNone/>
              <a:tabLst/>
              <a:defRPr sz="2000" kern="1200">
                <a:solidFill>
                  <a:schemeClr val="tx1"/>
                </a:solidFill>
                <a:latin typeface="+mn-lt"/>
                <a:ea typeface="+mn-ea"/>
                <a:cs typeface="+mn-cs"/>
              </a:defRPr>
            </a:lvl1pPr>
            <a:lvl2pPr marL="227013" indent="-227013" algn="l" defTabSz="914400" rtl="0" eaLnBrk="1" latinLnBrk="0" hangingPunct="1">
              <a:lnSpc>
                <a:spcPct val="100000"/>
              </a:lnSpc>
              <a:spcBef>
                <a:spcPts val="0"/>
              </a:spcBef>
              <a:spcAft>
                <a:spcPts val="600"/>
              </a:spcAft>
              <a:buClr>
                <a:schemeClr val="tx2"/>
              </a:buClr>
              <a:buFont typeface="Arial" panose="020B0604020202020204" pitchFamily="34" charset="0"/>
              <a:buChar char="•"/>
              <a:tabLst/>
              <a:defRPr sz="2000" kern="1200">
                <a:solidFill>
                  <a:schemeClr val="tx1"/>
                </a:solidFill>
                <a:latin typeface="+mj-lt"/>
                <a:ea typeface="+mn-ea"/>
                <a:cs typeface="+mn-cs"/>
              </a:defRPr>
            </a:lvl2pPr>
            <a:lvl3pPr marL="461963" indent="-234950" algn="l" defTabSz="914400" rtl="0" eaLnBrk="1" latinLnBrk="0" hangingPunct="1">
              <a:lnSpc>
                <a:spcPct val="100000"/>
              </a:lnSpc>
              <a:spcBef>
                <a:spcPts val="0"/>
              </a:spcBef>
              <a:spcAft>
                <a:spcPts val="600"/>
              </a:spcAft>
              <a:buFont typeface="System Font Regular"/>
              <a:buChar char="–"/>
              <a:tabLst/>
              <a:defRPr sz="1600" kern="1200">
                <a:solidFill>
                  <a:schemeClr val="tx1"/>
                </a:solidFill>
                <a:latin typeface="+mj-lt"/>
                <a:ea typeface="+mn-ea"/>
                <a:cs typeface="+mn-cs"/>
              </a:defRPr>
            </a:lvl3pPr>
            <a:lvl4pPr marL="687388" indent="-225425" algn="l" defTabSz="914400" rtl="0" eaLnBrk="1" latinLnBrk="0" hangingPunct="1">
              <a:lnSpc>
                <a:spcPct val="100000"/>
              </a:lnSpc>
              <a:spcBef>
                <a:spcPts val="0"/>
              </a:spcBef>
              <a:spcAft>
                <a:spcPts val="600"/>
              </a:spcAft>
              <a:buFont typeface="System Font Regular"/>
              <a:buChar char="–"/>
              <a:tabLst/>
              <a:defRPr sz="1400" kern="1200">
                <a:solidFill>
                  <a:schemeClr val="tx1"/>
                </a:solidFill>
                <a:latin typeface="+mj-lt"/>
                <a:ea typeface="+mn-ea"/>
                <a:cs typeface="+mn-cs"/>
              </a:defRPr>
            </a:lvl4pPr>
            <a:lvl5pPr marL="857250" indent="-169863" algn="l" defTabSz="914400" rtl="0" eaLnBrk="1" latinLnBrk="0" hangingPunct="1">
              <a:lnSpc>
                <a:spcPct val="100000"/>
              </a:lnSpc>
              <a:spcBef>
                <a:spcPts val="0"/>
              </a:spcBef>
              <a:spcAft>
                <a:spcPts val="600"/>
              </a:spcAft>
              <a:buFont typeface="System Font Regular"/>
              <a:buChar char="–"/>
              <a:tabLst/>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0"/>
              </a:spcAft>
            </a:pPr>
            <a:r>
              <a:rPr lang="en-US" sz="1100" dirty="0"/>
              <a:t>How will this solution transform the current process?</a:t>
            </a:r>
          </a:p>
          <a:p>
            <a:pPr>
              <a:spcBef>
                <a:spcPts val="0"/>
              </a:spcBef>
              <a:spcAft>
                <a:spcPts val="0"/>
              </a:spcAft>
            </a:pPr>
            <a:r>
              <a:rPr lang="en-US" sz="1100" dirty="0"/>
              <a:t>Process map with solutions</a:t>
            </a:r>
          </a:p>
          <a:p>
            <a:pPr>
              <a:spcBef>
                <a:spcPts val="0"/>
              </a:spcBef>
              <a:spcAft>
                <a:spcPts val="0"/>
              </a:spcAft>
            </a:pPr>
            <a:r>
              <a:rPr lang="en-US" sz="1100" dirty="0"/>
              <a:t>Define timelines and impact</a:t>
            </a:r>
          </a:p>
        </p:txBody>
      </p:sp>
    </p:spTree>
    <p:extLst>
      <p:ext uri="{BB962C8B-B14F-4D97-AF65-F5344CB8AC3E}">
        <p14:creationId xmlns:p14="http://schemas.microsoft.com/office/powerpoint/2010/main" val="2826990047"/>
      </p:ext>
    </p:extLst>
  </p:cSld>
  <p:clrMapOvr>
    <a:masterClrMapping/>
  </p:clrMapOvr>
</p:sld>
</file>

<file path=ppt/theme/theme1.xml><?xml version="1.0" encoding="utf-8"?>
<a:theme xmlns:a="http://schemas.openxmlformats.org/drawingml/2006/main" name="1_Office Theme">
  <a:themeElements>
    <a:clrScheme name="EXL 2023">
      <a:dk1>
        <a:srgbClr val="000000"/>
      </a:dk1>
      <a:lt1>
        <a:srgbClr val="FFFFFF"/>
      </a:lt1>
      <a:dk2>
        <a:srgbClr val="FB4D0A"/>
      </a:dk2>
      <a:lt2>
        <a:srgbClr val="FFFFFF"/>
      </a:lt2>
      <a:accent1>
        <a:srgbClr val="2E3643"/>
      </a:accent1>
      <a:accent2>
        <a:srgbClr val="6D727B"/>
      </a:accent2>
      <a:accent3>
        <a:srgbClr val="005071"/>
      </a:accent3>
      <a:accent4>
        <a:srgbClr val="4D849B"/>
      </a:accent4>
      <a:accent5>
        <a:srgbClr val="DCF3FA"/>
      </a:accent5>
      <a:accent6>
        <a:srgbClr val="E6F6F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EXL Powerpoint Template.potx" id="{3F3C7966-3A00-4FCA-B4F7-FACD7A4F55EF}" vid="{2917E27A-5003-4213-9780-7D1CD5FF249C}"/>
    </a:ext>
  </a:extLst>
</a:theme>
</file>

<file path=ppt/theme/theme2.xml><?xml version="1.0" encoding="utf-8"?>
<a:theme xmlns:a="http://schemas.openxmlformats.org/drawingml/2006/main" name="Office Theme">
  <a:themeElements>
    <a:clrScheme name="EXL 3">
      <a:dk1>
        <a:srgbClr val="FB4D0A"/>
      </a:dk1>
      <a:lt1>
        <a:srgbClr val="FFFFFF"/>
      </a:lt1>
      <a:dk2>
        <a:srgbClr val="000000"/>
      </a:dk2>
      <a:lt2>
        <a:srgbClr val="FFFFFF"/>
      </a:lt2>
      <a:accent1>
        <a:srgbClr val="FB4E0B"/>
      </a:accent1>
      <a:accent2>
        <a:srgbClr val="414141"/>
      </a:accent2>
      <a:accent3>
        <a:srgbClr val="808080"/>
      </a:accent3>
      <a:accent4>
        <a:srgbClr val="ABABAB"/>
      </a:accent4>
      <a:accent5>
        <a:srgbClr val="DBDBDB"/>
      </a:accent5>
      <a:accent6>
        <a:srgbClr val="E6E6E6"/>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L Powerpoint Template.potx [Read-Only]" id="{CC11C5C7-A387-48FB-B438-9E07A76231B2}" vid="{F42C8863-FF01-4546-8D2E-5FCDC09D6BD7}"/>
    </a:ext>
  </a:extLst>
</a:theme>
</file>

<file path=ppt/theme/theme3.xml><?xml version="1.0" encoding="utf-8"?>
<a:theme xmlns:a="http://schemas.openxmlformats.org/drawingml/2006/main" name="2_Office Theme">
  <a:themeElements>
    <a:clrScheme name="EXL 2023">
      <a:dk1>
        <a:srgbClr val="000000"/>
      </a:dk1>
      <a:lt1>
        <a:srgbClr val="FFFFFF"/>
      </a:lt1>
      <a:dk2>
        <a:srgbClr val="FB4D0A"/>
      </a:dk2>
      <a:lt2>
        <a:srgbClr val="FFFFFF"/>
      </a:lt2>
      <a:accent1>
        <a:srgbClr val="2E3643"/>
      </a:accent1>
      <a:accent2>
        <a:srgbClr val="6D727B"/>
      </a:accent2>
      <a:accent3>
        <a:srgbClr val="005071"/>
      </a:accent3>
      <a:accent4>
        <a:srgbClr val="4D849B"/>
      </a:accent4>
      <a:accent5>
        <a:srgbClr val="DCF3FA"/>
      </a:accent5>
      <a:accent6>
        <a:srgbClr val="E6F6F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3" id="{75DB2D68-EB8A-4D47-9097-25EC9E13C876}" vid="{0310C97A-7711-40A4-A3F2-58B78CFBECD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762d32cb-616f-4885-9244-2640d44bf58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3CA336A90D92944981DAC10FF502D5B" ma:contentTypeVersion="9" ma:contentTypeDescription="Create a new document." ma:contentTypeScope="" ma:versionID="99db97dcc4ce4747359f4f86faf5c211">
  <xsd:schema xmlns:xsd="http://www.w3.org/2001/XMLSchema" xmlns:xs="http://www.w3.org/2001/XMLSchema" xmlns:p="http://schemas.microsoft.com/office/2006/metadata/properties" xmlns:ns3="762d32cb-616f-4885-9244-2640d44bf585" targetNamespace="http://schemas.microsoft.com/office/2006/metadata/properties" ma:root="true" ma:fieldsID="bd690170f253b2049c84b49b9fd8af0d" ns3:_="">
    <xsd:import namespace="762d32cb-616f-4885-9244-2640d44bf585"/>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2d32cb-616f-4885-9244-2640d44bf585"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989EFB-69A9-459C-8160-4D9CE7EEAA4A}">
  <ds:schemaRefs>
    <ds:schemaRef ds:uri="http://schemas.microsoft.com/sharepoint/v3/contenttype/forms"/>
  </ds:schemaRefs>
</ds:datastoreItem>
</file>

<file path=customXml/itemProps2.xml><?xml version="1.0" encoding="utf-8"?>
<ds:datastoreItem xmlns:ds="http://schemas.openxmlformats.org/officeDocument/2006/customXml" ds:itemID="{5889D586-6FD5-45F5-97FC-BFB416C2342F}">
  <ds:schemaRefs>
    <ds:schemaRef ds:uri="http://purl.org/dc/terms/"/>
    <ds:schemaRef ds:uri="http://purl.org/dc/elements/1.1/"/>
    <ds:schemaRef ds:uri="http://schemas.openxmlformats.org/package/2006/metadata/core-properties"/>
    <ds:schemaRef ds:uri="http://schemas.microsoft.com/office/2006/metadata/properties"/>
    <ds:schemaRef ds:uri="http://purl.org/dc/dcmitype/"/>
    <ds:schemaRef ds:uri="http://schemas.microsoft.com/office/2006/documentManagement/types"/>
    <ds:schemaRef ds:uri="http://schemas.microsoft.com/office/infopath/2007/PartnerControls"/>
    <ds:schemaRef ds:uri="http://www.w3.org/XML/1998/namespace"/>
    <ds:schemaRef ds:uri="762d32cb-616f-4885-9244-2640d44bf585"/>
  </ds:schemaRefs>
</ds:datastoreItem>
</file>

<file path=customXml/itemProps3.xml><?xml version="1.0" encoding="utf-8"?>
<ds:datastoreItem xmlns:ds="http://schemas.openxmlformats.org/officeDocument/2006/customXml" ds:itemID="{C80EB95D-037B-4111-84ED-EE5BF9209E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2d32cb-616f-4885-9244-2640d44bf5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415</TotalTime>
  <Words>1118</Words>
  <Application>Microsoft Office PowerPoint</Application>
  <PresentationFormat>Widescreen</PresentationFormat>
  <Paragraphs>184</Paragraphs>
  <Slides>6</Slides>
  <Notes>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6</vt:i4>
      </vt:variant>
    </vt:vector>
  </HeadingPairs>
  <TitlesOfParts>
    <vt:vector size="14" baseType="lpstr">
      <vt:lpstr>Aptos</vt:lpstr>
      <vt:lpstr>Arial</vt:lpstr>
      <vt:lpstr>Calibri</vt:lpstr>
      <vt:lpstr>Calibri Light</vt:lpstr>
      <vt:lpstr>System Font Regular</vt:lpstr>
      <vt:lpstr>1_Office Theme</vt:lpstr>
      <vt:lpstr>Office Theme</vt:lpstr>
      <vt:lpstr>2_Office Theme</vt:lpstr>
      <vt:lpstr>Utilization Management Solution Proposal</vt:lpstr>
      <vt:lpstr>Project – Utilization and Case Management AI Automation </vt:lpstr>
      <vt:lpstr>EXL Health</vt:lpstr>
      <vt:lpstr>PowerPoint Presentation</vt:lpstr>
      <vt:lpstr>Current Process</vt:lpstr>
      <vt:lpstr>Future State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Marga Natividad</dc:creator>
  <cp:lastModifiedBy>Vipin Choudhary</cp:lastModifiedBy>
  <cp:revision>5</cp:revision>
  <dcterms:created xsi:type="dcterms:W3CDTF">2025-03-25T14:19:09Z</dcterms:created>
  <dcterms:modified xsi:type="dcterms:W3CDTF">2025-03-26T00:18:10Z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0x010100E3CA336A90D92944981DAC10FF502D5B</vt:lpwstr>
  </property>
</Properties>
</file>