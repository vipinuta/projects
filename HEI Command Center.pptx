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426" r:id="rId2"/>
    <p:sldId id="427" r:id="rId3"/>
    <p:sldId id="428" r:id="rId4"/>
    <p:sldId id="424" r:id="rId5"/>
    <p:sldId id="42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8A12D0-1024-42C2-B07E-8B69DE690521}" v="14" dt="2025-10-24T17:13:05.296"/>
    <p1510:client id="{CC89F243-7100-A7FF-8A9A-BB40C19CF48E}" v="3823" dt="2025-10-24T20:59:53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xlservicenam-my.sharepoint.com/personal/dheeraj242313_exlservice_com/Documents/HEI%20Command%20Center_BarStack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SRF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CRC Screening</c:v>
                </c:pt>
                <c:pt idx="1">
                  <c:v>Diabetes Care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9F-4651-80ED-C7E6E959FD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Non-SRF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CRC Screening</c:v>
                </c:pt>
                <c:pt idx="1">
                  <c:v>Diabetes Care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9F-4651-80ED-C7E6E959F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9786095"/>
        <c:axId val="9788495"/>
      </c:barChart>
      <c:catAx>
        <c:axId val="97860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88495"/>
        <c:crosses val="autoZero"/>
        <c:auto val="1"/>
        <c:lblAlgn val="ctr"/>
        <c:lblOffset val="100"/>
        <c:noMultiLvlLbl val="0"/>
      </c:catAx>
      <c:valAx>
        <c:axId val="9788495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86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1C62D-C751-42B9-AEAF-03BE6FF2680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DC662-669B-4DF4-9DF5-A3480057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1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6736E-724A-2F89-E395-EDA0010E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85F05-3F47-6951-655F-729E788F8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CA5A6-C56E-ADB8-A908-41C557020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Assessment Center is the “brain” of adaptivity and efficiency. It enables confidence-based early stopping—no over-questioning. It leverages real-time EMR data, prior answers, and payer rules. It’s the main differentiator from legacy systems and static forms.</a:t>
            </a:r>
          </a:p>
          <a:p>
            <a:endParaRPr lang="en-US" b="0"/>
          </a:p>
          <a:p>
            <a:r>
              <a:rPr lang="en-US" b="0"/>
              <a:t>“Low‑Back‑Pain MRI, adaptive flow”</a:t>
            </a:r>
          </a:p>
          <a:p>
            <a:r>
              <a:rPr lang="en-US" b="0"/>
              <a:t>Order placed in EMR; CRD indicates PA is needed and launches DTR.</a:t>
            </a:r>
          </a:p>
          <a:p>
            <a:r>
              <a:rPr lang="en-US" b="0"/>
              <a:t>DTR app auto‑resolves Centene from Coverage; fetches the LBP Questionnaire package.</a:t>
            </a:r>
          </a:p>
          <a:p>
            <a:r>
              <a:rPr lang="en-US" b="0"/>
              <a:t>The app runs CQL to pre‑fill prior conservative therapies, recent pain scores, and diagnosis from the chart.</a:t>
            </a:r>
          </a:p>
          <a:p>
            <a:r>
              <a:rPr lang="en-US" b="0"/>
              <a:t>Assessment Center sees sufficient evidence for certain criteria and serves a short segment: </a:t>
            </a:r>
          </a:p>
          <a:p>
            <a:pPr lvl="1"/>
            <a:r>
              <a:rPr lang="en-US" b="0"/>
              <a:t>Q1: confirm duration of symptoms (pre‑filled default; clinician verifies)</a:t>
            </a:r>
          </a:p>
          <a:p>
            <a:pPr lvl="1"/>
            <a:r>
              <a:rPr lang="en-US" b="0"/>
              <a:t>Q2: confirm failed PT within last 6 weeks (CQL found PT notes; clinician attests)</a:t>
            </a:r>
          </a:p>
          <a:p>
            <a:pPr lvl="1"/>
            <a:r>
              <a:rPr lang="en-US" b="0"/>
              <a:t>Q3: red‑flag screen (neurologic deficit)—clinician marks “No”</a:t>
            </a:r>
          </a:p>
          <a:p>
            <a:pPr lvl="1"/>
            <a:r>
              <a:rPr lang="en-US" b="0"/>
              <a:t>Confidence threshold reached → stop (no remaining 27 questions)</a:t>
            </a:r>
            <a:br>
              <a:rPr lang="en-US" b="0"/>
            </a:br>
            <a:r>
              <a:rPr lang="en-US" b="0" i="1"/>
              <a:t>(“30 → 4” is User‑provided exemplar; behavior matches confidence‑based stop.)</a:t>
            </a:r>
            <a:endParaRPr lang="en-US" b="0"/>
          </a:p>
          <a:p>
            <a:r>
              <a:rPr lang="en-US" b="0"/>
              <a:t>The completed QuestionnaireResponse is saved in EMR; the back‑office uses it in PAS $submit; payer confirms and returns Response.</a:t>
            </a:r>
          </a:p>
          <a:p>
            <a:endParaRPr lang="en-US" b="0"/>
          </a:p>
          <a:p>
            <a:pPr defTabSz="457200">
              <a:spcAft>
                <a:spcPts val="600"/>
              </a:spcAft>
              <a:defRPr/>
            </a:pPr>
            <a:endParaRPr lang="en-US" sz="1400" b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28611-120D-C079-B5C9-DEFA3FCE2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C455-AA38-4331-AA14-C04DCF2F33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30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D9938-2BF0-C316-8123-E10C0EBB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A69E4-4D5E-94B1-D41A-2F559669C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E36F9-EA9C-A97C-96BC-E8D37E914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Assessment Center is the “brain” of adaptivity and efficiency. It enables confidence-based early stopping—no over-questioning. It leverages real-time EMR data, prior answers, and payer rules. It’s the main differentiator from legacy systems and static forms.</a:t>
            </a:r>
          </a:p>
          <a:p>
            <a:endParaRPr lang="en-US" b="0"/>
          </a:p>
          <a:p>
            <a:r>
              <a:rPr lang="en-US" b="0"/>
              <a:t>“Low‑Back‑Pain MRI, adaptive flow”</a:t>
            </a:r>
          </a:p>
          <a:p>
            <a:r>
              <a:rPr lang="en-US" b="0"/>
              <a:t>Order placed in EMR; CRD indicates PA is needed and launches DTR.</a:t>
            </a:r>
          </a:p>
          <a:p>
            <a:r>
              <a:rPr lang="en-US" b="0"/>
              <a:t>DTR app auto‑resolves Centene from Coverage; fetches the LBP Questionnaire package.</a:t>
            </a:r>
          </a:p>
          <a:p>
            <a:r>
              <a:rPr lang="en-US" b="0"/>
              <a:t>The app runs CQL to pre‑fill prior conservative therapies, recent pain scores, and diagnosis from the chart.</a:t>
            </a:r>
          </a:p>
          <a:p>
            <a:r>
              <a:rPr lang="en-US" b="0"/>
              <a:t>Assessment Center sees sufficient evidence for certain criteria and serves a short segment: </a:t>
            </a:r>
          </a:p>
          <a:p>
            <a:pPr lvl="1"/>
            <a:r>
              <a:rPr lang="en-US" b="0"/>
              <a:t>Q1: confirm duration of symptoms (pre‑filled default; clinician verifies)</a:t>
            </a:r>
          </a:p>
          <a:p>
            <a:pPr lvl="1"/>
            <a:r>
              <a:rPr lang="en-US" b="0"/>
              <a:t>Q2: confirm failed PT within last 6 weeks (CQL found PT notes; clinician attests)</a:t>
            </a:r>
          </a:p>
          <a:p>
            <a:pPr lvl="1"/>
            <a:r>
              <a:rPr lang="en-US" b="0"/>
              <a:t>Q3: red‑flag screen (neurologic deficit)—clinician marks “No”</a:t>
            </a:r>
          </a:p>
          <a:p>
            <a:pPr lvl="1"/>
            <a:r>
              <a:rPr lang="en-US" b="0"/>
              <a:t>Confidence threshold reached → stop (no remaining 27 questions)</a:t>
            </a:r>
            <a:br>
              <a:rPr lang="en-US" b="0"/>
            </a:br>
            <a:r>
              <a:rPr lang="en-US" b="0" i="1"/>
              <a:t>(“30 → 4” is User‑provided exemplar; behavior matches confidence‑based stop.)</a:t>
            </a:r>
            <a:endParaRPr lang="en-US" b="0"/>
          </a:p>
          <a:p>
            <a:r>
              <a:rPr lang="en-US" b="0"/>
              <a:t>The completed QuestionnaireResponse is saved in EMR; the back‑office uses it in PAS $submit; payer confirms and returns Response.</a:t>
            </a:r>
          </a:p>
          <a:p>
            <a:endParaRPr lang="en-US" b="0"/>
          </a:p>
          <a:p>
            <a:pPr defTabSz="457200">
              <a:spcAft>
                <a:spcPts val="600"/>
              </a:spcAft>
              <a:defRPr/>
            </a:pPr>
            <a:endParaRPr lang="en-US" sz="1400" b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2D02A-F618-CF6F-6E28-BFABE9807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C455-AA38-4331-AA14-C04DCF2F33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5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8B78F-40E8-8E92-EE4F-2625D2AF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A4A9A-A555-4074-7702-73DE0ADB4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66F66-1A33-1B76-5436-9612493C7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Assessment Center is the “brain” of adaptivity and efficiency. It enables confidence-based early stopping—no over-questioning. It leverages real-time EMR data, prior answers, and payer rules. It’s the main differentiator from legacy systems and static forms.</a:t>
            </a:r>
          </a:p>
          <a:p>
            <a:endParaRPr lang="en-US" b="0"/>
          </a:p>
          <a:p>
            <a:r>
              <a:rPr lang="en-US" b="0"/>
              <a:t>“Low‑Back‑Pain MRI, adaptive flow”</a:t>
            </a:r>
          </a:p>
          <a:p>
            <a:r>
              <a:rPr lang="en-US" b="0"/>
              <a:t>Order placed in EMR; CRD indicates PA is needed and launches DTR.</a:t>
            </a:r>
          </a:p>
          <a:p>
            <a:r>
              <a:rPr lang="en-US" b="0"/>
              <a:t>DTR app auto‑resolves Centene from Coverage; fetches the LBP Questionnaire package.</a:t>
            </a:r>
          </a:p>
          <a:p>
            <a:r>
              <a:rPr lang="en-US" b="0"/>
              <a:t>The app runs CQL to pre‑fill prior conservative therapies, recent pain scores, and diagnosis from the chart.</a:t>
            </a:r>
          </a:p>
          <a:p>
            <a:r>
              <a:rPr lang="en-US" b="0"/>
              <a:t>Assessment Center sees sufficient evidence for certain criteria and serves a short segment: </a:t>
            </a:r>
          </a:p>
          <a:p>
            <a:pPr lvl="1"/>
            <a:r>
              <a:rPr lang="en-US" b="0"/>
              <a:t>Q1: confirm duration of symptoms (pre‑filled default; clinician verifies)</a:t>
            </a:r>
          </a:p>
          <a:p>
            <a:pPr lvl="1"/>
            <a:r>
              <a:rPr lang="en-US" b="0"/>
              <a:t>Q2: confirm failed PT within last 6 weeks (CQL found PT notes; clinician attests)</a:t>
            </a:r>
          </a:p>
          <a:p>
            <a:pPr lvl="1"/>
            <a:r>
              <a:rPr lang="en-US" b="0"/>
              <a:t>Q3: red‑flag screen (neurologic deficit)—clinician marks “No”</a:t>
            </a:r>
          </a:p>
          <a:p>
            <a:pPr lvl="1"/>
            <a:r>
              <a:rPr lang="en-US" b="0"/>
              <a:t>Confidence threshold reached → stop (no remaining 27 questions)</a:t>
            </a:r>
            <a:br>
              <a:rPr lang="en-US" b="0"/>
            </a:br>
            <a:r>
              <a:rPr lang="en-US" b="0" i="1"/>
              <a:t>(“30 → 4” is User‑provided exemplar; behavior matches confidence‑based stop.)</a:t>
            </a:r>
            <a:endParaRPr lang="en-US" b="0"/>
          </a:p>
          <a:p>
            <a:r>
              <a:rPr lang="en-US" b="0"/>
              <a:t>The completed QuestionnaireResponse is saved in EMR; the back‑office uses it in PAS $submit; payer confirms and returns Response.</a:t>
            </a:r>
          </a:p>
          <a:p>
            <a:endParaRPr lang="en-US" b="0"/>
          </a:p>
          <a:p>
            <a:pPr defTabSz="457200">
              <a:spcAft>
                <a:spcPts val="600"/>
              </a:spcAft>
              <a:defRPr/>
            </a:pPr>
            <a:endParaRPr lang="en-US" sz="1400" b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BBB0A-7FBA-00B2-976B-5EABF8F85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C455-AA38-4331-AA14-C04DCF2F33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1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CD277-D55E-E62B-1EDE-04F9EEBE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A6D5A-270F-0C26-D774-3423FF8A4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3B82B-88D2-C0EB-2C7E-2B4580996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Assessment Center is the “brain” of adaptivity and efficiency. It enables confidence-based early stopping—no over-questioning. It leverages real-time EMR data, prior answers, and payer rules. It’s the main differentiator from legacy systems and static forms.</a:t>
            </a:r>
          </a:p>
          <a:p>
            <a:endParaRPr lang="en-US" b="0"/>
          </a:p>
          <a:p>
            <a:r>
              <a:rPr lang="en-US" b="0"/>
              <a:t>“Low‑Back‑Pain MRI, adaptive flow”</a:t>
            </a:r>
          </a:p>
          <a:p>
            <a:r>
              <a:rPr lang="en-US" b="0"/>
              <a:t>Order placed in EMR; CRD indicates PA is needed and launches DTR.</a:t>
            </a:r>
          </a:p>
          <a:p>
            <a:r>
              <a:rPr lang="en-US" b="0"/>
              <a:t>DTR app auto‑resolves Centene from Coverage; fetches the LBP Questionnaire package.</a:t>
            </a:r>
          </a:p>
          <a:p>
            <a:r>
              <a:rPr lang="en-US" b="0"/>
              <a:t>The app runs CQL to pre‑fill prior conservative therapies, recent pain scores, and diagnosis from the chart.</a:t>
            </a:r>
          </a:p>
          <a:p>
            <a:r>
              <a:rPr lang="en-US" b="0"/>
              <a:t>Assessment Center sees sufficient evidence for certain criteria and serves a short segment: </a:t>
            </a:r>
          </a:p>
          <a:p>
            <a:pPr lvl="1"/>
            <a:r>
              <a:rPr lang="en-US" b="0"/>
              <a:t>Q1: confirm duration of symptoms (pre‑filled default; clinician verifies)</a:t>
            </a:r>
          </a:p>
          <a:p>
            <a:pPr lvl="1"/>
            <a:r>
              <a:rPr lang="en-US" b="0"/>
              <a:t>Q2: confirm failed PT within last 6 weeks (CQL found PT notes; clinician attests)</a:t>
            </a:r>
          </a:p>
          <a:p>
            <a:pPr lvl="1"/>
            <a:r>
              <a:rPr lang="en-US" b="0"/>
              <a:t>Q3: red‑flag screen (neurologic deficit)—clinician marks “No”</a:t>
            </a:r>
          </a:p>
          <a:p>
            <a:pPr lvl="1"/>
            <a:r>
              <a:rPr lang="en-US" b="0"/>
              <a:t>Confidence threshold reached → stop (no remaining 27 questions)</a:t>
            </a:r>
            <a:br>
              <a:rPr lang="en-US" b="0"/>
            </a:br>
            <a:r>
              <a:rPr lang="en-US" b="0" i="1"/>
              <a:t>(“30 → 4” is User‑provided exemplar; behavior matches confidence‑based stop.)</a:t>
            </a:r>
            <a:endParaRPr lang="en-US" b="0"/>
          </a:p>
          <a:p>
            <a:r>
              <a:rPr lang="en-US" b="0"/>
              <a:t>The completed QuestionnaireResponse is saved in EMR; the back‑office uses it in PAS $submit; payer confirms and returns Response.</a:t>
            </a:r>
          </a:p>
          <a:p>
            <a:endParaRPr lang="en-US" b="0"/>
          </a:p>
          <a:p>
            <a:pPr defTabSz="457200">
              <a:spcAft>
                <a:spcPts val="600"/>
              </a:spcAft>
              <a:defRPr/>
            </a:pPr>
            <a:endParaRPr lang="en-US" sz="1400" b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51A50-75DE-3AD2-870E-AD6126217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C455-AA38-4331-AA14-C04DCF2F33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45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43852-E5B4-A692-8F7B-39B9783D0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D5C85-23D1-9BF4-5852-6F93BB2F0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B7971-F614-A19C-5FBE-C757970CB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Assessment Center is the “brain” of adaptivity and efficiency. It enables confidence-based early stopping—no over-questioning. It leverages real-time EMR data, prior answers, and payer rules. It’s the main differentiator from legacy systems and static forms.</a:t>
            </a:r>
          </a:p>
          <a:p>
            <a:endParaRPr lang="en-US" b="0"/>
          </a:p>
          <a:p>
            <a:r>
              <a:rPr lang="en-US" b="0"/>
              <a:t>“Low‑Back‑Pain MRI, adaptive flow”</a:t>
            </a:r>
          </a:p>
          <a:p>
            <a:r>
              <a:rPr lang="en-US" b="0"/>
              <a:t>Order placed in EMR; CRD indicates PA is needed and launches DTR.</a:t>
            </a:r>
          </a:p>
          <a:p>
            <a:r>
              <a:rPr lang="en-US" b="0"/>
              <a:t>DTR app auto‑resolves Centene from Coverage; fetches the LBP Questionnaire package.</a:t>
            </a:r>
          </a:p>
          <a:p>
            <a:r>
              <a:rPr lang="en-US" b="0"/>
              <a:t>The app runs CQL to pre‑fill prior conservative therapies, recent pain scores, and diagnosis from the chart.</a:t>
            </a:r>
          </a:p>
          <a:p>
            <a:r>
              <a:rPr lang="en-US" b="0"/>
              <a:t>Assessment Center sees sufficient evidence for certain criteria and serves a short segment: </a:t>
            </a:r>
          </a:p>
          <a:p>
            <a:pPr lvl="1"/>
            <a:r>
              <a:rPr lang="en-US" b="0"/>
              <a:t>Q1: confirm duration of symptoms (pre‑filled default; clinician verifies)</a:t>
            </a:r>
          </a:p>
          <a:p>
            <a:pPr lvl="1"/>
            <a:r>
              <a:rPr lang="en-US" b="0"/>
              <a:t>Q2: confirm failed PT within last 6 weeks (CQL found PT notes; clinician attests)</a:t>
            </a:r>
          </a:p>
          <a:p>
            <a:pPr lvl="1"/>
            <a:r>
              <a:rPr lang="en-US" b="0"/>
              <a:t>Q3: red‑flag screen (neurologic deficit)—clinician marks “No”</a:t>
            </a:r>
          </a:p>
          <a:p>
            <a:pPr lvl="1"/>
            <a:r>
              <a:rPr lang="en-US" b="0"/>
              <a:t>Confidence threshold reached → stop (no remaining 27 questions)</a:t>
            </a:r>
            <a:br>
              <a:rPr lang="en-US" b="0"/>
            </a:br>
            <a:r>
              <a:rPr lang="en-US" b="0" i="1"/>
              <a:t>(“30 → 4” is User‑provided exemplar; behavior matches confidence‑based stop.)</a:t>
            </a:r>
            <a:endParaRPr lang="en-US" b="0"/>
          </a:p>
          <a:p>
            <a:r>
              <a:rPr lang="en-US" b="0"/>
              <a:t>The completed </a:t>
            </a:r>
            <a:r>
              <a:rPr lang="en-US" b="0" err="1"/>
              <a:t>QuestionnaireResponse</a:t>
            </a:r>
            <a:r>
              <a:rPr lang="en-US" b="0"/>
              <a:t> is saved in EMR; the back‑office uses it in PAS $submit; payer confirms and returns Response.</a:t>
            </a:r>
          </a:p>
          <a:p>
            <a:endParaRPr lang="en-US" b="0"/>
          </a:p>
          <a:p>
            <a:pPr defTabSz="457200">
              <a:spcAft>
                <a:spcPts val="600"/>
              </a:spcAft>
              <a:defRPr/>
            </a:pPr>
            <a:endParaRPr lang="en-US" sz="1400" b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5CBFA-6446-D9DC-CA34-597186398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C455-AA38-4331-AA14-C04DCF2F33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93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75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35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1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69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6233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421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075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198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532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33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34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8891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251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054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6086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569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4721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0549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©2025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8225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055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2288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3344431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859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239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91A87A-BFA2-5774-D897-5DA882B78A77}"/>
              </a:ext>
            </a:extLst>
          </p:cNvPr>
          <p:cNvSpPr/>
          <p:nvPr userDrawn="1"/>
        </p:nvSpPr>
        <p:spPr>
          <a:xfrm>
            <a:off x="0" y="1"/>
            <a:ext cx="12192000" cy="16119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976313"/>
            <a:ext cx="8308975" cy="499237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866901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2221522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448395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799002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866901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2221523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724123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5087706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/>
          <p:nvPr userDrawn="1"/>
        </p:nvCxnSpPr>
        <p:spPr>
          <a:xfrm>
            <a:off x="8804633" y="1866317"/>
            <a:ext cx="0" cy="433085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866901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2221522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2253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62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28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10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4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21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6260951" y="6558701"/>
            <a:ext cx="5931049" cy="299299"/>
            <a:chOff x="6260951" y="6558701"/>
            <a:chExt cx="5931049" cy="299299"/>
          </a:xfrm>
        </p:grpSpPr>
        <p:sp>
          <p:nvSpPr>
            <p:cNvPr id="12" name="Rectangle 15"/>
            <p:cNvSpPr/>
            <p:nvPr userDrawn="1"/>
          </p:nvSpPr>
          <p:spPr>
            <a:xfrm>
              <a:off x="6260951" y="6558701"/>
              <a:ext cx="5931049" cy="299299"/>
            </a:xfrm>
            <a:custGeom>
              <a:avLst/>
              <a:gdLst>
                <a:gd name="connsiteX0" fmla="*/ 0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0 w 5931049"/>
                <a:gd name="connsiteY4" fmla="*/ 0 h 299299"/>
                <a:gd name="connsiteX0" fmla="*/ 209228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209228 w 5931049"/>
                <a:gd name="connsiteY4" fmla="*/ 0 h 29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1049" h="299299">
                  <a:moveTo>
                    <a:pt x="209228" y="0"/>
                  </a:moveTo>
                  <a:lnTo>
                    <a:pt x="5931049" y="0"/>
                  </a:lnTo>
                  <a:lnTo>
                    <a:pt x="5931049" y="299299"/>
                  </a:lnTo>
                  <a:lnTo>
                    <a:pt x="0" y="299299"/>
                  </a:lnTo>
                  <a:lnTo>
                    <a:pt x="20922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 userDrawn="1"/>
          </p:nvGrpSpPr>
          <p:grpSpPr>
            <a:xfrm>
              <a:off x="8799513" y="6615920"/>
              <a:ext cx="2703555" cy="162839"/>
              <a:chOff x="8799513" y="6615920"/>
              <a:chExt cx="2703555" cy="162839"/>
            </a:xfrm>
          </p:grpSpPr>
          <p:cxnSp>
            <p:nvCxnSpPr>
              <p:cNvPr id="14" name="Straight Connector 13"/>
              <p:cNvCxnSpPr/>
              <p:nvPr userDrawn="1"/>
            </p:nvCxnSpPr>
            <p:spPr>
              <a:xfrm flipH="1">
                <a:off x="8799513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 userDrawn="1"/>
            </p:nvCxnSpPr>
            <p:spPr>
              <a:xfrm flipH="1">
                <a:off x="11396576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Rectangle 13"/>
          <p:cNvSpPr/>
          <p:nvPr userDrawn="1"/>
        </p:nvSpPr>
        <p:spPr>
          <a:xfrm>
            <a:off x="0" y="0"/>
            <a:ext cx="10843708" cy="763793"/>
          </a:xfrm>
          <a:custGeom>
            <a:avLst/>
            <a:gdLst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843708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338099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3708" h="763793">
                <a:moveTo>
                  <a:pt x="0" y="0"/>
                </a:moveTo>
                <a:lnTo>
                  <a:pt x="10843708" y="0"/>
                </a:lnTo>
                <a:lnTo>
                  <a:pt x="10338099" y="763793"/>
                </a:lnTo>
                <a:lnTo>
                  <a:pt x="0" y="76379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chemeClr val="tx1"/>
              </a:buClr>
              <a:buFont typeface="Arial" pitchFamily="34" charset="0"/>
              <a:buChar char="-"/>
              <a:defRPr/>
            </a:lvl2pPr>
            <a:lvl3pPr marL="1087438" indent="-173038">
              <a:defRPr/>
            </a:lvl3pPr>
            <a:lvl4pPr marL="1539875" indent="-168275">
              <a:defRPr/>
            </a:lvl4pPr>
            <a:lvl5pPr marL="2001838" indent="-1730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6483177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79C7C16D-3FCE-4FD9-B5D5-8D283AC2A2D0}" type="datetime4">
              <a:rPr lang="en-US" sz="900" smtClean="0">
                <a:solidFill>
                  <a:schemeClr val="bg1"/>
                </a:solidFill>
              </a:rPr>
              <a:t>October 24, 2025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1503068" y="6648872"/>
            <a:ext cx="3345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3DD8D3D-9F5D-40B5-8723-5F4A9233747C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9128072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00">
                <a:solidFill>
                  <a:schemeClr val="bg1"/>
                </a:solidFill>
              </a:rPr>
              <a:t>© 2020 EXLSERVICE HOLDINGS, INC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40" y="-124945"/>
            <a:ext cx="1294935" cy="106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69685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/>
          <p:cNvSpPr/>
          <p:nvPr/>
        </p:nvSpPr>
        <p:spPr>
          <a:xfrm>
            <a:off x="0" y="0"/>
            <a:ext cx="10843708" cy="763793"/>
          </a:xfrm>
          <a:custGeom>
            <a:avLst/>
            <a:gdLst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843708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338099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3708" h="763793">
                <a:moveTo>
                  <a:pt x="0" y="0"/>
                </a:moveTo>
                <a:lnTo>
                  <a:pt x="10843708" y="0"/>
                </a:lnTo>
                <a:lnTo>
                  <a:pt x="10338099" y="763793"/>
                </a:lnTo>
                <a:lnTo>
                  <a:pt x="0" y="76379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260951" y="6558701"/>
            <a:ext cx="5931049" cy="299299"/>
            <a:chOff x="6260951" y="6558701"/>
            <a:chExt cx="5931049" cy="299299"/>
          </a:xfrm>
        </p:grpSpPr>
        <p:sp>
          <p:nvSpPr>
            <p:cNvPr id="16" name="Rectangle 15"/>
            <p:cNvSpPr/>
            <p:nvPr userDrawn="1"/>
          </p:nvSpPr>
          <p:spPr>
            <a:xfrm>
              <a:off x="6260951" y="6558701"/>
              <a:ext cx="5931049" cy="299299"/>
            </a:xfrm>
            <a:custGeom>
              <a:avLst/>
              <a:gdLst>
                <a:gd name="connsiteX0" fmla="*/ 0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0 w 5931049"/>
                <a:gd name="connsiteY4" fmla="*/ 0 h 299299"/>
                <a:gd name="connsiteX0" fmla="*/ 209228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209228 w 5931049"/>
                <a:gd name="connsiteY4" fmla="*/ 0 h 29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1049" h="299299">
                  <a:moveTo>
                    <a:pt x="209228" y="0"/>
                  </a:moveTo>
                  <a:lnTo>
                    <a:pt x="5931049" y="0"/>
                  </a:lnTo>
                  <a:lnTo>
                    <a:pt x="5931049" y="299299"/>
                  </a:lnTo>
                  <a:lnTo>
                    <a:pt x="0" y="299299"/>
                  </a:lnTo>
                  <a:lnTo>
                    <a:pt x="20922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/>
            <p:cNvGrpSpPr/>
            <p:nvPr userDrawn="1"/>
          </p:nvGrpSpPr>
          <p:grpSpPr>
            <a:xfrm>
              <a:off x="8799513" y="6615920"/>
              <a:ext cx="2703555" cy="162839"/>
              <a:chOff x="8799513" y="6615920"/>
              <a:chExt cx="2703555" cy="162839"/>
            </a:xfrm>
          </p:grpSpPr>
          <p:cxnSp>
            <p:nvCxnSpPr>
              <p:cNvPr id="18" name="Straight Connector 17"/>
              <p:cNvCxnSpPr/>
              <p:nvPr userDrawn="1"/>
            </p:nvCxnSpPr>
            <p:spPr>
              <a:xfrm flipH="1">
                <a:off x="8799513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 userDrawn="1"/>
            </p:nvCxnSpPr>
            <p:spPr>
              <a:xfrm flipH="1">
                <a:off x="11396576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TextBox 19"/>
          <p:cNvSpPr txBox="1"/>
          <p:nvPr/>
        </p:nvSpPr>
        <p:spPr>
          <a:xfrm>
            <a:off x="6483177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79C7C16D-3FCE-4FD9-B5D5-8D283AC2A2D0}" type="datetime4">
              <a:rPr lang="en-US" sz="900" smtClean="0">
                <a:solidFill>
                  <a:schemeClr val="bg1"/>
                </a:solidFill>
              </a:rPr>
              <a:t>October 24, 2025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503068" y="6648872"/>
            <a:ext cx="3345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3DD8D3D-9F5D-40B5-8723-5F4A9233747C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28072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00">
                <a:solidFill>
                  <a:schemeClr val="bg1"/>
                </a:solidFill>
              </a:rPr>
              <a:t>© 2020 EXLSERVICE HOLDINGS, INC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40" y="-124945"/>
            <a:ext cx="1294935" cy="106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776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6260951" y="6558701"/>
            <a:ext cx="5931049" cy="299299"/>
            <a:chOff x="6260951" y="6558701"/>
            <a:chExt cx="5931049" cy="299299"/>
          </a:xfrm>
        </p:grpSpPr>
        <p:sp>
          <p:nvSpPr>
            <p:cNvPr id="12" name="Rectangle 15"/>
            <p:cNvSpPr/>
            <p:nvPr/>
          </p:nvSpPr>
          <p:spPr>
            <a:xfrm>
              <a:off x="6260951" y="6558701"/>
              <a:ext cx="5931049" cy="299299"/>
            </a:xfrm>
            <a:custGeom>
              <a:avLst/>
              <a:gdLst>
                <a:gd name="connsiteX0" fmla="*/ 0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0 w 5931049"/>
                <a:gd name="connsiteY4" fmla="*/ 0 h 299299"/>
                <a:gd name="connsiteX0" fmla="*/ 209228 w 5931049"/>
                <a:gd name="connsiteY0" fmla="*/ 0 h 299299"/>
                <a:gd name="connsiteX1" fmla="*/ 5931049 w 5931049"/>
                <a:gd name="connsiteY1" fmla="*/ 0 h 299299"/>
                <a:gd name="connsiteX2" fmla="*/ 5931049 w 5931049"/>
                <a:gd name="connsiteY2" fmla="*/ 299299 h 299299"/>
                <a:gd name="connsiteX3" fmla="*/ 0 w 5931049"/>
                <a:gd name="connsiteY3" fmla="*/ 299299 h 299299"/>
                <a:gd name="connsiteX4" fmla="*/ 209228 w 5931049"/>
                <a:gd name="connsiteY4" fmla="*/ 0 h 29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1049" h="299299">
                  <a:moveTo>
                    <a:pt x="209228" y="0"/>
                  </a:moveTo>
                  <a:lnTo>
                    <a:pt x="5931049" y="0"/>
                  </a:lnTo>
                  <a:lnTo>
                    <a:pt x="5931049" y="299299"/>
                  </a:lnTo>
                  <a:lnTo>
                    <a:pt x="0" y="299299"/>
                  </a:lnTo>
                  <a:lnTo>
                    <a:pt x="20922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8799513" y="6615920"/>
              <a:ext cx="2703555" cy="162839"/>
              <a:chOff x="8799513" y="6615920"/>
              <a:chExt cx="2703555" cy="162839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 flipH="1">
                <a:off x="8799513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H="1">
                <a:off x="11396576" y="6615920"/>
                <a:ext cx="106492" cy="1628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Rectangle 13"/>
          <p:cNvSpPr/>
          <p:nvPr/>
        </p:nvSpPr>
        <p:spPr>
          <a:xfrm>
            <a:off x="0" y="0"/>
            <a:ext cx="10843708" cy="763793"/>
          </a:xfrm>
          <a:custGeom>
            <a:avLst/>
            <a:gdLst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843708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  <a:gd name="connsiteX0" fmla="*/ 0 w 10843708"/>
              <a:gd name="connsiteY0" fmla="*/ 0 h 763793"/>
              <a:gd name="connsiteX1" fmla="*/ 10843708 w 10843708"/>
              <a:gd name="connsiteY1" fmla="*/ 0 h 763793"/>
              <a:gd name="connsiteX2" fmla="*/ 10338099 w 10843708"/>
              <a:gd name="connsiteY2" fmla="*/ 763793 h 763793"/>
              <a:gd name="connsiteX3" fmla="*/ 0 w 10843708"/>
              <a:gd name="connsiteY3" fmla="*/ 763793 h 763793"/>
              <a:gd name="connsiteX4" fmla="*/ 0 w 10843708"/>
              <a:gd name="connsiteY4" fmla="*/ 0 h 76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3708" h="763793">
                <a:moveTo>
                  <a:pt x="0" y="0"/>
                </a:moveTo>
                <a:lnTo>
                  <a:pt x="10843708" y="0"/>
                </a:lnTo>
                <a:lnTo>
                  <a:pt x="10338099" y="763793"/>
                </a:lnTo>
                <a:lnTo>
                  <a:pt x="0" y="76379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944" y="86060"/>
            <a:ext cx="914636" cy="5887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chemeClr val="tx1"/>
              </a:buClr>
              <a:buFont typeface="Arial" pitchFamily="34" charset="0"/>
              <a:buChar char="-"/>
              <a:defRPr/>
            </a:lvl2pPr>
            <a:lvl3pPr marL="1087438" indent="-173038">
              <a:defRPr/>
            </a:lvl3pPr>
            <a:lvl4pPr marL="1539875" indent="-168275">
              <a:defRPr/>
            </a:lvl4pPr>
            <a:lvl5pPr marL="2001838" indent="-173038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177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79C7C16D-3FCE-4FD9-B5D5-8D283AC2A2D0}" type="datetime4">
              <a:rPr lang="en-US" sz="900" smtClean="0">
                <a:solidFill>
                  <a:schemeClr val="bg1"/>
                </a:solidFill>
              </a:rPr>
              <a:t>October 24, 2025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503068" y="6648872"/>
            <a:ext cx="3345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3DD8D3D-9F5D-40B5-8723-5F4A9233747C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28072" y="6648872"/>
            <a:ext cx="20795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00">
                <a:solidFill>
                  <a:schemeClr val="bg1"/>
                </a:solidFill>
              </a:rPr>
              <a:t>© 2020 EXLSERVICE HOLDINGS, INC</a:t>
            </a:r>
          </a:p>
        </p:txBody>
      </p:sp>
    </p:spTree>
    <p:extLst>
      <p:ext uri="{BB962C8B-B14F-4D97-AF65-F5344CB8AC3E}">
        <p14:creationId xmlns:p14="http://schemas.microsoft.com/office/powerpoint/2010/main" val="1262008741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EEA63-7DE6-284F-9F05-D9A33CE7D8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99775A-B4A8-402C-8B62-11EC3809FD4E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F0CFA-EE8B-45EF-ACB1-2C508059A02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1588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76035"/>
            <a:ext cx="11277600" cy="489437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74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ExlService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185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193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-In Logo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43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Titl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9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68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08482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697E121-414A-B041-84FF-D45B6A776B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89837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None/>
              <a:defRPr sz="16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03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77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5367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4073269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9313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1898373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2406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4452728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8758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1269724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82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4038600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48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d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70329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4977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28F49-45F0-DB43-8B02-D7D8003DA0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70595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10404DB-54A2-CE45-953F-33A259AD37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11282-4214-3B44-B17C-9B2CB6A789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47478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head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D463CD-9D09-C54A-A67B-EFECE519AD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491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815032"/>
            <a:ext cx="4433105" cy="312652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7844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ilde Orang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8401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ild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457200"/>
            <a:ext cx="7300912" cy="5484813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4113796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9285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Orange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 flipH="1">
            <a:off x="4433105" y="0"/>
            <a:ext cx="77588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F931B3-9150-A144-A52C-51AE7E4685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87045" y="1485900"/>
            <a:ext cx="6847755" cy="4646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2pPr>
            <a:lvl3pPr marL="519113" indent="-26670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3pPr>
            <a:lvl4pPr marL="749300" indent="-238125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4pPr>
            <a:lvl5pPr marL="1031875" indent="-274638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10C0A52-392D-4946-BCDD-EC07BEBCAA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3234978"/>
            <a:ext cx="367937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7356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1868280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01163"/>
            <a:ext cx="11277600" cy="489437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28601"/>
            <a:ext cx="5638800" cy="1905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08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6720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045417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03A92C8-4D21-FB40-A217-7D7F8D339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72856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A07D5EE-B3F8-AA44-8D0B-DEB1CD4DD7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56421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864CBC-9FA5-F041-B465-DE00482D6D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53238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CE26F75-3860-3546-85F7-4E09E38C14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3234978"/>
            <a:ext cx="3045417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4296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1485900"/>
            <a:ext cx="3006916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36AC2DB-B5C2-3A41-A570-78C62820C2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72856" y="1483668"/>
            <a:ext cx="4675989" cy="46481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24F38BC-D9BA-9143-A602-F90DC3AFC8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1" y="3234978"/>
            <a:ext cx="3006916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2396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19265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D6F557C-3C26-B547-B21C-88ADA188DD0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65293" y="1484313"/>
            <a:ext cx="4702140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6C5533-0E3B-4A43-98F3-7F2AE6EEEA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19265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1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488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91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9F8FE3-FF5A-624D-A591-97864EAB29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11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EEA63-7DE6-284F-9F05-D9A33CE7D8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685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e Picture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9118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8475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C2F399F-28D4-9E43-B164-5A6B7AA144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6942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632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Boxes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214542"/>
            <a:ext cx="7701124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485900"/>
            <a:ext cx="7700963" cy="72864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5841830"/>
            <a:ext cx="7700963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2214542"/>
            <a:ext cx="3849205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841830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3C935CB-FC55-5340-B422-F68ABAB496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0725" y="1485900"/>
            <a:ext cx="3394075" cy="61436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500">
                <a:latin typeface="+mj-lt"/>
              </a:defRPr>
            </a:lvl2pPr>
            <a:lvl3pPr marL="582613" indent="0">
              <a:spcBef>
                <a:spcPts val="0"/>
              </a:spcBef>
              <a:buNone/>
              <a:defRPr sz="1500">
                <a:latin typeface="+mj-lt"/>
              </a:defRPr>
            </a:lvl3pPr>
            <a:lvl4pPr marL="855663" indent="0">
              <a:spcBef>
                <a:spcPts val="0"/>
              </a:spcBef>
              <a:buNone/>
              <a:defRPr sz="1500">
                <a:latin typeface="+mj-lt"/>
              </a:defRPr>
            </a:lvl4pPr>
            <a:lvl5pPr marL="1100138" indent="0">
              <a:spcBef>
                <a:spcPts val="0"/>
              </a:spcBef>
              <a:buNone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2291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05356"/>
            <a:ext cx="11277600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4B387-8E5D-BC42-B9C5-15885C27A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5387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61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act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39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Title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0496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None/>
              <a:defRPr sz="16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0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70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4073269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8589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1898373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8979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Equ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24079B7-DED0-A141-996D-10B033A8EF11}"/>
              </a:ext>
            </a:extLst>
          </p:cNvPr>
          <p:cNvGrpSpPr/>
          <p:nvPr userDrawn="1"/>
        </p:nvGrpSpPr>
        <p:grpSpPr>
          <a:xfrm>
            <a:off x="4452728" y="1885950"/>
            <a:ext cx="3276600" cy="3086100"/>
            <a:chOff x="8458200" y="712595"/>
            <a:chExt cx="3276600" cy="30861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6097F1-77CB-614C-8D9A-D22DE9EB1D4E}"/>
                </a:ext>
              </a:extLst>
            </p:cNvPr>
            <p:cNvSpPr/>
            <p:nvPr/>
          </p:nvSpPr>
          <p:spPr>
            <a:xfrm>
              <a:off x="8458200" y="7125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C0F23-DCDB-7346-9A4D-355EC7892B7F}"/>
                </a:ext>
              </a:extLst>
            </p:cNvPr>
            <p:cNvSpPr/>
            <p:nvPr/>
          </p:nvSpPr>
          <p:spPr>
            <a:xfrm>
              <a:off x="8458200" y="2681095"/>
              <a:ext cx="3276600" cy="1117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5823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1269724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35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range Trian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72E8C509-1DC7-C148-88B2-FE551A1ED0F9}"/>
              </a:ext>
            </a:extLst>
          </p:cNvPr>
          <p:cNvSpPr/>
          <p:nvPr userDrawn="1"/>
        </p:nvSpPr>
        <p:spPr>
          <a:xfrm>
            <a:off x="4038600" y="1864380"/>
            <a:ext cx="4114800" cy="31623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88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059067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6691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Sil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28F49-45F0-DB43-8B02-D7D8003DA0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57121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Sild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10404DB-54A2-CE45-953F-33A259AD37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11282-4214-3B44-B17C-9B2CB6A789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4574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Subhead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111742"/>
            <a:ext cx="5075267" cy="382981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D463CD-9D09-C54A-A67B-EFECE519AD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4229" y="1478697"/>
            <a:ext cx="5075266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19522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815032"/>
            <a:ext cx="4433105" cy="312652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504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Silde Orang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2991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Sild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457200"/>
            <a:ext cx="7300912" cy="5484813"/>
          </a:xfrm>
          <a:solidFill>
            <a:schemeClr val="bg1"/>
          </a:solidFill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2519308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2377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Orange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 flipH="1">
            <a:off x="4433105" y="0"/>
            <a:ext cx="77588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F931B3-9150-A144-A52C-51AE7E4685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87045" y="1485900"/>
            <a:ext cx="6847755" cy="4646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228600" indent="-22225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2pPr>
            <a:lvl3pPr marL="519113" indent="-266700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3pPr>
            <a:lvl4pPr marL="749300" indent="-238125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4pPr>
            <a:lvl5pPr marL="1031875" indent="-274638">
              <a:spcBef>
                <a:spcPts val="0"/>
              </a:spcBef>
              <a:spcAft>
                <a:spcPts val="600"/>
              </a:spcAft>
              <a:tabLst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10C0A52-392D-4946-BCDD-EC07BEBCAA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3234978"/>
            <a:ext cx="367937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8469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</p:spTree>
    <p:extLst>
      <p:ext uri="{BB962C8B-B14F-4D97-AF65-F5344CB8AC3E}">
        <p14:creationId xmlns:p14="http://schemas.microsoft.com/office/powerpoint/2010/main" val="2000850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1223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lum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045417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03A92C8-4D21-FB40-A217-7D7F8D339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72856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A07D5EE-B3F8-AA44-8D0B-DEB1CD4DD7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56421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864CBC-9FA5-F041-B465-DE00482D6D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53238" y="1483669"/>
            <a:ext cx="2481449" cy="464884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CE26F75-3860-3546-85F7-4E09E38C14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200" y="3234978"/>
            <a:ext cx="3045417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98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1485900"/>
            <a:ext cx="3006916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36AC2DB-B5C2-3A41-A570-78C62820C2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72856" y="1483668"/>
            <a:ext cx="4675989" cy="46481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4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4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24F38BC-D9BA-9143-A602-F90DC3AFC8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1" y="3234978"/>
            <a:ext cx="3006916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4462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w/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19265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1BF9-4DD4-B741-825E-226AABE970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948738" y="1484313"/>
            <a:ext cx="2786062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2620F7-0541-0B45-B341-1E1D12D1390B}"/>
              </a:ext>
            </a:extLst>
          </p:cNvPr>
          <p:cNvCxnSpPr/>
          <p:nvPr userDrawn="1"/>
        </p:nvCxnSpPr>
        <p:spPr>
          <a:xfrm>
            <a:off x="8748793" y="1483669"/>
            <a:ext cx="0" cy="464884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D6F557C-3C26-B547-B21C-88ADA188DD0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865293" y="1484313"/>
            <a:ext cx="4702140" cy="4648200"/>
          </a:xfrm>
        </p:spPr>
        <p:txBody>
          <a:bodyPr anchor="ctr" anchorCtr="0"/>
          <a:lstStyle>
            <a:lvl1pPr marL="0" indent="0" algn="ctr">
              <a:buNone/>
              <a:defRPr sz="12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6C5533-0E3B-4A43-98F3-7F2AE6EEEA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192651" cy="289753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0029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Content w/ gray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387475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085654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6623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9F8FE3-FF5A-624D-A591-97864EAB29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50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EEA63-7DE6-284F-9F05-D9A33CE7D8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2625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Twe Picture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9118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8475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1485900"/>
            <a:ext cx="3849205" cy="3572061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170489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C2F399F-28D4-9E43-B164-5A6B7AA144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8101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4190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icture Boxes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214542"/>
            <a:ext cx="7701124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485900"/>
            <a:ext cx="7700963" cy="72864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©2021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C73AC-0C8F-B04D-AA36-CBBE938369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5F2D2C-2732-3F46-8B67-8714402C7F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5841830"/>
            <a:ext cx="7700963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4BC302-BF6F-9F4A-B866-30F63178BDC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41856" y="2214542"/>
            <a:ext cx="3849205" cy="3488834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62EB926-2F74-D64F-A4CD-EC5E10070E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1213" y="5841830"/>
            <a:ext cx="3849688" cy="245574"/>
          </a:xfrm>
        </p:spPr>
        <p:txBody>
          <a:bodyPr/>
          <a:lstStyle>
            <a:lvl1pPr marL="0" indent="0">
              <a:buNone/>
              <a:defRPr sz="1200" b="0" i="0"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 sz="1200"/>
            </a:lvl2pPr>
            <a:lvl3pPr marL="582613" indent="0">
              <a:buNone/>
              <a:defRPr sz="1200"/>
            </a:lvl3pPr>
            <a:lvl4pPr marL="855663" indent="0">
              <a:buNone/>
              <a:defRPr sz="1200"/>
            </a:lvl4pPr>
            <a:lvl5pPr marL="1100138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3C935CB-FC55-5340-B422-F68ABAB496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0725" y="1485900"/>
            <a:ext cx="3394075" cy="61436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500">
                <a:latin typeface="+mj-lt"/>
              </a:defRPr>
            </a:lvl2pPr>
            <a:lvl3pPr marL="582613" indent="0">
              <a:spcBef>
                <a:spcPts val="0"/>
              </a:spcBef>
              <a:buNone/>
              <a:defRPr sz="1500">
                <a:latin typeface="+mj-lt"/>
              </a:defRPr>
            </a:lvl3pPr>
            <a:lvl4pPr marL="855663" indent="0">
              <a:spcBef>
                <a:spcPts val="0"/>
              </a:spcBef>
              <a:buNone/>
              <a:defRPr sz="1500">
                <a:latin typeface="+mj-lt"/>
              </a:defRPr>
            </a:lvl4pPr>
            <a:lvl5pPr marL="1100138" indent="0">
              <a:spcBef>
                <a:spcPts val="0"/>
              </a:spcBef>
              <a:buNone/>
              <a:defRPr sz="15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8270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16542" y="6394198"/>
            <a:ext cx="5398374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69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07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©2025 </a:t>
            </a:r>
            <a:r>
              <a:rPr lang="en-US" err="1"/>
              <a:t>ExlService</a:t>
            </a:r>
            <a:r>
              <a:rPr lang="en-US"/>
              <a:t>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7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  <p:sldLayoutId id="2147483722" r:id="rId50"/>
    <p:sldLayoutId id="2147483723" r:id="rId51"/>
    <p:sldLayoutId id="2147483724" r:id="rId52"/>
    <p:sldLayoutId id="2147483725" r:id="rId53"/>
    <p:sldLayoutId id="2147483726" r:id="rId54"/>
    <p:sldLayoutId id="2147483727" r:id="rId55"/>
    <p:sldLayoutId id="2147483728" r:id="rId56"/>
    <p:sldLayoutId id="2147483729" r:id="rId57"/>
    <p:sldLayoutId id="2147483730" r:id="rId58"/>
    <p:sldLayoutId id="2147483731" r:id="rId59"/>
    <p:sldLayoutId id="2147483732" r:id="rId60"/>
    <p:sldLayoutId id="2147483733" r:id="rId61"/>
    <p:sldLayoutId id="2147483734" r:id="rId62"/>
    <p:sldLayoutId id="2147483735" r:id="rId63"/>
    <p:sldLayoutId id="2147483736" r:id="rId64"/>
    <p:sldLayoutId id="2147483737" r:id="rId65"/>
    <p:sldLayoutId id="2147483738" r:id="rId66"/>
    <p:sldLayoutId id="2147483739" r:id="rId67"/>
    <p:sldLayoutId id="2147483740" r:id="rId68"/>
    <p:sldLayoutId id="2147483741" r:id="rId69"/>
    <p:sldLayoutId id="2147483742" r:id="rId70"/>
    <p:sldLayoutId id="2147483743" r:id="rId71"/>
    <p:sldLayoutId id="2147483744" r:id="rId72"/>
    <p:sldLayoutId id="2147483745" r:id="rId73"/>
    <p:sldLayoutId id="2147483746" r:id="rId74"/>
    <p:sldLayoutId id="2147483747" r:id="rId75"/>
    <p:sldLayoutId id="2147483748" r:id="rId76"/>
    <p:sldLayoutId id="2147483749" r:id="rId77"/>
    <p:sldLayoutId id="2147483750" r:id="rId78"/>
    <p:sldLayoutId id="2147483751" r:id="rId79"/>
    <p:sldLayoutId id="2147483752" r:id="rId80"/>
    <p:sldLayoutId id="2147483753" r:id="rId81"/>
    <p:sldLayoutId id="2147483754" r:id="rId82"/>
    <p:sldLayoutId id="2147483755" r:id="rId83"/>
    <p:sldLayoutId id="2147483756" r:id="rId84"/>
    <p:sldLayoutId id="2147483757" r:id="rId85"/>
    <p:sldLayoutId id="2147483758" r:id="rId86"/>
    <p:sldLayoutId id="2147483759" r:id="rId87"/>
    <p:sldLayoutId id="2147483760" r:id="rId88"/>
    <p:sldLayoutId id="2147483761" r:id="rId89"/>
    <p:sldLayoutId id="2147483762" r:id="rId90"/>
    <p:sldLayoutId id="2147483763" r:id="rId91"/>
    <p:sldLayoutId id="2147483764" r:id="rId92"/>
    <p:sldLayoutId id="2147483765" r:id="rId93"/>
    <p:sldLayoutId id="2147483766" r:id="rId94"/>
    <p:sldLayoutId id="2147483767" r:id="rId95"/>
    <p:sldLayoutId id="2147483768" r:id="rId96"/>
    <p:sldLayoutId id="2147483769" r:id="rId97"/>
    <p:sldLayoutId id="2147483770" r:id="rId98"/>
    <p:sldLayoutId id="2147483771" r:id="rId99"/>
    <p:sldLayoutId id="2147483772" r:id="rId100"/>
    <p:sldLayoutId id="2147483773" r:id="rId101"/>
    <p:sldLayoutId id="2147483774" r:id="rId102"/>
    <p:sldLayoutId id="2147483775" r:id="rId103"/>
    <p:sldLayoutId id="2147483776" r:id="rId104"/>
    <p:sldLayoutId id="2147483777" r:id="rId105"/>
    <p:sldLayoutId id="2147483778" r:id="rId10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B484-C529-3537-96B7-C8E79068E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E22388-AF15-3FB2-88A3-5C9D97D0565A}"/>
              </a:ext>
            </a:extLst>
          </p:cNvPr>
          <p:cNvSpPr/>
          <p:nvPr/>
        </p:nvSpPr>
        <p:spPr>
          <a:xfrm>
            <a:off x="385662" y="5257421"/>
            <a:ext cx="11349137" cy="7646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B9A45AE-B046-211C-1505-52EC7A987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278843"/>
            <a:ext cx="11277600" cy="672567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3000"/>
              <a:t>Act I – From Chaos to Control: The </a:t>
            </a:r>
            <a:r>
              <a:rPr lang="en-US" sz="3000" b="1"/>
              <a:t>Stars Financial Command Center</a:t>
            </a:r>
            <a:br>
              <a:rPr lang="en-US" sz="3000" b="1"/>
            </a:br>
            <a:endParaRPr lang="en-US" sz="3000">
              <a:ea typeface="Calibri Light"/>
              <a:cs typeface="Calibri Light"/>
            </a:endParaRP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C4E2ADD-C118-4DE7-EF6D-9D0813D3E563}"/>
              </a:ext>
            </a:extLst>
          </p:cNvPr>
          <p:cNvSpPr/>
          <p:nvPr/>
        </p:nvSpPr>
        <p:spPr>
          <a:xfrm rot="5400000">
            <a:off x="5639893" y="5456868"/>
            <a:ext cx="457200" cy="36576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5E3C1D-6AA6-616D-F999-796139C55961}"/>
              </a:ext>
            </a:extLst>
          </p:cNvPr>
          <p:cNvSpPr txBox="1"/>
          <p:nvPr/>
        </p:nvSpPr>
        <p:spPr>
          <a:xfrm>
            <a:off x="454067" y="905022"/>
            <a:ext cx="2456399" cy="2154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1440" tIns="0" rIns="0" bIns="0" rtlCol="0" anchor="t">
            <a:spAutoFit/>
          </a:bodyPr>
          <a:lstStyle/>
          <a:p>
            <a:pPr algn="ctr"/>
            <a:r>
              <a:rPr lang="en-US" sz="1400" b="1"/>
              <a:t>Projected </a:t>
            </a:r>
            <a:r>
              <a:rPr lang="en-US" sz="1400" b="1">
                <a:ea typeface="+mn-lt"/>
                <a:cs typeface="+mn-lt"/>
              </a:rPr>
              <a:t>EHO4AII Star</a:t>
            </a:r>
            <a:r>
              <a:rPr lang="en-US" sz="1400" b="1"/>
              <a:t> Rating</a:t>
            </a:r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68ED98-4E2A-BD04-7121-8159AC79CD76}"/>
              </a:ext>
            </a:extLst>
          </p:cNvPr>
          <p:cNvSpPr txBox="1"/>
          <p:nvPr/>
        </p:nvSpPr>
        <p:spPr>
          <a:xfrm>
            <a:off x="385662" y="4859820"/>
            <a:ext cx="9495143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0" rIns="0" bIns="0" rtlCol="0" anchor="t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What-If Scenario Planner – Slide your way from assumptions to outcomes</a:t>
            </a:r>
          </a:p>
        </p:txBody>
      </p:sp>
      <p:pic>
        <p:nvPicPr>
          <p:cNvPr id="9" name="Picture 8" descr="Golden star icon 13743605 PNG">
            <a:extLst>
              <a:ext uri="{FF2B5EF4-FFF2-40B4-BE49-F238E27FC236}">
                <a16:creationId xmlns:a16="http://schemas.microsoft.com/office/drawing/2014/main" id="{9F4006BD-5BBF-B09A-D56C-67396EA35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925" y="1305427"/>
            <a:ext cx="306807" cy="336884"/>
          </a:xfrm>
          <a:prstGeom prst="rect">
            <a:avLst/>
          </a:prstGeom>
        </p:spPr>
      </p:pic>
      <p:pic>
        <p:nvPicPr>
          <p:cNvPr id="12" name="Picture 11" descr="Golden star icon 13743605 PNG">
            <a:extLst>
              <a:ext uri="{FF2B5EF4-FFF2-40B4-BE49-F238E27FC236}">
                <a16:creationId xmlns:a16="http://schemas.microsoft.com/office/drawing/2014/main" id="{A55E42DC-4AFF-4E40-1D5B-4FC9027D6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925" y="1796716"/>
            <a:ext cx="306807" cy="3368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910F56-0EF5-9E4F-5F3A-BBE8BA7A98E2}"/>
              </a:ext>
            </a:extLst>
          </p:cNvPr>
          <p:cNvSpPr txBox="1"/>
          <p:nvPr/>
        </p:nvSpPr>
        <p:spPr>
          <a:xfrm>
            <a:off x="2566736" y="1373605"/>
            <a:ext cx="27432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3.5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09B41A-CE89-66D9-05DC-E6700A9DE788}"/>
              </a:ext>
            </a:extLst>
          </p:cNvPr>
          <p:cNvSpPr txBox="1"/>
          <p:nvPr/>
        </p:nvSpPr>
        <p:spPr>
          <a:xfrm>
            <a:off x="2566736" y="1864894"/>
            <a:ext cx="27432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D74ED-A172-DA0A-270E-F0C2E282B118}"/>
              </a:ext>
            </a:extLst>
          </p:cNvPr>
          <p:cNvSpPr txBox="1"/>
          <p:nvPr/>
        </p:nvSpPr>
        <p:spPr>
          <a:xfrm>
            <a:off x="200524" y="1263314"/>
            <a:ext cx="205138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Projected </a:t>
            </a:r>
            <a:br>
              <a:rPr lang="en-US" sz="1400">
                <a:latin typeface="Calibri"/>
                <a:ea typeface="Calibri"/>
                <a:cs typeface="Calibri"/>
              </a:rPr>
            </a:br>
            <a:r>
              <a:rPr lang="en-US" sz="1400">
                <a:latin typeface="Calibri"/>
                <a:ea typeface="Calibri"/>
                <a:cs typeface="Calibri"/>
              </a:rPr>
              <a:t>(Without Intervention)</a:t>
            </a:r>
            <a:endParaRPr lang="en-US" sz="14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FF692A-E21C-7D41-64CA-9A49324794B2}"/>
              </a:ext>
            </a:extLst>
          </p:cNvPr>
          <p:cNvSpPr txBox="1"/>
          <p:nvPr/>
        </p:nvSpPr>
        <p:spPr>
          <a:xfrm>
            <a:off x="200525" y="1754603"/>
            <a:ext cx="205138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Projected </a:t>
            </a:r>
            <a:br>
              <a:rPr lang="en-US" sz="1400">
                <a:latin typeface="Calibri"/>
                <a:ea typeface="Calibri"/>
                <a:cs typeface="Calibri"/>
              </a:rPr>
            </a:br>
            <a:r>
              <a:rPr lang="en-US" sz="1400">
                <a:latin typeface="Calibri"/>
                <a:ea typeface="Calibri"/>
                <a:cs typeface="Calibri"/>
              </a:rPr>
              <a:t>(With Intervention)</a:t>
            </a:r>
            <a:endParaRPr lang="en-US" sz="14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EC039A-20B6-E385-92E0-E7D71CD79B3C}"/>
              </a:ext>
            </a:extLst>
          </p:cNvPr>
          <p:cNvSpPr txBox="1"/>
          <p:nvPr/>
        </p:nvSpPr>
        <p:spPr>
          <a:xfrm>
            <a:off x="3010778" y="2188390"/>
            <a:ext cx="2456399" cy="2154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1440" tIns="0" rIns="0" bIns="0" rtlCol="0" anchor="t">
            <a:spAutoFit/>
          </a:bodyPr>
          <a:lstStyle/>
          <a:p>
            <a:pPr algn="ctr"/>
            <a:r>
              <a:rPr lang="en-US" sz="1400" b="1"/>
              <a:t>HEI Scorecard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4085E0-378B-1BA7-8CF6-91F66DEDFAEC}"/>
              </a:ext>
            </a:extLst>
          </p:cNvPr>
          <p:cNvSpPr txBox="1"/>
          <p:nvPr/>
        </p:nvSpPr>
        <p:spPr>
          <a:xfrm>
            <a:off x="3007893" y="2496550"/>
            <a:ext cx="245243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   HEI Score     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Below Average</a:t>
            </a:r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B1003F-BD8D-C4F8-783E-F2D5709C36F8}"/>
              </a:ext>
            </a:extLst>
          </p:cNvPr>
          <p:cNvSpPr txBox="1"/>
          <p:nvPr/>
        </p:nvSpPr>
        <p:spPr>
          <a:xfrm>
            <a:off x="3007893" y="2777286"/>
            <a:ext cx="245243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Reward Status       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Not On Track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9A6060-6926-BAA7-77C1-EB423B6FD3E8}"/>
              </a:ext>
            </a:extLst>
          </p:cNvPr>
          <p:cNvSpPr txBox="1"/>
          <p:nvPr/>
        </p:nvSpPr>
        <p:spPr>
          <a:xfrm>
            <a:off x="5567487" y="3301310"/>
            <a:ext cx="2456399" cy="2154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1440" tIns="0" rIns="0" bIns="0" rtlCol="0" anchor="t">
            <a:spAutoFit/>
          </a:bodyPr>
          <a:lstStyle/>
          <a:p>
            <a:pPr algn="ctr"/>
            <a:r>
              <a:rPr lang="en-US" sz="1400" b="1"/>
              <a:t>Revenue Impact</a:t>
            </a:r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059C3F-977D-4853-D83B-3AF7CE32630C}"/>
              </a:ext>
            </a:extLst>
          </p:cNvPr>
          <p:cNvSpPr txBox="1"/>
          <p:nvPr/>
        </p:nvSpPr>
        <p:spPr>
          <a:xfrm>
            <a:off x="4983077" y="3569366"/>
            <a:ext cx="3675648" cy="1016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Calibri"/>
                <a:ea typeface="Calibri"/>
                <a:cs typeface="Calibri"/>
              </a:rPr>
              <a:t>                                   Current    Post Intervention</a:t>
            </a:r>
            <a:br>
              <a:rPr lang="en-US" sz="1400">
                <a:latin typeface="Calibri"/>
                <a:ea typeface="Calibri"/>
                <a:cs typeface="Calibri"/>
              </a:rPr>
            </a:br>
            <a:r>
              <a:rPr lang="en-US" sz="1400">
                <a:latin typeface="Calibri"/>
                <a:ea typeface="Calibri"/>
                <a:cs typeface="Calibri"/>
              </a:rPr>
              <a:t>Revenue at Risk       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-$50M</a:t>
            </a:r>
            <a:r>
              <a:rPr lang="en-US" sz="1400">
                <a:latin typeface="Calibri"/>
                <a:ea typeface="Calibri"/>
                <a:cs typeface="Calibri"/>
              </a:rPr>
              <a:t>              </a:t>
            </a:r>
            <a:r>
              <a:rPr lang="en-US" sz="140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+$45M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1400">
                <a:ea typeface="Calibri"/>
                <a:cs typeface="Calibri"/>
              </a:rPr>
              <a:t>QBP Eligibility               </a:t>
            </a:r>
          </a:p>
        </p:txBody>
      </p:sp>
      <p:pic>
        <p:nvPicPr>
          <p:cNvPr id="32" name="Graphic 31" descr="Badge Cross with solid fill">
            <a:extLst>
              <a:ext uri="{FF2B5EF4-FFF2-40B4-BE49-F238E27FC236}">
                <a16:creationId xmlns:a16="http://schemas.microsoft.com/office/drawing/2014/main" id="{DA7C3B4C-A071-B49E-4593-A0D883094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1300" y="4315324"/>
            <a:ext cx="302795" cy="312822"/>
          </a:xfrm>
          <a:prstGeom prst="rect">
            <a:avLst/>
          </a:prstGeom>
        </p:spPr>
      </p:pic>
      <p:pic>
        <p:nvPicPr>
          <p:cNvPr id="33" name="Graphic 32" descr="Checkmark with solid fill">
            <a:extLst>
              <a:ext uri="{FF2B5EF4-FFF2-40B4-BE49-F238E27FC236}">
                <a16:creationId xmlns:a16="http://schemas.microsoft.com/office/drawing/2014/main" id="{6B0F2CEF-88D9-C189-F29C-D46B68829E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44063" y="4315326"/>
            <a:ext cx="302796" cy="31282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3829439-11A8-ACD1-5886-28B3240C65AC}"/>
              </a:ext>
            </a:extLst>
          </p:cNvPr>
          <p:cNvSpPr txBox="1"/>
          <p:nvPr/>
        </p:nvSpPr>
        <p:spPr>
          <a:xfrm>
            <a:off x="1243263" y="6136105"/>
            <a:ext cx="9701461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 i="1">
                <a:latin typeface="Calibri"/>
                <a:ea typeface="Calibri"/>
                <a:cs typeface="Calibri"/>
              </a:rPr>
              <a:t>"Machine Learning transforms stars management from retrospective reporting to real time financial command"</a:t>
            </a:r>
            <a:endParaRPr lang="en-US" sz="1400" b="1" i="1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747B87-6CF5-9F27-39FD-D560277800F8}"/>
              </a:ext>
            </a:extLst>
          </p:cNvPr>
          <p:cNvSpPr txBox="1"/>
          <p:nvPr/>
        </p:nvSpPr>
        <p:spPr>
          <a:xfrm>
            <a:off x="3288631" y="1473867"/>
            <a:ext cx="633261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latin typeface="Calibri"/>
                <a:ea typeface="Calibri"/>
                <a:cs typeface="Calibri"/>
              </a:rPr>
              <a:t>From static reports to predictive foresight – see your stars future before CMS does!</a:t>
            </a:r>
            <a:endParaRPr lang="en-US" i="1">
              <a:ea typeface="Calibri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7B7C53-A46C-CA7A-A976-9AFA08BB152C}"/>
              </a:ext>
            </a:extLst>
          </p:cNvPr>
          <p:cNvSpPr txBox="1"/>
          <p:nvPr/>
        </p:nvSpPr>
        <p:spPr>
          <a:xfrm>
            <a:off x="5865394" y="2406314"/>
            <a:ext cx="6051881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latin typeface="Calibri"/>
                <a:ea typeface="Calibri"/>
                <a:cs typeface="Calibri"/>
              </a:rPr>
              <a:t>Equity isn't just ethical – it's profitable!</a:t>
            </a:r>
            <a:endParaRPr lang="en-US" i="1">
              <a:ea typeface="Calibri"/>
              <a:cs typeface="Calibr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FDA8FA-4DF7-A852-70D1-B70B1EF6B610}"/>
              </a:ext>
            </a:extLst>
          </p:cNvPr>
          <p:cNvSpPr txBox="1"/>
          <p:nvPr/>
        </p:nvSpPr>
        <p:spPr>
          <a:xfrm>
            <a:off x="8662736" y="3860129"/>
            <a:ext cx="306403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i="1">
                <a:latin typeface="Calibri"/>
                <a:ea typeface="Calibri"/>
                <a:cs typeface="Calibri"/>
              </a:rPr>
              <a:t>Every decimal in stars is </a:t>
            </a:r>
            <a:br>
              <a:rPr lang="en-US" sz="1400" i="1">
                <a:latin typeface="Calibri"/>
                <a:ea typeface="Calibri"/>
                <a:cs typeface="Calibri"/>
              </a:rPr>
            </a:br>
            <a:r>
              <a:rPr lang="en-US" sz="1400" i="1">
                <a:latin typeface="Calibri"/>
                <a:ea typeface="Calibri"/>
                <a:cs typeface="Calibri"/>
              </a:rPr>
              <a:t>millions in revenue – and reputation!</a:t>
            </a:r>
            <a:endParaRPr lang="en-US" i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CF82CF-97A0-FE41-65CF-E3CFF82FDA9B}"/>
              </a:ext>
            </a:extLst>
          </p:cNvPr>
          <p:cNvSpPr txBox="1"/>
          <p:nvPr/>
        </p:nvSpPr>
        <p:spPr>
          <a:xfrm>
            <a:off x="862262" y="5414210"/>
            <a:ext cx="4197014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Calibri"/>
                <a:ea typeface="Calibri"/>
                <a:cs typeface="Calibri"/>
              </a:rPr>
              <a:t>Model the </a:t>
            </a:r>
            <a:r>
              <a:rPr lang="en-US" sz="1600" b="1">
                <a:latin typeface="Calibri"/>
                <a:ea typeface="Calibri"/>
                <a:cs typeface="Calibri"/>
              </a:rPr>
              <a:t>improvement </a:t>
            </a:r>
            <a:r>
              <a:rPr lang="en-US" sz="1600">
                <a:latin typeface="Calibri"/>
                <a:ea typeface="Calibri"/>
                <a:cs typeface="Calibri"/>
              </a:rPr>
              <a:t>in any stars measure – screenings, adherence, or vaccines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74C50E-B514-8608-A206-B6E8FB29CEC7}"/>
              </a:ext>
            </a:extLst>
          </p:cNvPr>
          <p:cNvSpPr txBox="1"/>
          <p:nvPr/>
        </p:nvSpPr>
        <p:spPr>
          <a:xfrm>
            <a:off x="6958262" y="5394157"/>
            <a:ext cx="3866146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Calibri"/>
                <a:ea typeface="Calibri"/>
                <a:cs typeface="Calibri"/>
              </a:rPr>
              <a:t>Instantly </a:t>
            </a:r>
            <a:r>
              <a:rPr lang="en-US" sz="1600">
                <a:latin typeface="Calibri"/>
                <a:ea typeface="Calibri"/>
                <a:cs typeface="Calibri"/>
              </a:rPr>
              <a:t>see projected stars lift and financial upside in real time</a:t>
            </a:r>
            <a:endParaRPr lang="en-US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512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A2414-BA4F-8760-76D3-8D304DFB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2F491B-F454-A509-BE64-F23BE04EC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278843"/>
            <a:ext cx="11277600" cy="672567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3000"/>
              <a:t>Act II – From </a:t>
            </a:r>
            <a:r>
              <a:rPr lang="en-US" sz="3000" i="1"/>
              <a:t>What </a:t>
            </a:r>
            <a:r>
              <a:rPr lang="en-US" sz="3000"/>
              <a:t>Happened to </a:t>
            </a:r>
            <a:r>
              <a:rPr lang="en-US" sz="3000" i="1"/>
              <a:t>Why </a:t>
            </a:r>
            <a:r>
              <a:rPr lang="en-US" sz="3000"/>
              <a:t>it Happened: </a:t>
            </a:r>
            <a:r>
              <a:rPr lang="en-US" sz="3000" b="1"/>
              <a:t>Equity Gap Explorer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669D7C-D60B-781C-0BC5-2B561D1C5FC4}"/>
              </a:ext>
            </a:extLst>
          </p:cNvPr>
          <p:cNvSpPr txBox="1"/>
          <p:nvPr/>
        </p:nvSpPr>
        <p:spPr>
          <a:xfrm>
            <a:off x="1095751" y="1255944"/>
            <a:ext cx="2456399" cy="2154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1440" tIns="0" rIns="0" bIns="0" rtlCol="0" anchor="t">
            <a:spAutoFit/>
          </a:bodyPr>
          <a:lstStyle/>
          <a:p>
            <a:pPr algn="ctr"/>
            <a:r>
              <a:rPr lang="en-US" sz="1400" b="1"/>
              <a:t>Measure Disparity Analysis</a:t>
            </a:r>
            <a:endParaRPr lang="en-US">
              <a:ea typeface="Calibri"/>
              <a:cs typeface="Calibri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F7AB71B-9FB9-B376-E6A1-BE1F1612DA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4858287"/>
              </p:ext>
            </p:extLst>
          </p:nvPr>
        </p:nvGraphicFramePr>
        <p:xfrm>
          <a:off x="541421" y="2117726"/>
          <a:ext cx="3569371" cy="1549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A1545AF-EB96-1181-5E05-2C5B5046E591}"/>
              </a:ext>
            </a:extLst>
          </p:cNvPr>
          <p:cNvSpPr txBox="1"/>
          <p:nvPr/>
        </p:nvSpPr>
        <p:spPr>
          <a:xfrm>
            <a:off x="1975184" y="5364079"/>
            <a:ext cx="823762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i="1">
                <a:latin typeface="Calibri"/>
                <a:ea typeface="Calibri"/>
                <a:cs typeface="Calibri"/>
              </a:rPr>
              <a:t>"We found the WHY. The problem isn't systemic – it's localized, concentrated and actionable."</a:t>
            </a:r>
            <a:endParaRPr lang="en-US" sz="1600" b="1" i="1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2DE138-2043-9D4E-20BC-3E80320C0928}"/>
              </a:ext>
            </a:extLst>
          </p:cNvPr>
          <p:cNvSpPr txBox="1"/>
          <p:nvPr/>
        </p:nvSpPr>
        <p:spPr>
          <a:xfrm>
            <a:off x="4875672" y="1255944"/>
            <a:ext cx="2456399" cy="2154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1440" tIns="0" rIns="0" bIns="0" rtlCol="0" anchor="t">
            <a:spAutoFit/>
          </a:bodyPr>
          <a:lstStyle/>
          <a:p>
            <a:pPr algn="ctr"/>
            <a:r>
              <a:rPr lang="en-US" sz="1400" b="1"/>
              <a:t>Predictive Risk Stratification</a:t>
            </a:r>
            <a:endParaRPr lang="en-US"/>
          </a:p>
        </p:txBody>
      </p:sp>
      <p:pic>
        <p:nvPicPr>
          <p:cNvPr id="20" name="Picture 19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6CBE9347-814D-31C1-E6A5-C3E66F209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573" y="1576639"/>
            <a:ext cx="3222457" cy="26319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F9469DB-47D1-1010-5208-2BD31DCA7310}"/>
              </a:ext>
            </a:extLst>
          </p:cNvPr>
          <p:cNvSpPr txBox="1"/>
          <p:nvPr/>
        </p:nvSpPr>
        <p:spPr>
          <a:xfrm>
            <a:off x="8655593" y="1255944"/>
            <a:ext cx="2456399" cy="2154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1440" tIns="0" rIns="0" bIns="0" rtlCol="0" anchor="t">
            <a:spAutoFit/>
          </a:bodyPr>
          <a:lstStyle/>
          <a:p>
            <a:pPr algn="ctr"/>
            <a:r>
              <a:rPr lang="en-US" sz="1400" b="1"/>
              <a:t>Geospatial &amp; </a:t>
            </a:r>
            <a:r>
              <a:rPr lang="en-US" sz="1400" b="1" err="1"/>
              <a:t>SDoH</a:t>
            </a:r>
            <a:r>
              <a:rPr lang="en-US" sz="1400" b="1"/>
              <a:t> Overlay</a:t>
            </a:r>
            <a:endParaRPr lang="en-US"/>
          </a:p>
        </p:txBody>
      </p:sp>
      <p:pic>
        <p:nvPicPr>
          <p:cNvPr id="25" name="Picture 24" descr="Choropleth Map By Zip Code Python - Ucsd Spring Break 2024">
            <a:extLst>
              <a:ext uri="{FF2B5EF4-FFF2-40B4-BE49-F238E27FC236}">
                <a16:creationId xmlns:a16="http://schemas.microsoft.com/office/drawing/2014/main" id="{4AFB6FC3-8ECB-78D2-B20E-C0F443900D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" t="14910" r="22487" b="7712"/>
          <a:stretch>
            <a:fillRect/>
          </a:stretch>
        </p:blipFill>
        <p:spPr>
          <a:xfrm>
            <a:off x="8224461" y="1927559"/>
            <a:ext cx="3063405" cy="192893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B2FD277-9BA5-B147-FD3F-6B2FF585A2E4}"/>
              </a:ext>
            </a:extLst>
          </p:cNvPr>
          <p:cNvSpPr txBox="1"/>
          <p:nvPr/>
        </p:nvSpPr>
        <p:spPr>
          <a:xfrm>
            <a:off x="4241132" y="4341395"/>
            <a:ext cx="35453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i="1">
                <a:latin typeface="Calibri"/>
                <a:ea typeface="Calibri"/>
                <a:cs typeface="Calibri"/>
              </a:rPr>
              <a:t>AI pinpoints the small cohort of members driving majority of the gap combined with the likelihood to respond to targeted interventions.</a:t>
            </a:r>
            <a:endParaRPr lang="en-US" sz="1400" i="1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525D89-2A18-79BD-DBDE-0B1B32F08A2C}"/>
              </a:ext>
            </a:extLst>
          </p:cNvPr>
          <p:cNvSpPr txBox="1"/>
          <p:nvPr/>
        </p:nvSpPr>
        <p:spPr>
          <a:xfrm>
            <a:off x="551447" y="4401552"/>
            <a:ext cx="354530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i="1">
                <a:latin typeface="Calibri"/>
                <a:ea typeface="Calibri"/>
                <a:cs typeface="Calibri"/>
              </a:rPr>
              <a:t>Identify and prioritize measures where targeted improvement yields maximum stars impact.</a:t>
            </a:r>
            <a:endParaRPr lang="en-US" sz="1400" i="1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D828BD-ACD3-71AE-C02F-321DA4FB5FCF}"/>
              </a:ext>
            </a:extLst>
          </p:cNvPr>
          <p:cNvSpPr txBox="1"/>
          <p:nvPr/>
        </p:nvSpPr>
        <p:spPr>
          <a:xfrm>
            <a:off x="8111289" y="4401552"/>
            <a:ext cx="354530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i="1">
                <a:latin typeface="Calibri"/>
                <a:ea typeface="Calibri"/>
                <a:cs typeface="Calibri"/>
              </a:rPr>
              <a:t>The challenge isn't everywhere – its concentrated and solvable.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4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A55B-A0C5-BB1C-FE5A-D13C71FBA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5A4CE9-B002-9E34-B7F0-4D3CACE30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278843"/>
            <a:ext cx="11277600" cy="672567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3000"/>
              <a:t>Act III – From Insight to Action: </a:t>
            </a:r>
            <a:r>
              <a:rPr lang="en-US" sz="3000" b="1"/>
              <a:t>Smart Workbench</a:t>
            </a:r>
            <a:endParaRPr lang="en-US" sz="3000" b="1">
              <a:ea typeface="Calibri Light"/>
              <a:cs typeface="Calibri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E2B09D-5CE1-ED3B-482D-60A5690B7D4D}"/>
              </a:ext>
            </a:extLst>
          </p:cNvPr>
          <p:cNvSpPr txBox="1"/>
          <p:nvPr/>
        </p:nvSpPr>
        <p:spPr>
          <a:xfrm>
            <a:off x="4242822" y="3179067"/>
            <a:ext cx="355545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i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Care teams act faster, smarter, </a:t>
            </a:r>
            <a:br>
              <a:rPr lang="en-US" b="1" i="1">
                <a:solidFill>
                  <a:schemeClr val="tx2"/>
                </a:solidFill>
                <a:latin typeface="Calibri"/>
                <a:ea typeface="Calibri"/>
                <a:cs typeface="Calibri"/>
              </a:rPr>
            </a:br>
            <a:r>
              <a:rPr lang="en-US" b="1" i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and with measurable impact</a:t>
            </a:r>
          </a:p>
        </p:txBody>
      </p:sp>
      <p:pic>
        <p:nvPicPr>
          <p:cNvPr id="2" name="Graphic 1" descr="Clipboard Checked outline">
            <a:extLst>
              <a:ext uri="{FF2B5EF4-FFF2-40B4-BE49-F238E27FC236}">
                <a16:creationId xmlns:a16="http://schemas.microsoft.com/office/drawing/2014/main" id="{0B556087-71FF-DF29-D27A-7C5D948CA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4366" y="1181559"/>
            <a:ext cx="1263267" cy="1254086"/>
          </a:xfrm>
          <a:prstGeom prst="rect">
            <a:avLst/>
          </a:prstGeom>
        </p:spPr>
      </p:pic>
      <p:pic>
        <p:nvPicPr>
          <p:cNvPr id="3" name="Graphic 2" descr="Home1 with solid fill">
            <a:extLst>
              <a:ext uri="{FF2B5EF4-FFF2-40B4-BE49-F238E27FC236}">
                <a16:creationId xmlns:a16="http://schemas.microsoft.com/office/drawing/2014/main" id="{F94DBFFC-83C2-8DBC-9946-A559E55EA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8077" y="3926595"/>
            <a:ext cx="363557" cy="372738"/>
          </a:xfrm>
          <a:prstGeom prst="rect">
            <a:avLst/>
          </a:prstGeom>
        </p:spPr>
      </p:pic>
      <p:pic>
        <p:nvPicPr>
          <p:cNvPr id="4" name="Graphic 3" descr="Car with solid fill">
            <a:extLst>
              <a:ext uri="{FF2B5EF4-FFF2-40B4-BE49-F238E27FC236}">
                <a16:creationId xmlns:a16="http://schemas.microsoft.com/office/drawing/2014/main" id="{60969E0F-E204-2273-AC01-537EFF528A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8076" y="4376451"/>
            <a:ext cx="363558" cy="473726"/>
          </a:xfrm>
          <a:prstGeom prst="rect">
            <a:avLst/>
          </a:prstGeom>
        </p:spPr>
      </p:pic>
      <p:pic>
        <p:nvPicPr>
          <p:cNvPr id="8" name="Graphic 7" descr="Receiver with solid fill">
            <a:extLst>
              <a:ext uri="{FF2B5EF4-FFF2-40B4-BE49-F238E27FC236}">
                <a16:creationId xmlns:a16="http://schemas.microsoft.com/office/drawing/2014/main" id="{6F62D7D1-C805-EBDE-CA87-CE71D1C8EA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88076" y="4927294"/>
            <a:ext cx="363557" cy="3451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4CD7F1-B67B-C64E-416D-A29EC9191747}"/>
              </a:ext>
            </a:extLst>
          </p:cNvPr>
          <p:cNvSpPr txBox="1"/>
          <p:nvPr/>
        </p:nvSpPr>
        <p:spPr>
          <a:xfrm>
            <a:off x="8474169" y="4040605"/>
            <a:ext cx="338584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Calibri"/>
                <a:ea typeface="Calibri"/>
                <a:cs typeface="Calibri"/>
              </a:rPr>
              <a:t>Mail at-home test kit (82% predicted success)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1B7128-D395-A83B-2447-302723E6D10F}"/>
              </a:ext>
            </a:extLst>
          </p:cNvPr>
          <p:cNvSpPr txBox="1"/>
          <p:nvPr/>
        </p:nvSpPr>
        <p:spPr>
          <a:xfrm>
            <a:off x="8474168" y="4499641"/>
            <a:ext cx="338584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Calibri"/>
                <a:ea typeface="Calibri"/>
                <a:cs typeface="Calibri"/>
              </a:rPr>
              <a:t>Offer transportation to clinic (65%)</a:t>
            </a:r>
            <a:endParaRPr lang="en-US" sz="14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7BE443-C000-F505-6C67-3C86A92BEBD9}"/>
              </a:ext>
            </a:extLst>
          </p:cNvPr>
          <p:cNvSpPr txBox="1"/>
          <p:nvPr/>
        </p:nvSpPr>
        <p:spPr>
          <a:xfrm>
            <a:off x="8474169" y="4986219"/>
            <a:ext cx="338584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Calibri"/>
                <a:ea typeface="Calibri"/>
                <a:cs typeface="Calibri"/>
              </a:rPr>
              <a:t>Follow-up call in 7 days (57%)</a:t>
            </a:r>
            <a:endParaRPr lang="en-US" sz="14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3" name="Thought Bubble: Cloud 12">
            <a:extLst>
              <a:ext uri="{FF2B5EF4-FFF2-40B4-BE49-F238E27FC236}">
                <a16:creationId xmlns:a16="http://schemas.microsoft.com/office/drawing/2014/main" id="{D813F9BA-F0FE-2E9C-5D1E-FB05717D650E}"/>
              </a:ext>
            </a:extLst>
          </p:cNvPr>
          <p:cNvSpPr/>
          <p:nvPr/>
        </p:nvSpPr>
        <p:spPr>
          <a:xfrm>
            <a:off x="796543" y="3623598"/>
            <a:ext cx="3457457" cy="2035658"/>
          </a:xfrm>
          <a:prstGeom prst="cloudCallou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42D54C-0651-0994-B96D-9AE9000F67D2}"/>
              </a:ext>
            </a:extLst>
          </p:cNvPr>
          <p:cNvSpPr txBox="1"/>
          <p:nvPr/>
        </p:nvSpPr>
        <p:spPr>
          <a:xfrm>
            <a:off x="1298467" y="4264444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Calibri"/>
                <a:ea typeface="Calibri"/>
                <a:cs typeface="Calibri"/>
              </a:rPr>
              <a:t>"I have transportation issues"</a:t>
            </a:r>
            <a:br>
              <a:rPr lang="en-US" sz="1400">
                <a:latin typeface="Calibri"/>
                <a:ea typeface="Calibri"/>
                <a:cs typeface="Calibri"/>
              </a:rPr>
            </a:br>
            <a:br>
              <a:rPr lang="en-US" sz="140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</a:br>
            <a:r>
              <a:rPr lang="en-US" sz="1400">
                <a:latin typeface="Calibri"/>
                <a:ea typeface="Calibri"/>
                <a:cs typeface="Calibri"/>
              </a:rPr>
              <a:t>"Anxious about screenings"</a:t>
            </a:r>
            <a:endParaRPr lang="en-US" sz="14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5E3ABE0-0869-F569-FA90-5CD40DC06BF8}"/>
              </a:ext>
            </a:extLst>
          </p:cNvPr>
          <p:cNvCxnSpPr>
            <a:cxnSpLocks/>
          </p:cNvCxnSpPr>
          <p:nvPr/>
        </p:nvCxnSpPr>
        <p:spPr>
          <a:xfrm flipH="1" flipV="1">
            <a:off x="4683293" y="4532896"/>
            <a:ext cx="2825413" cy="80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517219-666E-6D07-F924-23AFCB790CC3}"/>
              </a:ext>
            </a:extLst>
          </p:cNvPr>
          <p:cNvCxnSpPr>
            <a:cxnSpLocks/>
          </p:cNvCxnSpPr>
          <p:nvPr/>
        </p:nvCxnSpPr>
        <p:spPr>
          <a:xfrm flipV="1">
            <a:off x="3137233" y="1845842"/>
            <a:ext cx="1947112" cy="158215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3419B4-0227-C77B-2881-A917CA6BAF5C}"/>
              </a:ext>
            </a:extLst>
          </p:cNvPr>
          <p:cNvCxnSpPr/>
          <p:nvPr/>
        </p:nvCxnSpPr>
        <p:spPr>
          <a:xfrm>
            <a:off x="6957260" y="1843839"/>
            <a:ext cx="1947112" cy="157613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Badge 3 outline">
            <a:extLst>
              <a:ext uri="{FF2B5EF4-FFF2-40B4-BE49-F238E27FC236}">
                <a16:creationId xmlns:a16="http://schemas.microsoft.com/office/drawing/2014/main" id="{AFF0FCD2-A31C-C1A0-CC5D-B134174B94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4535" y="2310061"/>
            <a:ext cx="433139" cy="403059"/>
          </a:xfrm>
          <a:prstGeom prst="rect">
            <a:avLst/>
          </a:prstGeom>
        </p:spPr>
      </p:pic>
      <p:pic>
        <p:nvPicPr>
          <p:cNvPr id="31" name="Graphic 30" descr="Badge outline">
            <a:extLst>
              <a:ext uri="{FF2B5EF4-FFF2-40B4-BE49-F238E27FC236}">
                <a16:creationId xmlns:a16="http://schemas.microsoft.com/office/drawing/2014/main" id="{F90C7AF2-0EE6-1E02-7AA2-EA1D72F4BF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05700" y="5591175"/>
            <a:ext cx="443164" cy="413088"/>
          </a:xfrm>
          <a:prstGeom prst="rect">
            <a:avLst/>
          </a:prstGeom>
        </p:spPr>
      </p:pic>
      <p:pic>
        <p:nvPicPr>
          <p:cNvPr id="32" name="Graphic 31" descr="Badge 1 outline">
            <a:extLst>
              <a:ext uri="{FF2B5EF4-FFF2-40B4-BE49-F238E27FC236}">
                <a16:creationId xmlns:a16="http://schemas.microsoft.com/office/drawing/2014/main" id="{08777340-D37F-0229-B2E0-6A39FCAF867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519235" y="2224838"/>
            <a:ext cx="443165" cy="41308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3C14A93-CB02-2FF7-E532-653785230C81}"/>
              </a:ext>
            </a:extLst>
          </p:cNvPr>
          <p:cNvSpPr txBox="1"/>
          <p:nvPr/>
        </p:nvSpPr>
        <p:spPr>
          <a:xfrm>
            <a:off x="8281736" y="2225842"/>
            <a:ext cx="337485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>
                <a:latin typeface="Calibri"/>
                <a:ea typeface="Calibri"/>
                <a:cs typeface="Calibri"/>
              </a:rPr>
              <a:t>From the thousand names to the 50 that </a:t>
            </a:r>
            <a:br>
              <a:rPr lang="en-US" sz="1400" b="1" i="1">
                <a:latin typeface="Calibri"/>
                <a:ea typeface="Calibri"/>
                <a:cs typeface="Calibri"/>
              </a:rPr>
            </a:br>
            <a:r>
              <a:rPr lang="en-US" sz="1400" b="1" i="1">
                <a:latin typeface="Calibri"/>
                <a:ea typeface="Calibri"/>
                <a:cs typeface="Calibri"/>
              </a:rPr>
              <a:t>matter most today.</a:t>
            </a:r>
            <a:endParaRPr lang="en-US" sz="1400" b="1" i="1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B53C5F1-CC3A-1A10-7A17-97DB792E9E28}"/>
              </a:ext>
            </a:extLst>
          </p:cNvPr>
          <p:cNvSpPr/>
          <p:nvPr/>
        </p:nvSpPr>
        <p:spPr>
          <a:xfrm>
            <a:off x="7804484" y="3924301"/>
            <a:ext cx="4243137" cy="1485899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40E72E-7DD9-1EEE-328A-6037115D2B73}"/>
              </a:ext>
            </a:extLst>
          </p:cNvPr>
          <p:cNvSpPr txBox="1"/>
          <p:nvPr/>
        </p:nvSpPr>
        <p:spPr>
          <a:xfrm>
            <a:off x="4020550" y="5594685"/>
            <a:ext cx="413685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>
                <a:latin typeface="Calibri"/>
                <a:ea typeface="Calibri"/>
                <a:cs typeface="Calibri"/>
              </a:rPr>
              <a:t>Every member. Every outreach. Evidence based. </a:t>
            </a:r>
            <a:br>
              <a:rPr lang="en-US" sz="1400" b="1" i="1">
                <a:latin typeface="Calibri"/>
                <a:ea typeface="Calibri"/>
                <a:cs typeface="Calibri"/>
              </a:rPr>
            </a:br>
            <a:r>
              <a:rPr lang="en-US" sz="1400" b="1" i="1">
                <a:latin typeface="Calibri"/>
                <a:ea typeface="Calibri"/>
                <a:cs typeface="Calibri"/>
              </a:rPr>
              <a:t>No guesswork – all powered by predictive intelligence </a:t>
            </a:r>
            <a:endParaRPr lang="en-US" sz="1400" b="1" i="1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8A0BE7-6965-A05A-3192-4574A8FEB2F5}"/>
              </a:ext>
            </a:extLst>
          </p:cNvPr>
          <p:cNvSpPr txBox="1"/>
          <p:nvPr/>
        </p:nvSpPr>
        <p:spPr>
          <a:xfrm>
            <a:off x="641682" y="2296026"/>
            <a:ext cx="397643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>
                <a:latin typeface="Calibri"/>
                <a:ea typeface="Calibri"/>
                <a:cs typeface="Calibri"/>
              </a:rPr>
              <a:t>Hidden barriers surfaced automatically, making outreach more empathetic and effective.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19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276F-8F52-6DFB-989A-7942EFF9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0F9C5A-AADB-368A-810E-F6BC95715D63}"/>
              </a:ext>
            </a:extLst>
          </p:cNvPr>
          <p:cNvSpPr/>
          <p:nvPr/>
        </p:nvSpPr>
        <p:spPr>
          <a:xfrm>
            <a:off x="385662" y="4475369"/>
            <a:ext cx="11349137" cy="7646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E7B2D2-AC7B-E60C-8647-BBAE1FF75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59054"/>
            <a:ext cx="11277600" cy="672567"/>
          </a:xfrm>
        </p:spPr>
        <p:txBody>
          <a:bodyPr>
            <a:normAutofit fontScale="90000"/>
          </a:bodyPr>
          <a:lstStyle/>
          <a:p>
            <a:r>
              <a:rPr lang="en-US"/>
              <a:t>Act I - From Financial Chaos to Strategic Control</a:t>
            </a:r>
            <a:br>
              <a:rPr lang="en-US"/>
            </a:b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BF00E6-BCB6-005C-8D2F-A942F9E57283}"/>
              </a:ext>
            </a:extLst>
          </p:cNvPr>
          <p:cNvSpPr txBox="1"/>
          <p:nvPr/>
        </p:nvSpPr>
        <p:spPr>
          <a:xfrm>
            <a:off x="1485839" y="4565309"/>
            <a:ext cx="26794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Start with Standard Adaptive </a:t>
            </a:r>
          </a:p>
          <a:p>
            <a:pPr algn="ctr"/>
            <a:r>
              <a:rPr lang="en-US" sz="1600">
                <a:solidFill>
                  <a:schemeClr val="tx1"/>
                </a:solidFill>
              </a:rPr>
              <a:t>for rapid, compliant value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E9A94-766D-7854-E0F3-A143801CC689}"/>
              </a:ext>
            </a:extLst>
          </p:cNvPr>
          <p:cNvSpPr txBox="1"/>
          <p:nvPr/>
        </p:nvSpPr>
        <p:spPr>
          <a:xfrm>
            <a:off x="6913463" y="4565309"/>
            <a:ext cx="4197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Advance to Assessment Center </a:t>
            </a:r>
          </a:p>
          <a:p>
            <a:pPr algn="ctr"/>
            <a:r>
              <a:rPr lang="en-US" sz="1600">
                <a:solidFill>
                  <a:schemeClr val="tx1"/>
                </a:solidFill>
              </a:rPr>
              <a:t>for intelligent</a:t>
            </a:r>
            <a:r>
              <a:rPr lang="en-US" sz="1600"/>
              <a:t> </a:t>
            </a:r>
            <a:r>
              <a:rPr lang="en-US" sz="1600">
                <a:solidFill>
                  <a:schemeClr val="tx1"/>
                </a:solidFill>
              </a:rPr>
              <a:t>optimization and efficiency.</a:t>
            </a:r>
            <a:endParaRPr lang="en-US" sz="160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A5849B7-65B0-BA16-97C2-20A71B04DC1C}"/>
              </a:ext>
            </a:extLst>
          </p:cNvPr>
          <p:cNvSpPr/>
          <p:nvPr/>
        </p:nvSpPr>
        <p:spPr>
          <a:xfrm rot="5400000">
            <a:off x="5639893" y="4674816"/>
            <a:ext cx="457200" cy="36576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08254D-70DC-FE13-DC51-79FC2A725717}"/>
              </a:ext>
            </a:extLst>
          </p:cNvPr>
          <p:cNvSpPr txBox="1"/>
          <p:nvPr/>
        </p:nvSpPr>
        <p:spPr>
          <a:xfrm>
            <a:off x="1721006" y="1617976"/>
            <a:ext cx="1395663" cy="5539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Projected Star Rating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7A0A2-724F-6D11-8050-7F59609C3A76}"/>
              </a:ext>
            </a:extLst>
          </p:cNvPr>
          <p:cNvSpPr txBox="1"/>
          <p:nvPr/>
        </p:nvSpPr>
        <p:spPr>
          <a:xfrm>
            <a:off x="4069882" y="1756475"/>
            <a:ext cx="1395663" cy="276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HEI Scorecard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7BF867-8F39-6B5E-9815-E76297A3AAD1}"/>
              </a:ext>
            </a:extLst>
          </p:cNvPr>
          <p:cNvSpPr txBox="1"/>
          <p:nvPr/>
        </p:nvSpPr>
        <p:spPr>
          <a:xfrm>
            <a:off x="397219" y="945409"/>
            <a:ext cx="3018145" cy="276999"/>
          </a:xfrm>
          <a:prstGeom prst="rect">
            <a:avLst/>
          </a:prstGeom>
          <a:solidFill>
            <a:schemeClr val="bg2"/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Key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1FF95-A24D-45C7-80EC-C1A1C8908BC3}"/>
              </a:ext>
            </a:extLst>
          </p:cNvPr>
          <p:cNvSpPr txBox="1"/>
          <p:nvPr/>
        </p:nvSpPr>
        <p:spPr>
          <a:xfrm>
            <a:off x="385662" y="4007583"/>
            <a:ext cx="3018145" cy="276999"/>
          </a:xfrm>
          <a:prstGeom prst="rect">
            <a:avLst/>
          </a:prstGeom>
          <a:solidFill>
            <a:schemeClr val="bg2"/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Value Delivery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BC2CCE-DAF0-9C13-F249-050AB39B016F}"/>
              </a:ext>
            </a:extLst>
          </p:cNvPr>
          <p:cNvSpPr txBox="1"/>
          <p:nvPr/>
        </p:nvSpPr>
        <p:spPr>
          <a:xfrm>
            <a:off x="9496927" y="975390"/>
            <a:ext cx="2101515" cy="215444"/>
          </a:xfrm>
          <a:prstGeom prst="rect">
            <a:avLst/>
          </a:prstGeom>
          <a:solidFill>
            <a:schemeClr val="bg2"/>
          </a:solidFill>
        </p:spPr>
        <p:txBody>
          <a:bodyPr wrap="square" tIns="0" rIns="0" bIns="0" rtlCol="0">
            <a:spAutoFit/>
          </a:bodyPr>
          <a:lstStyle/>
          <a:p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AI components/models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1AA7D9-0BB6-9A9A-2DD8-43C028ABDE57}"/>
              </a:ext>
            </a:extLst>
          </p:cNvPr>
          <p:cNvSpPr txBox="1"/>
          <p:nvPr/>
        </p:nvSpPr>
        <p:spPr>
          <a:xfrm>
            <a:off x="9714876" y="1466515"/>
            <a:ext cx="1395663" cy="4924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Simulation</a:t>
            </a:r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 Cut off</a:t>
            </a:r>
            <a:endParaRPr lang="en-US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81C240-D364-FCC9-0FA9-270BD757B519}"/>
              </a:ext>
            </a:extLst>
          </p:cNvPr>
          <p:cNvSpPr txBox="1"/>
          <p:nvPr/>
        </p:nvSpPr>
        <p:spPr>
          <a:xfrm>
            <a:off x="9714876" y="2234639"/>
            <a:ext cx="1395663" cy="5539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SDOH Overlays</a:t>
            </a:r>
          </a:p>
        </p:txBody>
      </p:sp>
    </p:spTree>
    <p:extLst>
      <p:ext uri="{BB962C8B-B14F-4D97-AF65-F5344CB8AC3E}">
        <p14:creationId xmlns:p14="http://schemas.microsoft.com/office/powerpoint/2010/main" val="2894866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606BE-CD94-3D91-2CC3-71021C21E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8F8AE4-1C9A-F2C6-70DE-3563AA15246A}"/>
              </a:ext>
            </a:extLst>
          </p:cNvPr>
          <p:cNvSpPr/>
          <p:nvPr/>
        </p:nvSpPr>
        <p:spPr>
          <a:xfrm>
            <a:off x="385662" y="4475369"/>
            <a:ext cx="11349137" cy="7646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F05BE7-B1ED-6BC8-C34A-2C1852D45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59054"/>
            <a:ext cx="11277600" cy="672567"/>
          </a:xfrm>
        </p:spPr>
        <p:txBody>
          <a:bodyPr>
            <a:normAutofit fontScale="90000"/>
          </a:bodyPr>
          <a:lstStyle/>
          <a:p>
            <a:r>
              <a:rPr lang="en-US"/>
              <a:t>Act 2 - From 'What' Happened to 'Why' it Happened</a:t>
            </a:r>
            <a:br>
              <a:rPr lang="en-US"/>
            </a:b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E9FE85-52C1-E8AA-D3F2-3195E9361F19}"/>
              </a:ext>
            </a:extLst>
          </p:cNvPr>
          <p:cNvSpPr txBox="1"/>
          <p:nvPr/>
        </p:nvSpPr>
        <p:spPr>
          <a:xfrm>
            <a:off x="1485839" y="4565309"/>
            <a:ext cx="26794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Start with Standard Adaptive </a:t>
            </a:r>
          </a:p>
          <a:p>
            <a:pPr algn="ctr"/>
            <a:r>
              <a:rPr lang="en-US" sz="1600">
                <a:solidFill>
                  <a:schemeClr val="tx1"/>
                </a:solidFill>
              </a:rPr>
              <a:t>for rapid, compliant value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283BC-F336-DBAC-16D4-174B12EB0FCD}"/>
              </a:ext>
            </a:extLst>
          </p:cNvPr>
          <p:cNvSpPr txBox="1"/>
          <p:nvPr/>
        </p:nvSpPr>
        <p:spPr>
          <a:xfrm>
            <a:off x="6913463" y="4565309"/>
            <a:ext cx="4197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Advance to Assessment Center </a:t>
            </a:r>
          </a:p>
          <a:p>
            <a:pPr algn="ctr"/>
            <a:r>
              <a:rPr lang="en-US" sz="1600">
                <a:solidFill>
                  <a:schemeClr val="tx1"/>
                </a:solidFill>
              </a:rPr>
              <a:t>for intelligent</a:t>
            </a:r>
            <a:r>
              <a:rPr lang="en-US" sz="1600"/>
              <a:t> </a:t>
            </a:r>
            <a:r>
              <a:rPr lang="en-US" sz="1600">
                <a:solidFill>
                  <a:schemeClr val="tx1"/>
                </a:solidFill>
              </a:rPr>
              <a:t>optimization and efficiency.</a:t>
            </a:r>
            <a:endParaRPr lang="en-US" sz="160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12B221A-4B00-0B91-52E8-5DC889D94323}"/>
              </a:ext>
            </a:extLst>
          </p:cNvPr>
          <p:cNvSpPr/>
          <p:nvPr/>
        </p:nvSpPr>
        <p:spPr>
          <a:xfrm rot="5400000">
            <a:off x="5639893" y="4674816"/>
            <a:ext cx="457200" cy="36576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D264CD-5F34-2CFA-4881-5D2ECEB8E981}"/>
              </a:ext>
            </a:extLst>
          </p:cNvPr>
          <p:cNvSpPr txBox="1"/>
          <p:nvPr/>
        </p:nvSpPr>
        <p:spPr>
          <a:xfrm>
            <a:off x="1721006" y="1617976"/>
            <a:ext cx="1395663" cy="5539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Projected Star Rating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5772F-083C-0D0C-B550-9550D592D256}"/>
              </a:ext>
            </a:extLst>
          </p:cNvPr>
          <p:cNvSpPr txBox="1"/>
          <p:nvPr/>
        </p:nvSpPr>
        <p:spPr>
          <a:xfrm>
            <a:off x="4069882" y="1756475"/>
            <a:ext cx="1395663" cy="276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HEI Scorecard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6F33C-9E07-7EB7-570D-3CA48D603273}"/>
              </a:ext>
            </a:extLst>
          </p:cNvPr>
          <p:cNvSpPr txBox="1"/>
          <p:nvPr/>
        </p:nvSpPr>
        <p:spPr>
          <a:xfrm>
            <a:off x="397219" y="945409"/>
            <a:ext cx="3018145" cy="276999"/>
          </a:xfrm>
          <a:prstGeom prst="rect">
            <a:avLst/>
          </a:prstGeom>
          <a:solidFill>
            <a:schemeClr val="bg2"/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Key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924FB1-A868-F831-7B59-4DD86771EFB1}"/>
              </a:ext>
            </a:extLst>
          </p:cNvPr>
          <p:cNvSpPr txBox="1"/>
          <p:nvPr/>
        </p:nvSpPr>
        <p:spPr>
          <a:xfrm>
            <a:off x="385662" y="4007583"/>
            <a:ext cx="3018145" cy="276999"/>
          </a:xfrm>
          <a:prstGeom prst="rect">
            <a:avLst/>
          </a:prstGeom>
          <a:solidFill>
            <a:schemeClr val="bg2"/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Value Delivery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CA11C9-AA3C-A5C7-4E2A-A3150B2531B5}"/>
              </a:ext>
            </a:extLst>
          </p:cNvPr>
          <p:cNvSpPr txBox="1"/>
          <p:nvPr/>
        </p:nvSpPr>
        <p:spPr>
          <a:xfrm>
            <a:off x="9496927" y="975390"/>
            <a:ext cx="2101515" cy="215444"/>
          </a:xfrm>
          <a:prstGeom prst="rect">
            <a:avLst/>
          </a:prstGeom>
          <a:solidFill>
            <a:schemeClr val="bg2"/>
          </a:solidFill>
        </p:spPr>
        <p:txBody>
          <a:bodyPr wrap="square" tIns="0" rIns="0" bIns="0" rtlCol="0">
            <a:spAutoFit/>
          </a:bodyPr>
          <a:lstStyle/>
          <a:p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AI components/models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5FB5F-C51F-F20F-6D33-70865997AD81}"/>
              </a:ext>
            </a:extLst>
          </p:cNvPr>
          <p:cNvSpPr txBox="1"/>
          <p:nvPr/>
        </p:nvSpPr>
        <p:spPr>
          <a:xfrm>
            <a:off x="9714876" y="1466515"/>
            <a:ext cx="1395663" cy="5539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Geospatial Overlay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69F3CD-FCB7-C640-A5D3-51C436FF69A6}"/>
              </a:ext>
            </a:extLst>
          </p:cNvPr>
          <p:cNvSpPr txBox="1"/>
          <p:nvPr/>
        </p:nvSpPr>
        <p:spPr>
          <a:xfrm>
            <a:off x="9714876" y="2234639"/>
            <a:ext cx="1395663" cy="5539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 err="1"/>
              <a:t>Impactibiloity</a:t>
            </a:r>
            <a:r>
              <a:rPr lang="en-US" b="1"/>
              <a:t>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88F3B-708B-E0A4-E0A4-EE01E519C49D}"/>
              </a:ext>
            </a:extLst>
          </p:cNvPr>
          <p:cNvSpPr txBox="1"/>
          <p:nvPr/>
        </p:nvSpPr>
        <p:spPr>
          <a:xfrm>
            <a:off x="9714876" y="3078005"/>
            <a:ext cx="1395663" cy="276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tIns="0" rIns="0" bIns="0" rtlCol="0">
            <a:spAutoFit/>
          </a:bodyPr>
          <a:lstStyle/>
          <a:p>
            <a:r>
              <a:rPr lang="en-US" b="1"/>
              <a:t>Risk Models</a:t>
            </a:r>
          </a:p>
        </p:txBody>
      </p:sp>
    </p:spTree>
    <p:extLst>
      <p:ext uri="{BB962C8B-B14F-4D97-AF65-F5344CB8AC3E}">
        <p14:creationId xmlns:p14="http://schemas.microsoft.com/office/powerpoint/2010/main" val="230993944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tIns="0" rIns="0" bIns="0" rtlCol="0">
        <a:spAutoFit/>
      </a:bodyPr>
      <a:lstStyle>
        <a:defPPr algn="l">
          <a:defRPr sz="1400"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L Powerpoint Template.potx" id="{06A60C2A-3E76-46D1-B108-69B0327727A9}" vid="{C5B5F011-E16B-4936-AD32-F2458AF2BD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2_Office Theme</vt:lpstr>
      <vt:lpstr>Act I – From Chaos to Control: The Stars Financial Command Center </vt:lpstr>
      <vt:lpstr>Act II – From What Happened to Why it Happened: Equity Gap Explorer</vt:lpstr>
      <vt:lpstr>Act III – From Insight to Action: Smart Workbench</vt:lpstr>
      <vt:lpstr>Act I - From Financial Chaos to Strategic Control </vt:lpstr>
      <vt:lpstr>Act 2 - From 'What' Happened to 'Why' it Happened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Singh1</dc:creator>
  <cp:revision>4</cp:revision>
  <dcterms:created xsi:type="dcterms:W3CDTF">2025-07-10T18:20:02Z</dcterms:created>
  <dcterms:modified xsi:type="dcterms:W3CDTF">2025-10-24T23:21:33Z</dcterms:modified>
</cp:coreProperties>
</file>